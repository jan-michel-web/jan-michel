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75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58" r:id="rId15"/>
    <p:sldId id="269" r:id="rId16"/>
    <p:sldId id="270" r:id="rId17"/>
    <p:sldId id="271" r:id="rId18"/>
    <p:sldId id="272" r:id="rId19"/>
    <p:sldId id="273" r:id="rId20"/>
    <p:sldId id="274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263" autoAdjust="0"/>
    <p:restoredTop sz="94660"/>
  </p:normalViewPr>
  <p:slideViewPr>
    <p:cSldViewPr snapToGrid="0" snapToObjects="1">
      <p:cViewPr varScale="1">
        <p:scale>
          <a:sx n="150" d="100"/>
          <a:sy n="150" d="100"/>
        </p:scale>
        <p:origin x="3024" y="13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2A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7909560" y="713232"/>
            <a:ext cx="3246120" cy="3246120"/>
          </a:xfrm>
          <a:prstGeom prst="ellipse">
            <a:avLst/>
          </a:prstGeom>
          <a:solidFill>
            <a:srgbClr val="1B39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3" name="Oval 2"/>
          <p:cNvSpPr/>
          <p:nvPr/>
        </p:nvSpPr>
        <p:spPr>
          <a:xfrm>
            <a:off x="8732520" y="1481328"/>
            <a:ext cx="1874519" cy="1874519"/>
          </a:xfrm>
          <a:prstGeom prst="ellipse">
            <a:avLst/>
          </a:prstGeom>
          <a:solidFill>
            <a:srgbClr val="3669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4" name="Oval 3"/>
          <p:cNvSpPr/>
          <p:nvPr/>
        </p:nvSpPr>
        <p:spPr>
          <a:xfrm>
            <a:off x="9253728" y="2011680"/>
            <a:ext cx="841248" cy="841248"/>
          </a:xfrm>
          <a:prstGeom prst="ellipse">
            <a:avLst/>
          </a:prstGeom>
          <a:solidFill>
            <a:srgbClr val="1F8E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cxnSp>
        <p:nvCxnSpPr>
          <p:cNvPr id="5" name="Connector 4"/>
          <p:cNvCxnSpPr/>
          <p:nvPr/>
        </p:nvCxnSpPr>
        <p:spPr>
          <a:xfrm>
            <a:off x="7818120" y="1097280"/>
            <a:ext cx="2880360" cy="0"/>
          </a:xfrm>
          <a:prstGeom prst="line">
            <a:avLst/>
          </a:prstGeom>
          <a:ln w="15240">
            <a:solidFill>
              <a:srgbClr val="4C70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7818120" y="1097280"/>
            <a:ext cx="365759" cy="2743200"/>
          </a:xfrm>
          <a:prstGeom prst="line">
            <a:avLst/>
          </a:prstGeom>
          <a:ln w="15240">
            <a:solidFill>
              <a:srgbClr val="4C70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698480" y="1097280"/>
            <a:ext cx="274320" cy="3017520"/>
          </a:xfrm>
          <a:prstGeom prst="line">
            <a:avLst/>
          </a:prstGeom>
          <a:ln w="15240">
            <a:solidFill>
              <a:srgbClr val="4C70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8183879" y="3840480"/>
            <a:ext cx="960121" cy="914400"/>
          </a:xfrm>
          <a:prstGeom prst="line">
            <a:avLst/>
          </a:prstGeom>
          <a:ln w="15240">
            <a:solidFill>
              <a:srgbClr val="4C70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>
            <a:off x="10287000" y="4114800"/>
            <a:ext cx="685800" cy="960120"/>
          </a:xfrm>
          <a:prstGeom prst="line">
            <a:avLst/>
          </a:prstGeom>
          <a:ln w="15240">
            <a:solidFill>
              <a:srgbClr val="4C70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9144000" y="4754880"/>
            <a:ext cx="1143000" cy="320040"/>
          </a:xfrm>
          <a:prstGeom prst="line">
            <a:avLst/>
          </a:prstGeom>
          <a:ln w="15240">
            <a:solidFill>
              <a:srgbClr val="4C70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7818120" y="502920"/>
            <a:ext cx="1234440" cy="594360"/>
          </a:xfrm>
          <a:prstGeom prst="line">
            <a:avLst/>
          </a:prstGeom>
          <a:ln w="15240">
            <a:solidFill>
              <a:srgbClr val="4C70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9052560" y="502920"/>
            <a:ext cx="1645920" cy="594360"/>
          </a:xfrm>
          <a:prstGeom prst="line">
            <a:avLst/>
          </a:prstGeom>
          <a:ln w="15240">
            <a:solidFill>
              <a:srgbClr val="4C70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7763256" y="1042415"/>
            <a:ext cx="109728" cy="109728"/>
          </a:xfrm>
          <a:prstGeom prst="ellipse">
            <a:avLst/>
          </a:prstGeom>
          <a:solidFill>
            <a:srgbClr val="B1CD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14" name="Oval 13"/>
          <p:cNvSpPr/>
          <p:nvPr/>
        </p:nvSpPr>
        <p:spPr>
          <a:xfrm>
            <a:off x="10643615" y="1042415"/>
            <a:ext cx="109728" cy="109728"/>
          </a:xfrm>
          <a:prstGeom prst="ellipse">
            <a:avLst/>
          </a:prstGeom>
          <a:solidFill>
            <a:srgbClr val="B1CD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15" name="Oval 14"/>
          <p:cNvSpPr/>
          <p:nvPr/>
        </p:nvSpPr>
        <p:spPr>
          <a:xfrm>
            <a:off x="8129015" y="3785616"/>
            <a:ext cx="109728" cy="109728"/>
          </a:xfrm>
          <a:prstGeom prst="ellipse">
            <a:avLst/>
          </a:prstGeom>
          <a:solidFill>
            <a:srgbClr val="B1CD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16" name="Oval 15"/>
          <p:cNvSpPr/>
          <p:nvPr/>
        </p:nvSpPr>
        <p:spPr>
          <a:xfrm>
            <a:off x="10917936" y="4059936"/>
            <a:ext cx="109728" cy="109728"/>
          </a:xfrm>
          <a:prstGeom prst="ellipse">
            <a:avLst/>
          </a:prstGeom>
          <a:solidFill>
            <a:srgbClr val="B1CD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17" name="Oval 16"/>
          <p:cNvSpPr/>
          <p:nvPr/>
        </p:nvSpPr>
        <p:spPr>
          <a:xfrm>
            <a:off x="9089136" y="4700016"/>
            <a:ext cx="109728" cy="109728"/>
          </a:xfrm>
          <a:prstGeom prst="ellipse">
            <a:avLst/>
          </a:prstGeom>
          <a:solidFill>
            <a:srgbClr val="B1CD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18" name="Oval 17"/>
          <p:cNvSpPr/>
          <p:nvPr/>
        </p:nvSpPr>
        <p:spPr>
          <a:xfrm>
            <a:off x="10232136" y="5020056"/>
            <a:ext cx="109728" cy="109728"/>
          </a:xfrm>
          <a:prstGeom prst="ellipse">
            <a:avLst/>
          </a:prstGeom>
          <a:solidFill>
            <a:srgbClr val="B1CD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19" name="Oval 18"/>
          <p:cNvSpPr/>
          <p:nvPr/>
        </p:nvSpPr>
        <p:spPr>
          <a:xfrm>
            <a:off x="8997696" y="448056"/>
            <a:ext cx="109728" cy="109728"/>
          </a:xfrm>
          <a:prstGeom prst="ellipse">
            <a:avLst/>
          </a:prstGeom>
          <a:solidFill>
            <a:srgbClr val="B1CD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20" name="Rounded Rectangle 19"/>
          <p:cNvSpPr/>
          <p:nvPr/>
        </p:nvSpPr>
        <p:spPr>
          <a:xfrm>
            <a:off x="713232" y="786384"/>
            <a:ext cx="1143000" cy="256032"/>
          </a:xfrm>
          <a:prstGeom prst="roundRect">
            <a:avLst/>
          </a:prstGeom>
          <a:solidFill>
            <a:srgbClr val="294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21" name="TextBox 20"/>
          <p:cNvSpPr txBox="1"/>
          <p:nvPr/>
        </p:nvSpPr>
        <p:spPr>
          <a:xfrm>
            <a:off x="758952" y="818388"/>
            <a:ext cx="1051560" cy="1737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000" b="1" i="0" noProof="0" dirty="0">
                <a:solidFill>
                  <a:srgbClr val="C4E0FF"/>
                </a:solidFill>
                <a:latin typeface="Aptos"/>
              </a:rPr>
              <a:t>TÝM 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1490472"/>
            <a:ext cx="6720840" cy="13167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3100" b="1" i="0" noProof="0" dirty="0">
                <a:solidFill>
                  <a:srgbClr val="FFFFFF"/>
                </a:solidFill>
                <a:latin typeface="Aptos Display"/>
              </a:rPr>
              <a:t>Nadměrné spoléhání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3100" b="1" i="0" noProof="0" dirty="0">
                <a:solidFill>
                  <a:srgbClr val="FFFFFF"/>
                </a:solidFill>
                <a:latin typeface="Aptos Display"/>
              </a:rPr>
              <a:t>na AI při studiu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0664" y="3063240"/>
            <a:ext cx="6126480" cy="585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700" b="0" i="0" noProof="0" dirty="0">
                <a:solidFill>
                  <a:srgbClr val="CFDEEE"/>
                </a:solidFill>
                <a:latin typeface="Aptos"/>
              </a:rPr>
              <a:t>Kdy AI pomáhá — a kdy nahrazuje vlastní myšlení?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49808" y="3886200"/>
            <a:ext cx="1170432" cy="0"/>
          </a:xfrm>
          <a:prstGeom prst="line">
            <a:avLst/>
          </a:prstGeom>
          <a:ln w="38100">
            <a:solidFill>
              <a:srgbClr val="1F8E8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749808" y="4187952"/>
            <a:ext cx="630936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250" b="0" i="0" noProof="0" dirty="0">
                <a:solidFill>
                  <a:srgbClr val="BED1E5"/>
                </a:solidFill>
                <a:latin typeface="Aptos"/>
              </a:rPr>
              <a:t>Semestrální projekt  ·  Řešení problémů  ·  FIS VŠE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4773168"/>
            <a:ext cx="6126480" cy="1769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300"/>
              </a:spcAft>
            </a:pPr>
            <a:r>
              <a:rPr lang="cs-CZ" sz="1150" b="0" i="0" noProof="0" dirty="0">
                <a:solidFill>
                  <a:srgbClr val="A6BED7"/>
                </a:solidFill>
                <a:latin typeface="Aptos"/>
              </a:rPr>
              <a:t>Adrian  ·  Juraj  ·  Honza  ·  Martin  ·  Adriana</a:t>
            </a:r>
            <a:r>
              <a:rPr lang="cs-CZ" sz="1150" noProof="0" dirty="0">
                <a:solidFill>
                  <a:srgbClr val="A6BED7"/>
                </a:solidFill>
                <a:latin typeface="Aptos"/>
              </a:rPr>
              <a:t> ·  Simona</a:t>
            </a:r>
            <a:endParaRPr lang="cs-CZ" sz="1150" b="0" i="0" noProof="0" dirty="0">
              <a:solidFill>
                <a:srgbClr val="A6BED7"/>
              </a:solidFill>
              <a:latin typeface="Aptos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749808" y="6263640"/>
            <a:ext cx="52120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850" b="1" i="0" noProof="0" dirty="0">
                <a:solidFill>
                  <a:srgbClr val="8EA6C1"/>
                </a:solidFill>
                <a:latin typeface="Aptos"/>
              </a:rPr>
              <a:t>2026  /  TÝM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02920" y="246888"/>
            <a:ext cx="1024128" cy="256032"/>
          </a:xfrm>
          <a:prstGeom prst="roundRect">
            <a:avLst/>
          </a:prstGeom>
          <a:solidFill>
            <a:srgbClr val="EFF5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78892"/>
            <a:ext cx="932688" cy="1737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3669BE"/>
                </a:solidFill>
                <a:latin typeface="Aptos"/>
              </a:rPr>
              <a:t>FRAME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94360"/>
            <a:ext cx="1106424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2600" b="1" i="0">
                <a:solidFill>
                  <a:srgbClr val="132A43"/>
                </a:solidFill>
                <a:latin typeface="Aptos Display"/>
              </a:rPr>
              <a:t>Problém: když AI nahrazuje vlastní práci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088136"/>
            <a:ext cx="110185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667585"/>
                </a:solidFill>
                <a:latin typeface="Aptos"/>
              </a:rPr>
              <a:t>Zaměřujeme se na nadměrné spoléhání na AI, nikoli na klinickou závislost.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1426464"/>
            <a:ext cx="11183112" cy="0"/>
          </a:xfrm>
          <a:prstGeom prst="line">
            <a:avLst/>
          </a:prstGeom>
          <a:ln w="11430">
            <a:solidFill>
              <a:srgbClr val="DAE2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1402568" y="265176"/>
            <a:ext cx="118872" cy="118872"/>
          </a:xfrm>
          <a:prstGeom prst="ellipse">
            <a:avLst/>
          </a:prstGeom>
          <a:solidFill>
            <a:srgbClr val="1F8E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1548872" y="265176"/>
            <a:ext cx="118872" cy="118872"/>
          </a:xfrm>
          <a:prstGeom prst="ellipse">
            <a:avLst/>
          </a:prstGeom>
          <a:solidFill>
            <a:srgbClr val="3669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30352" y="1682496"/>
            <a:ext cx="11137392" cy="868680"/>
          </a:xfrm>
          <a:prstGeom prst="roundRect">
            <a:avLst/>
          </a:prstGeom>
          <a:solidFill>
            <a:srgbClr val="13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04672" y="1865376"/>
            <a:ext cx="10607040" cy="4846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Aptos"/>
              </a:rPr>
              <a:t>Hlavní problém: AI může usnadnit práci natolik, že student přeskočí část vlastního učení.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880360"/>
            <a:ext cx="5394960" cy="233172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566928" y="2880360"/>
            <a:ext cx="68580" cy="2331720"/>
          </a:xfrm>
          <a:prstGeom prst="roundRect">
            <a:avLst/>
          </a:prstGeom>
          <a:solidFill>
            <a:srgbClr val="1F8E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31520" y="2990088"/>
            <a:ext cx="51023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1F8E89"/>
                </a:solidFill>
                <a:latin typeface="Aptos"/>
              </a:rPr>
              <a:t>AI JAKO UČEBNÍ PARTNER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310128"/>
            <a:ext cx="5102352" cy="1819655"/>
          </a:xfrm>
          <a:prstGeom prst="rect">
            <a:avLst/>
          </a:prstGeom>
          <a:noFill/>
        </p:spPr>
        <p:txBody>
          <a:bodyPr wrap="square" lIns="9144" tIns="9144" r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283442"/>
                </a:solidFill>
                <a:latin typeface="Aptos"/>
              </a:rPr>
              <a:t>• Vysvětluje složité pojmy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283442"/>
                </a:solidFill>
                <a:latin typeface="Aptos"/>
              </a:rPr>
              <a:t>• Nabízí nápovědu a procvičování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283442"/>
                </a:solidFill>
                <a:latin typeface="Aptos"/>
              </a:rPr>
              <a:t>• Pomáhá ověřit vlastní postup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2880360"/>
            <a:ext cx="5394960" cy="2331720"/>
          </a:xfrm>
          <a:prstGeom prst="roundRect">
            <a:avLst/>
          </a:prstGeom>
          <a:solidFill>
            <a:srgbClr val="FCF6EB"/>
          </a:solidFill>
          <a:ln w="1016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6217920" y="2880360"/>
            <a:ext cx="68580" cy="2331720"/>
          </a:xfrm>
          <a:prstGeom prst="roundRect">
            <a:avLst/>
          </a:prstGeom>
          <a:solidFill>
            <a:srgbClr val="D08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382512" y="2990088"/>
            <a:ext cx="51023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D08D32"/>
                </a:solidFill>
                <a:latin typeface="Aptos"/>
              </a:rPr>
              <a:t>AI JAKO ZKRATKA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82512" y="3310128"/>
            <a:ext cx="5102352" cy="1819655"/>
          </a:xfrm>
          <a:prstGeom prst="rect">
            <a:avLst/>
          </a:prstGeom>
          <a:noFill/>
        </p:spPr>
        <p:txBody>
          <a:bodyPr wrap="square" lIns="9144" tIns="9144" r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283442"/>
                </a:solidFill>
                <a:latin typeface="Aptos"/>
              </a:rPr>
              <a:t>• Dává hotová řešení bez vlastního pokusu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283442"/>
                </a:solidFill>
                <a:latin typeface="Aptos"/>
              </a:rPr>
              <a:t>• Používá se i na jednoduché úkoly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283442"/>
                </a:solidFill>
                <a:latin typeface="Aptos"/>
              </a:rPr>
              <a:t>• Výstup může být přijat bez dostatečné kontroly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" y="5577840"/>
            <a:ext cx="10927080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132A43"/>
                </a:solidFill>
                <a:latin typeface="Aptos"/>
              </a:rPr>
              <a:t>Naším cílem není AI zakázat, ale podpořit takové používání, které rozvíjí porozumění a samostatné řešení problémů.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02920" y="6473952"/>
            <a:ext cx="11183112" cy="0"/>
          </a:xfrm>
          <a:prstGeom prst="line">
            <a:avLst/>
          </a:prstGeom>
          <a:ln w="8890">
            <a:solidFill>
              <a:srgbClr val="DAE2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21207" y="6519672"/>
            <a:ext cx="722376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0" i="0">
                <a:solidFill>
                  <a:srgbClr val="667585"/>
                </a:solidFill>
                <a:latin typeface="Aptos"/>
              </a:rPr>
              <a:t>TÝM 10  ·  ŘEŠENÍ PROBLÉMŮ  ·  FIS VŠE  ·  OBSAH 1/10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02920" y="246888"/>
            <a:ext cx="1024128" cy="256032"/>
          </a:xfrm>
          <a:prstGeom prst="roundRect">
            <a:avLst/>
          </a:prstGeom>
          <a:solidFill>
            <a:srgbClr val="EFF5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78892"/>
            <a:ext cx="932688" cy="1737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3669BE"/>
                </a:solidFill>
                <a:latin typeface="Aptos"/>
              </a:rPr>
              <a:t>FRAME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94360"/>
            <a:ext cx="1106424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2600" b="1" i="0">
                <a:solidFill>
                  <a:srgbClr val="132A43"/>
                </a:solidFill>
                <a:latin typeface="Aptos Display"/>
              </a:rPr>
              <a:t>Proč je to důležité právě na FIS?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088136"/>
            <a:ext cx="110185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667585"/>
                </a:solidFill>
                <a:latin typeface="Aptos"/>
              </a:rPr>
              <a:t>Rizika, pokud AI nahrazuje porozumění — ne tvrzení, že se tato rizika projeví u každého studenta.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1426464"/>
            <a:ext cx="11183112" cy="0"/>
          </a:xfrm>
          <a:prstGeom prst="line">
            <a:avLst/>
          </a:prstGeom>
          <a:ln w="11430">
            <a:solidFill>
              <a:srgbClr val="DAE2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1402568" y="265176"/>
            <a:ext cx="118872" cy="118872"/>
          </a:xfrm>
          <a:prstGeom prst="ellipse">
            <a:avLst/>
          </a:prstGeom>
          <a:solidFill>
            <a:srgbClr val="1F8E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1548872" y="265176"/>
            <a:ext cx="118872" cy="118872"/>
          </a:xfrm>
          <a:prstGeom prst="ellipse">
            <a:avLst/>
          </a:prstGeom>
          <a:solidFill>
            <a:srgbClr val="3669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94360" y="1783080"/>
            <a:ext cx="3547872" cy="3429000"/>
          </a:xfrm>
          <a:prstGeom prst="roundRect">
            <a:avLst/>
          </a:prstGeom>
          <a:solidFill>
            <a:srgbClr val="EFF5FC"/>
          </a:solidFill>
          <a:ln w="1016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594360" y="1783080"/>
            <a:ext cx="68580" cy="3429000"/>
          </a:xfrm>
          <a:prstGeom prst="roundRect">
            <a:avLst/>
          </a:prstGeom>
          <a:solidFill>
            <a:srgbClr val="3669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58952" y="1892807"/>
            <a:ext cx="325526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3669BE"/>
                </a:solidFill>
                <a:latin typeface="Aptos"/>
              </a:rPr>
              <a:t>SAMOSTATNÉ MYŠLENÍ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" y="2212848"/>
            <a:ext cx="3255264" cy="2916936"/>
          </a:xfrm>
          <a:prstGeom prst="rect">
            <a:avLst/>
          </a:prstGeom>
          <a:noFill/>
        </p:spPr>
        <p:txBody>
          <a:bodyPr wrap="square" lIns="9144" tIns="9144" r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283442"/>
                </a:solidFill>
                <a:latin typeface="Aptos"/>
              </a:rPr>
              <a:t>Bez vlastních pokusů si student méně procvičuje formulaci postupu, hledání chyb a hodnocení informací.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15968" y="1783080"/>
            <a:ext cx="3547872" cy="342900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4315968" y="1783080"/>
            <a:ext cx="68580" cy="3429000"/>
          </a:xfrm>
          <a:prstGeom prst="roundRect">
            <a:avLst/>
          </a:prstGeom>
          <a:solidFill>
            <a:srgbClr val="1F8E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480559" y="1892807"/>
            <a:ext cx="325526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1F8E89"/>
                </a:solidFill>
                <a:latin typeface="Aptos"/>
              </a:rPr>
              <a:t>ZKOUŠKY BEZ AI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59" y="2212848"/>
            <a:ext cx="3255264" cy="2916936"/>
          </a:xfrm>
          <a:prstGeom prst="rect">
            <a:avLst/>
          </a:prstGeom>
          <a:noFill/>
        </p:spPr>
        <p:txBody>
          <a:bodyPr wrap="square" lIns="9144" tIns="9144" r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283442"/>
                </a:solidFill>
                <a:latin typeface="Aptos"/>
              </a:rPr>
              <a:t>Úspěšné dokončení úkolu s AI nemusí znamenat, že student dokáže podobný úkol vyřešit sám při testu nebo zkoušce.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37575" y="1783080"/>
            <a:ext cx="3547872" cy="3429000"/>
          </a:xfrm>
          <a:prstGeom prst="roundRect">
            <a:avLst/>
          </a:prstGeom>
          <a:solidFill>
            <a:srgbClr val="FCF6EB"/>
          </a:solidFill>
          <a:ln w="1016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8037575" y="1783080"/>
            <a:ext cx="68580" cy="3429000"/>
          </a:xfrm>
          <a:prstGeom prst="roundRect">
            <a:avLst/>
          </a:prstGeom>
          <a:solidFill>
            <a:srgbClr val="D08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02167" y="1892807"/>
            <a:ext cx="325526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D08D32"/>
                </a:solidFill>
                <a:latin typeface="Aptos"/>
              </a:rPr>
              <a:t>BUDOUCÍ PRAXE V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02167" y="2212848"/>
            <a:ext cx="3255264" cy="2916936"/>
          </a:xfrm>
          <a:prstGeom prst="rect">
            <a:avLst/>
          </a:prstGeom>
          <a:noFill/>
        </p:spPr>
        <p:txBody>
          <a:bodyPr wrap="square" lIns="9144" tIns="9144" r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283442"/>
                </a:solidFill>
                <a:latin typeface="Aptos"/>
              </a:rPr>
              <a:t>V IT a analytice je potřeba rozumět řešení, kontrolovat správnost výstupů a umět opravit chyby — nejen generovat výsledek.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" y="5513832"/>
            <a:ext cx="10972800" cy="521207"/>
          </a:xfrm>
          <a:prstGeom prst="roundRect">
            <a:avLst/>
          </a:prstGeom>
          <a:solidFill>
            <a:srgbClr val="F6F8FB"/>
          </a:solidFill>
          <a:ln w="889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22960" y="5650992"/>
            <a:ext cx="105613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132A43"/>
                </a:solidFill>
                <a:latin typeface="Aptos"/>
              </a:rPr>
              <a:t>FIS je vhodné prostředí, kde se odpovědné a efektivní používání AI učit už během studia.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02920" y="6473952"/>
            <a:ext cx="11183112" cy="0"/>
          </a:xfrm>
          <a:prstGeom prst="line">
            <a:avLst/>
          </a:prstGeom>
          <a:ln w="8890">
            <a:solidFill>
              <a:srgbClr val="DAE2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21207" y="6519672"/>
            <a:ext cx="722376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0" i="0">
                <a:solidFill>
                  <a:srgbClr val="667585"/>
                </a:solidFill>
                <a:latin typeface="Aptos"/>
              </a:rPr>
              <a:t>TÝM 10  ·  ŘEŠENÍ PROBLÉMŮ  ·  FIS VŠE  ·  OBSAH 2/10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06640" y="6510528"/>
            <a:ext cx="4251960" cy="1737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20" b="0" i="0">
                <a:solidFill>
                  <a:srgbClr val="667585"/>
                </a:solidFill>
                <a:latin typeface="Aptos"/>
              </a:rPr>
              <a:t>Rizika podpořena výzkumem [2, 3]; formulace jsou podmíněné.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02920" y="246888"/>
            <a:ext cx="1024128" cy="256032"/>
          </a:xfrm>
          <a:prstGeom prst="roundRect">
            <a:avLst/>
          </a:prstGeom>
          <a:solidFill>
            <a:srgbClr val="EFF5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3" name="TextBox 2"/>
          <p:cNvSpPr txBox="1"/>
          <p:nvPr/>
        </p:nvSpPr>
        <p:spPr>
          <a:xfrm>
            <a:off x="548640" y="278892"/>
            <a:ext cx="932688" cy="1737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900" b="1" i="0" noProof="0" dirty="0">
                <a:solidFill>
                  <a:srgbClr val="3669BE"/>
                </a:solidFill>
                <a:latin typeface="Aptos"/>
              </a:rPr>
              <a:t>FRAME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94360"/>
            <a:ext cx="1106424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2600" b="1" i="0" noProof="0" dirty="0">
                <a:solidFill>
                  <a:srgbClr val="132A43"/>
                </a:solidFill>
                <a:latin typeface="Aptos Display"/>
              </a:rPr>
              <a:t>Vymezení výzvy: </a:t>
            </a:r>
            <a:r>
              <a:rPr lang="cs-CZ" sz="2600" b="1" i="0" noProof="0" dirty="0" err="1">
                <a:solidFill>
                  <a:srgbClr val="132A43"/>
                </a:solidFill>
                <a:latin typeface="Aptos Display"/>
              </a:rPr>
              <a:t>Hero</a:t>
            </a:r>
            <a:r>
              <a:rPr lang="cs-CZ" sz="2600" b="1" i="0" noProof="0" dirty="0">
                <a:solidFill>
                  <a:srgbClr val="132A43"/>
                </a:solidFill>
                <a:latin typeface="Aptos Display"/>
              </a:rPr>
              <a:t> – </a:t>
            </a:r>
            <a:r>
              <a:rPr lang="cs-CZ" sz="2600" b="1" i="0" noProof="0" dirty="0" err="1">
                <a:solidFill>
                  <a:srgbClr val="132A43"/>
                </a:solidFill>
                <a:latin typeface="Aptos Display"/>
              </a:rPr>
              <a:t>Treasure</a:t>
            </a:r>
            <a:r>
              <a:rPr lang="cs-CZ" sz="2600" b="1" i="0" noProof="0" dirty="0">
                <a:solidFill>
                  <a:srgbClr val="132A43"/>
                </a:solidFill>
                <a:latin typeface="Aptos Display"/>
              </a:rPr>
              <a:t> – </a:t>
            </a:r>
            <a:r>
              <a:rPr lang="cs-CZ" sz="2600" b="1" i="0" noProof="0" dirty="0" err="1">
                <a:solidFill>
                  <a:srgbClr val="132A43"/>
                </a:solidFill>
                <a:latin typeface="Aptos Display"/>
              </a:rPr>
              <a:t>Dragon</a:t>
            </a:r>
            <a:r>
              <a:rPr lang="cs-CZ" sz="2600" b="1" i="0" noProof="0" dirty="0">
                <a:solidFill>
                  <a:srgbClr val="132A43"/>
                </a:solidFill>
                <a:latin typeface="Aptos Display"/>
              </a:rPr>
              <a:t> – </a:t>
            </a:r>
            <a:r>
              <a:rPr lang="cs-CZ" sz="2600" b="1" i="0" noProof="0" dirty="0" err="1">
                <a:solidFill>
                  <a:srgbClr val="132A43"/>
                </a:solidFill>
                <a:latin typeface="Aptos Display"/>
              </a:rPr>
              <a:t>Quest</a:t>
            </a:r>
            <a:endParaRPr lang="cs-CZ" sz="2600" b="1" i="0" noProof="0" dirty="0">
              <a:solidFill>
                <a:srgbClr val="132A43"/>
              </a:solidFill>
              <a:latin typeface="Aptos Display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21207" y="1088136"/>
            <a:ext cx="110185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150" b="0" i="0" noProof="0" dirty="0">
                <a:solidFill>
                  <a:srgbClr val="667585"/>
                </a:solidFill>
                <a:latin typeface="Aptos"/>
              </a:rPr>
              <a:t>Přechod od popisu problému k cíli, ke kterému má návrh řešení směřovat.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1426464"/>
            <a:ext cx="11183112" cy="0"/>
          </a:xfrm>
          <a:prstGeom prst="line">
            <a:avLst/>
          </a:prstGeom>
          <a:ln w="11430">
            <a:solidFill>
              <a:srgbClr val="DAE2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1402568" y="265176"/>
            <a:ext cx="118872" cy="118872"/>
          </a:xfrm>
          <a:prstGeom prst="ellipse">
            <a:avLst/>
          </a:prstGeom>
          <a:solidFill>
            <a:srgbClr val="1F8E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8" name="Oval 7"/>
          <p:cNvSpPr/>
          <p:nvPr/>
        </p:nvSpPr>
        <p:spPr>
          <a:xfrm>
            <a:off x="11548872" y="265176"/>
            <a:ext cx="118872" cy="118872"/>
          </a:xfrm>
          <a:prstGeom prst="ellipse">
            <a:avLst/>
          </a:prstGeom>
          <a:solidFill>
            <a:srgbClr val="3669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9" name="Rounded Rectangle 8"/>
          <p:cNvSpPr/>
          <p:nvPr/>
        </p:nvSpPr>
        <p:spPr>
          <a:xfrm>
            <a:off x="594360" y="1737360"/>
            <a:ext cx="5376672" cy="1600200"/>
          </a:xfrm>
          <a:prstGeom prst="roundRect">
            <a:avLst/>
          </a:prstGeom>
          <a:solidFill>
            <a:srgbClr val="EFF5FC"/>
          </a:solidFill>
          <a:ln w="1016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10" name="Rounded Rectangle 9"/>
          <p:cNvSpPr/>
          <p:nvPr/>
        </p:nvSpPr>
        <p:spPr>
          <a:xfrm>
            <a:off x="594360" y="1737360"/>
            <a:ext cx="68580" cy="1600200"/>
          </a:xfrm>
          <a:prstGeom prst="roundRect">
            <a:avLst/>
          </a:prstGeom>
          <a:solidFill>
            <a:srgbClr val="3669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11" name="TextBox 10"/>
          <p:cNvSpPr txBox="1"/>
          <p:nvPr/>
        </p:nvSpPr>
        <p:spPr>
          <a:xfrm>
            <a:off x="758952" y="1847088"/>
            <a:ext cx="508406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350" b="1" i="0" noProof="0" dirty="0">
                <a:solidFill>
                  <a:srgbClr val="3669BE"/>
                </a:solidFill>
                <a:latin typeface="Aptos"/>
              </a:rPr>
              <a:t>HERO  ·  KDO POTŘEBUJE ŘEŠENÍ?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" y="2167128"/>
            <a:ext cx="5084064" cy="1088136"/>
          </a:xfrm>
          <a:prstGeom prst="rect">
            <a:avLst/>
          </a:prstGeom>
          <a:noFill/>
        </p:spPr>
        <p:txBody>
          <a:bodyPr wrap="square" lIns="9144" tIns="9144" r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200" b="0" i="0" noProof="0" dirty="0">
                <a:solidFill>
                  <a:srgbClr val="283442"/>
                </a:solidFill>
                <a:latin typeface="Aptos"/>
              </a:rPr>
              <a:t>Studenti 1. ročníku FIS, kteří si osvojují vysokoškolské studijní návyky a schopnost samostatně řešit problémy.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9632" y="1737360"/>
            <a:ext cx="5376672" cy="160020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14" name="Rounded Rectangle 13"/>
          <p:cNvSpPr/>
          <p:nvPr/>
        </p:nvSpPr>
        <p:spPr>
          <a:xfrm>
            <a:off x="6199632" y="1737360"/>
            <a:ext cx="68580" cy="1600200"/>
          </a:xfrm>
          <a:prstGeom prst="roundRect">
            <a:avLst/>
          </a:prstGeom>
          <a:solidFill>
            <a:srgbClr val="1F8E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15" name="TextBox 14"/>
          <p:cNvSpPr txBox="1"/>
          <p:nvPr/>
        </p:nvSpPr>
        <p:spPr>
          <a:xfrm>
            <a:off x="6364224" y="1847088"/>
            <a:ext cx="508406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350" b="1" i="0" noProof="0" dirty="0">
                <a:solidFill>
                  <a:srgbClr val="1F8E89"/>
                </a:solidFill>
                <a:latin typeface="Aptos"/>
              </a:rPr>
              <a:t>TREASURE  ·  JAK VYPADÁ ÚSPĚCH?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4224" y="2167128"/>
            <a:ext cx="5084064" cy="1088136"/>
          </a:xfrm>
          <a:prstGeom prst="rect">
            <a:avLst/>
          </a:prstGeom>
          <a:noFill/>
        </p:spPr>
        <p:txBody>
          <a:bodyPr wrap="square" lIns="9144" tIns="9144" r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200" b="0" i="0" noProof="0" dirty="0">
                <a:solidFill>
                  <a:srgbClr val="283442"/>
                </a:solidFill>
                <a:latin typeface="Aptos"/>
              </a:rPr>
              <a:t>Studenti využívají AI k vysvětlení, procvičování a ověřování, ale stále dokážou úkol dokončit samostatně.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" y="3611880"/>
            <a:ext cx="5376672" cy="1600200"/>
          </a:xfrm>
          <a:prstGeom prst="roundRect">
            <a:avLst/>
          </a:prstGeom>
          <a:solidFill>
            <a:srgbClr val="FCF6EB"/>
          </a:solidFill>
          <a:ln w="1016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18" name="Rounded Rectangle 17"/>
          <p:cNvSpPr/>
          <p:nvPr/>
        </p:nvSpPr>
        <p:spPr>
          <a:xfrm>
            <a:off x="594360" y="3611880"/>
            <a:ext cx="68580" cy="1600200"/>
          </a:xfrm>
          <a:prstGeom prst="roundRect">
            <a:avLst/>
          </a:prstGeom>
          <a:solidFill>
            <a:srgbClr val="D08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19" name="TextBox 18"/>
          <p:cNvSpPr txBox="1"/>
          <p:nvPr/>
        </p:nvSpPr>
        <p:spPr>
          <a:xfrm>
            <a:off x="758952" y="3721608"/>
            <a:ext cx="508406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350" b="1" i="0" noProof="0" dirty="0">
                <a:solidFill>
                  <a:srgbClr val="D08D32"/>
                </a:solidFill>
                <a:latin typeface="Aptos"/>
              </a:rPr>
              <a:t>DRAGON  ·  CO STOJÍ V CESTĚ?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52" y="4041648"/>
            <a:ext cx="5084064" cy="1088136"/>
          </a:xfrm>
          <a:prstGeom prst="rect">
            <a:avLst/>
          </a:prstGeom>
          <a:noFill/>
        </p:spPr>
        <p:txBody>
          <a:bodyPr wrap="square" lIns="9144" tIns="9144" r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200" b="0" i="0" noProof="0" dirty="0">
                <a:solidFill>
                  <a:srgbClr val="283442"/>
                </a:solidFill>
                <a:latin typeface="Aptos"/>
              </a:rPr>
              <a:t>Okamžité hotové odpovědi, časový tlak, náročné úkoly a nejistota, jak řešení začít.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99632" y="3611880"/>
            <a:ext cx="5376672" cy="1600200"/>
          </a:xfrm>
          <a:prstGeom prst="roundRect">
            <a:avLst/>
          </a:prstGeom>
          <a:solidFill>
            <a:srgbClr val="EFF5FC"/>
          </a:solidFill>
          <a:ln w="1016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22" name="Rounded Rectangle 21"/>
          <p:cNvSpPr/>
          <p:nvPr/>
        </p:nvSpPr>
        <p:spPr>
          <a:xfrm>
            <a:off x="6199632" y="3611880"/>
            <a:ext cx="68580" cy="1600200"/>
          </a:xfrm>
          <a:prstGeom prst="roundRect">
            <a:avLst/>
          </a:prstGeom>
          <a:solidFill>
            <a:srgbClr val="3669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23" name="TextBox 22"/>
          <p:cNvSpPr txBox="1"/>
          <p:nvPr/>
        </p:nvSpPr>
        <p:spPr>
          <a:xfrm>
            <a:off x="6364224" y="3721608"/>
            <a:ext cx="508406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350" b="1" i="0" noProof="0" dirty="0">
                <a:solidFill>
                  <a:srgbClr val="3669BE"/>
                </a:solidFill>
                <a:latin typeface="Aptos"/>
              </a:rPr>
              <a:t>QUEST  ·  CO CHCEME VYŘEŠIT?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64224" y="4041648"/>
            <a:ext cx="5084064" cy="1088136"/>
          </a:xfrm>
          <a:prstGeom prst="rect">
            <a:avLst/>
          </a:prstGeom>
          <a:noFill/>
        </p:spPr>
        <p:txBody>
          <a:bodyPr wrap="square" lIns="9144" tIns="9144" r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200" b="0" i="0" noProof="0" dirty="0">
                <a:solidFill>
                  <a:srgbClr val="283442"/>
                </a:solidFill>
                <a:latin typeface="Aptos"/>
              </a:rPr>
              <a:t>Jak pomoci prvákům FIS používat AI jako partnera při učení, aniž by nahrazovala jejich vlastní myšlení?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02920" y="6473952"/>
            <a:ext cx="11183112" cy="0"/>
          </a:xfrm>
          <a:prstGeom prst="line">
            <a:avLst/>
          </a:prstGeom>
          <a:ln w="8890">
            <a:solidFill>
              <a:srgbClr val="DAE2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21207" y="6519672"/>
            <a:ext cx="722376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750" b="0" i="0" noProof="0" dirty="0">
                <a:solidFill>
                  <a:srgbClr val="667585"/>
                </a:solidFill>
                <a:latin typeface="Aptos"/>
              </a:rPr>
              <a:t>TÝM 10  ·  ŘEŠENÍ PROBLÉMŮ  ·  FIS VŠE  ·  OBSAH 3/10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02920" y="246888"/>
            <a:ext cx="1024128" cy="256032"/>
          </a:xfrm>
          <a:prstGeom prst="roundRect">
            <a:avLst/>
          </a:prstGeom>
          <a:solidFill>
            <a:srgbClr val="EFF5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3" name="TextBox 2"/>
          <p:cNvSpPr txBox="1"/>
          <p:nvPr/>
        </p:nvSpPr>
        <p:spPr>
          <a:xfrm>
            <a:off x="548640" y="278892"/>
            <a:ext cx="932688" cy="1737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900" b="1" i="0" noProof="0" dirty="0">
                <a:solidFill>
                  <a:srgbClr val="3669BE"/>
                </a:solidFill>
                <a:latin typeface="Aptos"/>
              </a:rPr>
              <a:t>EXPLORE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94360"/>
            <a:ext cx="1106424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2600" b="1" i="0" noProof="0" dirty="0">
                <a:solidFill>
                  <a:srgbClr val="132A43"/>
                </a:solidFill>
                <a:latin typeface="Aptos Display"/>
              </a:rPr>
              <a:t>Analýza možných příčin: </a:t>
            </a:r>
            <a:r>
              <a:rPr lang="cs-CZ" sz="2600" b="1" i="0" noProof="0" dirty="0" err="1">
                <a:solidFill>
                  <a:srgbClr val="132A43"/>
                </a:solidFill>
                <a:latin typeface="Aptos Display"/>
              </a:rPr>
              <a:t>Fishbone</a:t>
            </a:r>
            <a:r>
              <a:rPr lang="cs-CZ" sz="2600" b="1" i="0" noProof="0" dirty="0">
                <a:solidFill>
                  <a:srgbClr val="132A43"/>
                </a:solidFill>
                <a:latin typeface="Aptos Display"/>
              </a:rPr>
              <a:t> diagram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088136"/>
            <a:ext cx="110185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150" b="0" i="0" noProof="0" dirty="0">
                <a:solidFill>
                  <a:srgbClr val="667585"/>
                </a:solidFill>
                <a:latin typeface="Aptos"/>
              </a:rPr>
              <a:t>Příčiny podložené dotazníkem kombinujeme s faktory podpořenými externím výzkumem.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1426464"/>
            <a:ext cx="11183112" cy="0"/>
          </a:xfrm>
          <a:prstGeom prst="line">
            <a:avLst/>
          </a:prstGeom>
          <a:ln w="11430">
            <a:solidFill>
              <a:srgbClr val="DAE2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1402568" y="265176"/>
            <a:ext cx="118872" cy="118872"/>
          </a:xfrm>
          <a:prstGeom prst="ellipse">
            <a:avLst/>
          </a:prstGeom>
          <a:solidFill>
            <a:srgbClr val="1F8E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8" name="Oval 7"/>
          <p:cNvSpPr/>
          <p:nvPr/>
        </p:nvSpPr>
        <p:spPr>
          <a:xfrm>
            <a:off x="11548872" y="265176"/>
            <a:ext cx="118872" cy="118872"/>
          </a:xfrm>
          <a:prstGeom prst="ellipse">
            <a:avLst/>
          </a:prstGeom>
          <a:solidFill>
            <a:srgbClr val="3669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cxnSp>
        <p:nvCxnSpPr>
          <p:cNvPr id="9" name="Connector 8"/>
          <p:cNvCxnSpPr/>
          <p:nvPr/>
        </p:nvCxnSpPr>
        <p:spPr>
          <a:xfrm>
            <a:off x="713232" y="3730752"/>
            <a:ext cx="9116568" cy="0"/>
          </a:xfrm>
          <a:prstGeom prst="line">
            <a:avLst/>
          </a:prstGeom>
          <a:ln w="40640">
            <a:solidFill>
              <a:srgbClr val="132A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Chevron 9"/>
          <p:cNvSpPr/>
          <p:nvPr/>
        </p:nvSpPr>
        <p:spPr>
          <a:xfrm>
            <a:off x="9546336" y="3547872"/>
            <a:ext cx="402336" cy="365760"/>
          </a:xfrm>
          <a:prstGeom prst="chevron">
            <a:avLst/>
          </a:prstGeom>
          <a:solidFill>
            <a:srgbClr val="13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11" name="Rounded Rectangle 10"/>
          <p:cNvSpPr/>
          <p:nvPr/>
        </p:nvSpPr>
        <p:spPr>
          <a:xfrm>
            <a:off x="9985248" y="3172968"/>
            <a:ext cx="1645920" cy="1097280"/>
          </a:xfrm>
          <a:prstGeom prst="roundRect">
            <a:avLst/>
          </a:prstGeom>
          <a:solidFill>
            <a:srgbClr val="13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12" name="TextBox 11"/>
          <p:cNvSpPr txBox="1"/>
          <p:nvPr/>
        </p:nvSpPr>
        <p:spPr>
          <a:xfrm>
            <a:off x="10104120" y="3383280"/>
            <a:ext cx="1408176" cy="6949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100" b="1" i="0" noProof="0" dirty="0">
                <a:solidFill>
                  <a:srgbClr val="FFFFFF"/>
                </a:solidFill>
                <a:latin typeface="Aptos"/>
              </a:rPr>
              <a:t>NADMĚRNÉ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100" b="1" i="0" noProof="0" dirty="0">
                <a:solidFill>
                  <a:srgbClr val="FFFFFF"/>
                </a:solidFill>
                <a:latin typeface="Aptos"/>
              </a:rPr>
              <a:t>SPOLÉHÁNÍ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100" b="1" i="0" noProof="0" dirty="0">
                <a:solidFill>
                  <a:srgbClr val="FFFFFF"/>
                </a:solidFill>
                <a:latin typeface="Aptos"/>
              </a:rPr>
              <a:t>NA AI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1700784"/>
            <a:ext cx="2560320" cy="1371600"/>
          </a:xfrm>
          <a:prstGeom prst="roundRect">
            <a:avLst/>
          </a:prstGeom>
          <a:solidFill>
            <a:srgbClr val="EFF5FC"/>
          </a:solidFill>
          <a:ln w="1016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14" name="Rounded Rectangle 13"/>
          <p:cNvSpPr/>
          <p:nvPr/>
        </p:nvSpPr>
        <p:spPr>
          <a:xfrm>
            <a:off x="566928" y="1700784"/>
            <a:ext cx="68580" cy="1371600"/>
          </a:xfrm>
          <a:prstGeom prst="roundRect">
            <a:avLst/>
          </a:prstGeom>
          <a:solidFill>
            <a:srgbClr val="3669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15" name="TextBox 14"/>
          <p:cNvSpPr txBox="1"/>
          <p:nvPr/>
        </p:nvSpPr>
        <p:spPr>
          <a:xfrm>
            <a:off x="731520" y="1810512"/>
            <a:ext cx="226771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200" b="1" i="0" noProof="0" dirty="0">
                <a:solidFill>
                  <a:srgbClr val="3669BE"/>
                </a:solidFill>
                <a:latin typeface="Aptos"/>
              </a:rPr>
              <a:t>NÁROČNOST ÚKOLU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2130552"/>
            <a:ext cx="2267712" cy="859536"/>
          </a:xfrm>
          <a:prstGeom prst="rect">
            <a:avLst/>
          </a:prstGeom>
          <a:noFill/>
        </p:spPr>
        <p:txBody>
          <a:bodyPr wrap="square" lIns="9144" tIns="9144" r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010" b="0" i="0" noProof="0" dirty="0">
                <a:solidFill>
                  <a:srgbClr val="283442"/>
                </a:solidFill>
                <a:latin typeface="Aptos"/>
              </a:rPr>
              <a:t>9/23 neví, kde začít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010" b="0" i="0" noProof="0" dirty="0">
                <a:solidFill>
                  <a:srgbClr val="283442"/>
                </a:solidFill>
                <a:latin typeface="Aptos"/>
              </a:rPr>
              <a:t>* Nízká sebedůvěra / znalosti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37560" y="1700784"/>
            <a:ext cx="2560320" cy="137160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18" name="Rounded Rectangle 17"/>
          <p:cNvSpPr/>
          <p:nvPr/>
        </p:nvSpPr>
        <p:spPr>
          <a:xfrm>
            <a:off x="3337560" y="1700784"/>
            <a:ext cx="68580" cy="1371600"/>
          </a:xfrm>
          <a:prstGeom prst="roundRect">
            <a:avLst/>
          </a:prstGeom>
          <a:solidFill>
            <a:srgbClr val="1F8E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19" name="TextBox 18"/>
          <p:cNvSpPr txBox="1"/>
          <p:nvPr/>
        </p:nvSpPr>
        <p:spPr>
          <a:xfrm>
            <a:off x="3502152" y="1810512"/>
            <a:ext cx="226771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180" b="1" i="0" noProof="0" dirty="0">
                <a:solidFill>
                  <a:srgbClr val="1F8E89"/>
                </a:solidFill>
                <a:latin typeface="Aptos"/>
              </a:rPr>
              <a:t>STUDIJNÍ NÁVYKY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02152" y="2130552"/>
            <a:ext cx="2267712" cy="859536"/>
          </a:xfrm>
          <a:prstGeom prst="rect">
            <a:avLst/>
          </a:prstGeom>
          <a:noFill/>
        </p:spPr>
        <p:txBody>
          <a:bodyPr wrap="square" lIns="9144" tIns="9144" r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980" b="0" i="0" noProof="0" dirty="0">
                <a:solidFill>
                  <a:srgbClr val="283442"/>
                </a:solidFill>
                <a:latin typeface="Aptos"/>
              </a:rPr>
              <a:t>12/23 používá AI na triviální úkoly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980" b="0" i="0" noProof="0" dirty="0">
                <a:solidFill>
                  <a:srgbClr val="283442"/>
                </a:solidFill>
                <a:latin typeface="Aptos"/>
              </a:rPr>
              <a:t>4/23 ze zvyku či pohodlnosti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08192" y="1700784"/>
            <a:ext cx="3017520" cy="1371600"/>
          </a:xfrm>
          <a:prstGeom prst="roundRect">
            <a:avLst/>
          </a:prstGeom>
          <a:solidFill>
            <a:srgbClr val="FCF6EB"/>
          </a:solidFill>
          <a:ln w="1016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22" name="Rounded Rectangle 21"/>
          <p:cNvSpPr/>
          <p:nvPr/>
        </p:nvSpPr>
        <p:spPr>
          <a:xfrm>
            <a:off x="6108192" y="1700784"/>
            <a:ext cx="68580" cy="1371600"/>
          </a:xfrm>
          <a:prstGeom prst="roundRect">
            <a:avLst/>
          </a:prstGeom>
          <a:solidFill>
            <a:srgbClr val="D08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23" name="TextBox 22"/>
          <p:cNvSpPr txBox="1"/>
          <p:nvPr/>
        </p:nvSpPr>
        <p:spPr>
          <a:xfrm>
            <a:off x="6272783" y="1810512"/>
            <a:ext cx="272491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180" b="1" i="0" noProof="0" dirty="0">
                <a:solidFill>
                  <a:srgbClr val="D08D32"/>
                </a:solidFill>
                <a:latin typeface="Aptos"/>
              </a:rPr>
              <a:t>ZÁTĚŽ A TERMÍNY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72783" y="2130552"/>
            <a:ext cx="2724912" cy="859536"/>
          </a:xfrm>
          <a:prstGeom prst="rect">
            <a:avLst/>
          </a:prstGeom>
          <a:noFill/>
        </p:spPr>
        <p:txBody>
          <a:bodyPr wrap="square" lIns="9144" tIns="9144" r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000" b="0" i="0" noProof="0" dirty="0">
                <a:solidFill>
                  <a:srgbClr val="283442"/>
                </a:solidFill>
                <a:latin typeface="Aptos"/>
              </a:rPr>
              <a:t>6/23 chce zvládat hodně úkolů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000" b="0" i="0" noProof="0" dirty="0">
                <a:solidFill>
                  <a:srgbClr val="283442"/>
                </a:solidFill>
                <a:latin typeface="Aptos"/>
              </a:rPr>
              <a:t>* Tlak na efektivní dokončení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280160" y="4498848"/>
            <a:ext cx="3337560" cy="1344168"/>
          </a:xfrm>
          <a:prstGeom prst="roundRect">
            <a:avLst/>
          </a:prstGeom>
          <a:solidFill>
            <a:srgbClr val="EFF5FC"/>
          </a:solidFill>
          <a:ln w="1016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26" name="Rounded Rectangle 25"/>
          <p:cNvSpPr/>
          <p:nvPr/>
        </p:nvSpPr>
        <p:spPr>
          <a:xfrm>
            <a:off x="1280160" y="4498848"/>
            <a:ext cx="68580" cy="1344168"/>
          </a:xfrm>
          <a:prstGeom prst="roundRect">
            <a:avLst/>
          </a:prstGeom>
          <a:solidFill>
            <a:srgbClr val="3669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27" name="TextBox 26"/>
          <p:cNvSpPr txBox="1"/>
          <p:nvPr/>
        </p:nvSpPr>
        <p:spPr>
          <a:xfrm>
            <a:off x="1444751" y="4608576"/>
            <a:ext cx="3044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200" b="1" i="0" noProof="0" dirty="0">
                <a:solidFill>
                  <a:srgbClr val="3669BE"/>
                </a:solidFill>
                <a:latin typeface="Aptos"/>
              </a:rPr>
              <a:t>STRATEGIE UČENÍ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4751" y="4928616"/>
            <a:ext cx="3044952" cy="832103"/>
          </a:xfrm>
          <a:prstGeom prst="rect">
            <a:avLst/>
          </a:prstGeom>
          <a:noFill/>
        </p:spPr>
        <p:txBody>
          <a:bodyPr wrap="square" lIns="9144" tIns="9144" r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030" b="0" i="0" noProof="0" dirty="0">
                <a:solidFill>
                  <a:srgbClr val="283442"/>
                </a:solidFill>
                <a:latin typeface="Aptos"/>
              </a:rPr>
              <a:t>12/23: pomoc i náhrada vlastní práce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030" b="0" i="0" noProof="0" dirty="0">
                <a:solidFill>
                  <a:srgbClr val="283442"/>
                </a:solidFill>
                <a:latin typeface="Aptos"/>
              </a:rPr>
              <a:t>4/23: hotová odpověď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910328" y="4498848"/>
            <a:ext cx="3337560" cy="1344168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30" name="Rounded Rectangle 29"/>
          <p:cNvSpPr/>
          <p:nvPr/>
        </p:nvSpPr>
        <p:spPr>
          <a:xfrm>
            <a:off x="4910328" y="4498848"/>
            <a:ext cx="68580" cy="1344168"/>
          </a:xfrm>
          <a:prstGeom prst="roundRect">
            <a:avLst/>
          </a:prstGeom>
          <a:solidFill>
            <a:srgbClr val="1F8E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31" name="TextBox 30"/>
          <p:cNvSpPr txBox="1"/>
          <p:nvPr/>
        </p:nvSpPr>
        <p:spPr>
          <a:xfrm>
            <a:off x="5074920" y="4608576"/>
            <a:ext cx="3044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200" b="1" i="0" noProof="0" dirty="0">
                <a:solidFill>
                  <a:srgbClr val="1F8E89"/>
                </a:solidFill>
                <a:latin typeface="Aptos"/>
              </a:rPr>
              <a:t>ČAS A POHODLNOST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74920" y="4928616"/>
            <a:ext cx="3044952" cy="832103"/>
          </a:xfrm>
          <a:prstGeom prst="rect">
            <a:avLst/>
          </a:prstGeom>
          <a:noFill/>
        </p:spPr>
        <p:txBody>
          <a:bodyPr wrap="square" lIns="9144" tIns="9144" r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030" b="0" i="0" noProof="0" dirty="0">
                <a:solidFill>
                  <a:srgbClr val="283442"/>
                </a:solidFill>
                <a:latin typeface="Aptos"/>
              </a:rPr>
              <a:t>16/23 uvádí úsporu času a snazší práci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030" b="0" i="0" noProof="0" dirty="0">
                <a:solidFill>
                  <a:srgbClr val="283442"/>
                </a:solidFill>
                <a:latin typeface="Aptos"/>
              </a:rPr>
              <a:t>* Rychlý přístup k odpovědím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1847088" y="3072384"/>
            <a:ext cx="393192" cy="658368"/>
          </a:xfrm>
          <a:prstGeom prst="line">
            <a:avLst/>
          </a:prstGeom>
          <a:ln w="22860">
            <a:solidFill>
              <a:srgbClr val="3669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4599432" y="3072384"/>
            <a:ext cx="109728" cy="658368"/>
          </a:xfrm>
          <a:prstGeom prst="line">
            <a:avLst/>
          </a:prstGeom>
          <a:ln w="22860">
            <a:solidFill>
              <a:srgbClr val="1F8E8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H="1">
            <a:off x="7452360" y="3072384"/>
            <a:ext cx="109728" cy="658368"/>
          </a:xfrm>
          <a:prstGeom prst="line">
            <a:avLst/>
          </a:prstGeom>
          <a:ln w="22860">
            <a:solidFill>
              <a:srgbClr val="D08D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2944368" y="3730752"/>
            <a:ext cx="0" cy="640080"/>
          </a:xfrm>
          <a:prstGeom prst="line">
            <a:avLst/>
          </a:prstGeom>
          <a:ln w="22860">
            <a:solidFill>
              <a:srgbClr val="3669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6574536" y="3730752"/>
            <a:ext cx="0" cy="640080"/>
          </a:xfrm>
          <a:prstGeom prst="line">
            <a:avLst/>
          </a:prstGeom>
          <a:ln w="22860">
            <a:solidFill>
              <a:srgbClr val="1F8E8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621792" y="6007608"/>
            <a:ext cx="108813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880" b="0" i="0" noProof="0" dirty="0">
                <a:solidFill>
                  <a:srgbClr val="667585"/>
                </a:solidFill>
                <a:latin typeface="Aptos"/>
              </a:rPr>
              <a:t>* Faktor podpořen externí studií [4, 5]. </a:t>
            </a:r>
            <a:r>
              <a:rPr lang="cs-CZ" sz="880" b="0" i="0" noProof="0" dirty="0" err="1">
                <a:solidFill>
                  <a:srgbClr val="667585"/>
                </a:solidFill>
                <a:latin typeface="Aptos"/>
              </a:rPr>
              <a:t>Fishbone</a:t>
            </a:r>
            <a:r>
              <a:rPr lang="cs-CZ" sz="880" b="0" i="0" noProof="0" dirty="0">
                <a:solidFill>
                  <a:srgbClr val="667585"/>
                </a:solidFill>
                <a:latin typeface="Aptos"/>
              </a:rPr>
              <a:t> zobrazuje možné příčiny; sám o sobě neprokazuje příčinnou souvislost.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02920" y="6473952"/>
            <a:ext cx="11183112" cy="0"/>
          </a:xfrm>
          <a:prstGeom prst="line">
            <a:avLst/>
          </a:prstGeom>
          <a:ln w="8890">
            <a:solidFill>
              <a:srgbClr val="DAE2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521207" y="6519672"/>
            <a:ext cx="722376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750" b="0" i="0" noProof="0" dirty="0">
                <a:solidFill>
                  <a:srgbClr val="667585"/>
                </a:solidFill>
                <a:latin typeface="Aptos"/>
              </a:rPr>
              <a:t>TÝM 10  ·  ŘEŠENÍ PROBLÉMŮ  ·  FIS VŠE  ·  OBSAH 4/10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06640" y="6510528"/>
            <a:ext cx="4251960" cy="1737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720" b="0" i="0" noProof="0" dirty="0">
                <a:solidFill>
                  <a:srgbClr val="667585"/>
                </a:solidFill>
                <a:latin typeface="Aptos"/>
              </a:rPr>
              <a:t>Lokální data: [1] · Externí výzkum: [4, 5]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02920" y="246888"/>
            <a:ext cx="1024128" cy="256032"/>
          </a:xfrm>
          <a:prstGeom prst="roundRect">
            <a:avLst/>
          </a:prstGeom>
          <a:solidFill>
            <a:srgbClr val="EFF5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3" name="TextBox 2"/>
          <p:cNvSpPr txBox="1"/>
          <p:nvPr/>
        </p:nvSpPr>
        <p:spPr>
          <a:xfrm>
            <a:off x="548640" y="278892"/>
            <a:ext cx="932688" cy="1737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900" b="1" i="0" noProof="0" dirty="0">
                <a:solidFill>
                  <a:srgbClr val="3669BE"/>
                </a:solidFill>
                <a:latin typeface="Aptos"/>
              </a:rPr>
              <a:t>EXPLORE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94360"/>
            <a:ext cx="1106424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2600" b="1" i="0" noProof="0" dirty="0">
                <a:solidFill>
                  <a:srgbClr val="132A43"/>
                </a:solidFill>
                <a:latin typeface="Aptos Display"/>
              </a:rPr>
              <a:t>5 </a:t>
            </a:r>
            <a:r>
              <a:rPr lang="cs-CZ" sz="2600" b="1" i="0" noProof="0" dirty="0" err="1">
                <a:solidFill>
                  <a:srgbClr val="132A43"/>
                </a:solidFill>
                <a:latin typeface="Aptos Display"/>
              </a:rPr>
              <a:t>Whys</a:t>
            </a:r>
            <a:r>
              <a:rPr lang="cs-CZ" sz="2600" b="1" i="0" noProof="0" dirty="0">
                <a:solidFill>
                  <a:srgbClr val="132A43"/>
                </a:solidFill>
                <a:latin typeface="Aptos Display"/>
              </a:rPr>
              <a:t>: od pozorovaného chování ke kořenové příčině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088136"/>
            <a:ext cx="110185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150" b="0" i="0" noProof="0" dirty="0">
                <a:solidFill>
                  <a:srgbClr val="667585"/>
                </a:solidFill>
                <a:latin typeface="Aptos"/>
              </a:rPr>
              <a:t>Návazný řetězec kombinuje lokální data a externí výzkum; závěrečná příčina je hypotéza.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1426464"/>
            <a:ext cx="11183112" cy="0"/>
          </a:xfrm>
          <a:prstGeom prst="line">
            <a:avLst/>
          </a:prstGeom>
          <a:ln w="11430">
            <a:solidFill>
              <a:srgbClr val="DAE2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1402568" y="265176"/>
            <a:ext cx="118872" cy="118872"/>
          </a:xfrm>
          <a:prstGeom prst="ellipse">
            <a:avLst/>
          </a:prstGeom>
          <a:solidFill>
            <a:srgbClr val="1F8E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8" name="Oval 7"/>
          <p:cNvSpPr/>
          <p:nvPr/>
        </p:nvSpPr>
        <p:spPr>
          <a:xfrm>
            <a:off x="11548872" y="265176"/>
            <a:ext cx="118872" cy="118872"/>
          </a:xfrm>
          <a:prstGeom prst="ellipse">
            <a:avLst/>
          </a:prstGeom>
          <a:solidFill>
            <a:srgbClr val="3669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9" name="Rounded Rectangle 8"/>
          <p:cNvSpPr/>
          <p:nvPr/>
        </p:nvSpPr>
        <p:spPr>
          <a:xfrm>
            <a:off x="585216" y="1627632"/>
            <a:ext cx="11009376" cy="804672"/>
          </a:xfrm>
          <a:prstGeom prst="roundRect">
            <a:avLst/>
          </a:prstGeom>
          <a:solidFill>
            <a:srgbClr val="F6F8FB"/>
          </a:solidFill>
          <a:ln w="889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10" name="Oval 9"/>
          <p:cNvSpPr/>
          <p:nvPr/>
        </p:nvSpPr>
        <p:spPr>
          <a:xfrm>
            <a:off x="731520" y="1810512"/>
            <a:ext cx="384048" cy="384048"/>
          </a:xfrm>
          <a:prstGeom prst="ellipse">
            <a:avLst/>
          </a:prstGeom>
          <a:solidFill>
            <a:srgbClr val="3669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11" name="TextBox 10"/>
          <p:cNvSpPr txBox="1"/>
          <p:nvPr/>
        </p:nvSpPr>
        <p:spPr>
          <a:xfrm>
            <a:off x="731520" y="1828800"/>
            <a:ext cx="38404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300" b="1" i="0" noProof="0" dirty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71016" y="1746504"/>
            <a:ext cx="3090672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040" b="1" i="0" noProof="0" dirty="0">
                <a:solidFill>
                  <a:srgbClr val="132A43"/>
                </a:solidFill>
                <a:latin typeface="Aptos"/>
              </a:rPr>
              <a:t>Proč někteří studenti používají AI i na jednoduché úkoly?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1737360"/>
            <a:ext cx="3730752" cy="585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040" b="0" i="0" noProof="0" dirty="0">
                <a:solidFill>
                  <a:srgbClr val="283442"/>
                </a:solidFill>
                <a:latin typeface="Aptos"/>
              </a:rPr>
              <a:t>Protože je rychlá a pohodlná.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39327" y="1737360"/>
            <a:ext cx="3017520" cy="585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910" b="0" i="0" noProof="0" dirty="0">
                <a:solidFill>
                  <a:srgbClr val="667585"/>
                </a:solidFill>
                <a:latin typeface="Aptos"/>
              </a:rPr>
              <a:t>16/23: úspora času [1]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5216" y="2505456"/>
            <a:ext cx="11009376" cy="804672"/>
          </a:xfrm>
          <a:prstGeom prst="roundRect">
            <a:avLst/>
          </a:prstGeom>
          <a:solidFill>
            <a:srgbClr val="F6F8FB"/>
          </a:solidFill>
          <a:ln w="889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16" name="Oval 15"/>
          <p:cNvSpPr/>
          <p:nvPr/>
        </p:nvSpPr>
        <p:spPr>
          <a:xfrm>
            <a:off x="731520" y="2688336"/>
            <a:ext cx="384048" cy="384048"/>
          </a:xfrm>
          <a:prstGeom prst="ellipse">
            <a:avLst/>
          </a:prstGeom>
          <a:solidFill>
            <a:srgbClr val="1F8E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17" name="TextBox 16"/>
          <p:cNvSpPr txBox="1"/>
          <p:nvPr/>
        </p:nvSpPr>
        <p:spPr>
          <a:xfrm>
            <a:off x="731520" y="2706624"/>
            <a:ext cx="38404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300" b="1" i="0" noProof="0" dirty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71016" y="2624328"/>
            <a:ext cx="3090672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040" b="1" i="0" noProof="0" dirty="0">
                <a:solidFill>
                  <a:srgbClr val="132A43"/>
                </a:solidFill>
                <a:latin typeface="Aptos"/>
              </a:rPr>
              <a:t>Proč upřednostňují rychlou odpověď?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2615184"/>
            <a:ext cx="3730752" cy="585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040" b="0" i="0" noProof="0" dirty="0">
                <a:solidFill>
                  <a:srgbClr val="283442"/>
                </a:solidFill>
                <a:latin typeface="Aptos"/>
              </a:rPr>
              <a:t>Časový tlak a nejistota, jak začít, mohou AI zatraktivnit.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39327" y="2615184"/>
            <a:ext cx="3017520" cy="585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910" b="0" i="0" noProof="0" dirty="0">
                <a:solidFill>
                  <a:srgbClr val="667585"/>
                </a:solidFill>
                <a:latin typeface="Aptos"/>
              </a:rPr>
              <a:t>9/23: neví, kde začít; 6/23: zátěž a termíny [1]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85216" y="3383280"/>
            <a:ext cx="11009376" cy="804672"/>
          </a:xfrm>
          <a:prstGeom prst="roundRect">
            <a:avLst/>
          </a:prstGeom>
          <a:solidFill>
            <a:srgbClr val="F6F8FB"/>
          </a:solidFill>
          <a:ln w="889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22" name="Oval 21"/>
          <p:cNvSpPr/>
          <p:nvPr/>
        </p:nvSpPr>
        <p:spPr>
          <a:xfrm>
            <a:off x="731520" y="3566160"/>
            <a:ext cx="384048" cy="384048"/>
          </a:xfrm>
          <a:prstGeom prst="ellipse">
            <a:avLst/>
          </a:prstGeom>
          <a:solidFill>
            <a:srgbClr val="D08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23" name="TextBox 22"/>
          <p:cNvSpPr txBox="1"/>
          <p:nvPr/>
        </p:nvSpPr>
        <p:spPr>
          <a:xfrm>
            <a:off x="731520" y="3584448"/>
            <a:ext cx="38404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300" b="1" i="0" noProof="0" dirty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71016" y="3502152"/>
            <a:ext cx="3090672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040" b="1" i="0" noProof="0" dirty="0">
                <a:solidFill>
                  <a:srgbClr val="132A43"/>
                </a:solidFill>
                <a:latin typeface="Aptos"/>
              </a:rPr>
              <a:t>Proč AI může nahrazovat učení?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3493008"/>
            <a:ext cx="3730752" cy="585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040" b="0" i="0" noProof="0" dirty="0">
                <a:solidFill>
                  <a:srgbClr val="283442"/>
                </a:solidFill>
                <a:latin typeface="Aptos"/>
              </a:rPr>
              <a:t>Poskytne hotovou odpověď bez samostatného řešení.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39327" y="3493008"/>
            <a:ext cx="3017520" cy="585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910" b="0" i="0" noProof="0" dirty="0">
                <a:solidFill>
                  <a:srgbClr val="667585"/>
                </a:solidFill>
                <a:latin typeface="Aptos"/>
              </a:rPr>
              <a:t>12/23: smíšené použití; 4/23: hotové odpovědi [1]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85216" y="4261104"/>
            <a:ext cx="11009376" cy="804672"/>
          </a:xfrm>
          <a:prstGeom prst="roundRect">
            <a:avLst/>
          </a:prstGeom>
          <a:solidFill>
            <a:srgbClr val="F6F8FB"/>
          </a:solidFill>
          <a:ln w="889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28" name="Oval 27"/>
          <p:cNvSpPr/>
          <p:nvPr/>
        </p:nvSpPr>
        <p:spPr>
          <a:xfrm>
            <a:off x="731520" y="4443984"/>
            <a:ext cx="384048" cy="384048"/>
          </a:xfrm>
          <a:prstGeom prst="ellipse">
            <a:avLst/>
          </a:prstGeom>
          <a:solidFill>
            <a:srgbClr val="3669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29" name="TextBox 28"/>
          <p:cNvSpPr txBox="1"/>
          <p:nvPr/>
        </p:nvSpPr>
        <p:spPr>
          <a:xfrm>
            <a:off x="731520" y="4462272"/>
            <a:ext cx="38404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300" b="1" i="0" noProof="0" dirty="0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71016" y="4379976"/>
            <a:ext cx="3090672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040" b="1" i="0" noProof="0" dirty="0">
                <a:solidFill>
                  <a:srgbClr val="132A43"/>
                </a:solidFill>
                <a:latin typeface="Aptos"/>
              </a:rPr>
              <a:t>Proč hotová odpověď nemusí znamenat naučení?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4370832"/>
            <a:ext cx="3730752" cy="585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040" b="0" i="0" noProof="0" dirty="0">
                <a:solidFill>
                  <a:srgbClr val="283442"/>
                </a:solidFill>
                <a:latin typeface="Aptos"/>
              </a:rPr>
              <a:t>Student nemusí umět podobný úkol vyřešit bez AI.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39327" y="4370832"/>
            <a:ext cx="3017520" cy="585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910" b="0" i="0" noProof="0" dirty="0">
                <a:solidFill>
                  <a:srgbClr val="667585"/>
                </a:solidFill>
                <a:latin typeface="Aptos"/>
              </a:rPr>
              <a:t>Výzkum: výkon s AI ≠ samostatné učení [2, 3]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85216" y="5230368"/>
            <a:ext cx="11009376" cy="749808"/>
          </a:xfrm>
          <a:prstGeom prst="roundRect">
            <a:avLst/>
          </a:prstGeom>
          <a:solidFill>
            <a:srgbClr val="FCF6EB"/>
          </a:solidFill>
          <a:ln w="10160">
            <a:solidFill>
              <a:srgbClr val="EFDC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34" name="TextBox 33"/>
          <p:cNvSpPr txBox="1"/>
          <p:nvPr/>
        </p:nvSpPr>
        <p:spPr>
          <a:xfrm>
            <a:off x="768096" y="5294376"/>
            <a:ext cx="292608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900" b="1" i="0" noProof="0" dirty="0">
                <a:solidFill>
                  <a:srgbClr val="D08D32"/>
                </a:solidFill>
                <a:latin typeface="Aptos"/>
              </a:rPr>
              <a:t>5  ·  Proč studenti nepoužívají AI důsledně jako učebního partnera?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822191" y="5367528"/>
            <a:ext cx="4078224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120" b="1" i="0" noProof="0" dirty="0">
                <a:solidFill>
                  <a:srgbClr val="132A43"/>
                </a:solidFill>
                <a:latin typeface="Aptos"/>
              </a:rPr>
              <a:t>Možná příčina: chybí ucelená strategie pro učení s AI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28431" y="5321808"/>
            <a:ext cx="3264408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869" b="0" i="0" noProof="0" dirty="0">
                <a:solidFill>
                  <a:srgbClr val="667585"/>
                </a:solidFill>
                <a:latin typeface="Aptos"/>
              </a:rPr>
              <a:t>Hypotéza odvozená z dat; nebyla přímo ověřena u všech prváků FIS.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2648" y="6108192"/>
            <a:ext cx="10789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830" b="0" i="0" noProof="0" dirty="0">
                <a:solidFill>
                  <a:srgbClr val="667585"/>
                </a:solidFill>
                <a:latin typeface="Aptos"/>
              </a:rPr>
              <a:t>[1] Dotazník Team 10 (n = 23) · [2] </a:t>
            </a:r>
            <a:r>
              <a:rPr lang="cs-CZ" sz="830" b="0" i="0" noProof="0" dirty="0" err="1">
                <a:solidFill>
                  <a:srgbClr val="667585"/>
                </a:solidFill>
                <a:latin typeface="Aptos"/>
              </a:rPr>
              <a:t>Bastani</a:t>
            </a:r>
            <a:r>
              <a:rPr lang="cs-CZ" sz="830" b="0" i="0" noProof="0" dirty="0">
                <a:solidFill>
                  <a:srgbClr val="667585"/>
                </a:solidFill>
                <a:latin typeface="Aptos"/>
              </a:rPr>
              <a:t> et al. (2025) · [3] </a:t>
            </a:r>
            <a:r>
              <a:rPr lang="cs-CZ" sz="830" b="0" i="0" noProof="0" dirty="0" err="1">
                <a:solidFill>
                  <a:srgbClr val="667585"/>
                </a:solidFill>
                <a:latin typeface="Aptos"/>
              </a:rPr>
              <a:t>Pardos</a:t>
            </a:r>
            <a:r>
              <a:rPr lang="cs-CZ" sz="830" b="0" i="0" noProof="0" dirty="0">
                <a:solidFill>
                  <a:srgbClr val="667585"/>
                </a:solidFill>
                <a:latin typeface="Aptos"/>
              </a:rPr>
              <a:t> &amp; </a:t>
            </a:r>
            <a:r>
              <a:rPr lang="cs-CZ" sz="830" b="0" i="0" noProof="0" dirty="0" err="1">
                <a:solidFill>
                  <a:srgbClr val="667585"/>
                </a:solidFill>
                <a:latin typeface="Aptos"/>
              </a:rPr>
              <a:t>Bhandari</a:t>
            </a:r>
            <a:r>
              <a:rPr lang="cs-CZ" sz="830" b="0" i="0" noProof="0" dirty="0">
                <a:solidFill>
                  <a:srgbClr val="667585"/>
                </a:solidFill>
                <a:latin typeface="Aptos"/>
              </a:rPr>
              <a:t> (2024)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02920" y="6473952"/>
            <a:ext cx="11183112" cy="0"/>
          </a:xfrm>
          <a:prstGeom prst="line">
            <a:avLst/>
          </a:prstGeom>
          <a:ln w="8890">
            <a:solidFill>
              <a:srgbClr val="DAE2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521207" y="6519672"/>
            <a:ext cx="722376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750" b="0" i="0" noProof="0" dirty="0">
                <a:solidFill>
                  <a:srgbClr val="667585"/>
                </a:solidFill>
                <a:latin typeface="Aptos"/>
              </a:rPr>
              <a:t>TÝM 10  ·  ŘEŠENÍ PROBLÉMŮ  ·  FIS VŠE  ·  OBSAH 5/10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02920" y="246888"/>
            <a:ext cx="1024128" cy="256032"/>
          </a:xfrm>
          <a:prstGeom prst="roundRect">
            <a:avLst/>
          </a:prstGeom>
          <a:solidFill>
            <a:srgbClr val="EFF5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3" name="TextBox 2"/>
          <p:cNvSpPr txBox="1"/>
          <p:nvPr/>
        </p:nvSpPr>
        <p:spPr>
          <a:xfrm>
            <a:off x="548640" y="278892"/>
            <a:ext cx="932688" cy="1737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900" b="1" i="0" noProof="0" dirty="0">
                <a:solidFill>
                  <a:srgbClr val="3669BE"/>
                </a:solidFill>
                <a:latin typeface="Aptos"/>
              </a:rPr>
              <a:t>EXPLORE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94360"/>
            <a:ext cx="1106424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2600" b="1" i="0" noProof="0" dirty="0">
                <a:solidFill>
                  <a:srgbClr val="132A43"/>
                </a:solidFill>
                <a:latin typeface="Aptos Display"/>
              </a:rPr>
              <a:t>Jaké varianty řešení zvažujeme?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088136"/>
            <a:ext cx="110185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150" b="0" i="0" noProof="0" dirty="0">
                <a:solidFill>
                  <a:srgbClr val="667585"/>
                </a:solidFill>
                <a:latin typeface="Aptos"/>
              </a:rPr>
              <a:t>Čtyři možnosti vycházejí z požadavků zadání a z preferencí respondentů.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1426464"/>
            <a:ext cx="11183112" cy="0"/>
          </a:xfrm>
          <a:prstGeom prst="line">
            <a:avLst/>
          </a:prstGeom>
          <a:ln w="11430">
            <a:solidFill>
              <a:srgbClr val="DAE2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1402568" y="265176"/>
            <a:ext cx="118872" cy="118872"/>
          </a:xfrm>
          <a:prstGeom prst="ellipse">
            <a:avLst/>
          </a:prstGeom>
          <a:solidFill>
            <a:srgbClr val="1F8E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8" name="Oval 7"/>
          <p:cNvSpPr/>
          <p:nvPr/>
        </p:nvSpPr>
        <p:spPr>
          <a:xfrm>
            <a:off x="11548872" y="265176"/>
            <a:ext cx="118872" cy="118872"/>
          </a:xfrm>
          <a:prstGeom prst="ellipse">
            <a:avLst/>
          </a:prstGeom>
          <a:solidFill>
            <a:srgbClr val="3669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9" name="Rounded Rectangle 8"/>
          <p:cNvSpPr/>
          <p:nvPr/>
        </p:nvSpPr>
        <p:spPr>
          <a:xfrm>
            <a:off x="594360" y="1700784"/>
            <a:ext cx="5376672" cy="1645920"/>
          </a:xfrm>
          <a:prstGeom prst="roundRect">
            <a:avLst/>
          </a:prstGeom>
          <a:solidFill>
            <a:srgbClr val="EFF5FC"/>
          </a:solidFill>
          <a:ln w="1016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10" name="Rounded Rectangle 9"/>
          <p:cNvSpPr/>
          <p:nvPr/>
        </p:nvSpPr>
        <p:spPr>
          <a:xfrm>
            <a:off x="594360" y="1700784"/>
            <a:ext cx="68580" cy="1645920"/>
          </a:xfrm>
          <a:prstGeom prst="roundRect">
            <a:avLst/>
          </a:prstGeom>
          <a:solidFill>
            <a:srgbClr val="3669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11" name="TextBox 10"/>
          <p:cNvSpPr txBox="1"/>
          <p:nvPr/>
        </p:nvSpPr>
        <p:spPr>
          <a:xfrm>
            <a:off x="758952" y="1810512"/>
            <a:ext cx="508406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400" b="1" i="0" noProof="0" dirty="0">
                <a:solidFill>
                  <a:srgbClr val="3669BE"/>
                </a:solidFill>
                <a:latin typeface="Aptos"/>
              </a:rPr>
              <a:t>A  ·  STUDIJNÍ PRŮVODCE K 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" y="2130552"/>
            <a:ext cx="5084064" cy="1133856"/>
          </a:xfrm>
          <a:prstGeom prst="rect">
            <a:avLst/>
          </a:prstGeom>
          <a:noFill/>
        </p:spPr>
        <p:txBody>
          <a:bodyPr wrap="square" lIns="9144" tIns="9144" r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150" b="0" i="0" noProof="0" dirty="0">
                <a:solidFill>
                  <a:srgbClr val="283442"/>
                </a:solidFill>
                <a:latin typeface="Aptos"/>
              </a:rPr>
              <a:t>Krátký návod: nápovědy místo hotových odpovědí, procvičování a ověřování výstupů.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07992" y="1810512"/>
            <a:ext cx="1207008" cy="256032"/>
          </a:xfrm>
          <a:prstGeom prst="roundRect">
            <a:avLst/>
          </a:prstGeom>
          <a:solidFill>
            <a:srgbClr val="EFF5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14" name="TextBox 13"/>
          <p:cNvSpPr txBox="1"/>
          <p:nvPr/>
        </p:nvSpPr>
        <p:spPr>
          <a:xfrm>
            <a:off x="4553712" y="1842516"/>
            <a:ext cx="1115568" cy="1737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000" b="1" i="0" noProof="0" dirty="0">
                <a:solidFill>
                  <a:srgbClr val="3669BE"/>
                </a:solidFill>
                <a:latin typeface="Aptos"/>
              </a:rPr>
              <a:t>5/23*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9632" y="1700784"/>
            <a:ext cx="5376672" cy="164592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16" name="Rounded Rectangle 15"/>
          <p:cNvSpPr/>
          <p:nvPr/>
        </p:nvSpPr>
        <p:spPr>
          <a:xfrm>
            <a:off x="6199632" y="1700784"/>
            <a:ext cx="68580" cy="1645920"/>
          </a:xfrm>
          <a:prstGeom prst="roundRect">
            <a:avLst/>
          </a:prstGeom>
          <a:solidFill>
            <a:srgbClr val="1F8E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17" name="TextBox 16"/>
          <p:cNvSpPr txBox="1"/>
          <p:nvPr/>
        </p:nvSpPr>
        <p:spPr>
          <a:xfrm>
            <a:off x="6364224" y="1810512"/>
            <a:ext cx="508406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400" b="1" i="0" noProof="0" dirty="0">
                <a:solidFill>
                  <a:srgbClr val="1F8E89"/>
                </a:solidFill>
                <a:latin typeface="Aptos"/>
              </a:rPr>
              <a:t>B  ·  PRAKTICKÝ WORKSHOP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64224" y="2130552"/>
            <a:ext cx="5084064" cy="1133856"/>
          </a:xfrm>
          <a:prstGeom prst="rect">
            <a:avLst/>
          </a:prstGeom>
          <a:noFill/>
        </p:spPr>
        <p:txBody>
          <a:bodyPr wrap="square" lIns="9144" tIns="9144" r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150" b="0" i="0" noProof="0" dirty="0">
                <a:solidFill>
                  <a:srgbClr val="283442"/>
                </a:solidFill>
                <a:latin typeface="Aptos"/>
              </a:rPr>
              <a:t>Krátké praktické cvičení: porovnat žádost o hotové řešení s promptem, který vede k samostatnému postupu.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131552" y="1810512"/>
            <a:ext cx="1207008" cy="256032"/>
          </a:xfrm>
          <a:prstGeom prst="roundRect">
            <a:avLst/>
          </a:prstGeom>
          <a:solidFill>
            <a:srgbClr val="E9F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20" name="TextBox 19"/>
          <p:cNvSpPr txBox="1"/>
          <p:nvPr/>
        </p:nvSpPr>
        <p:spPr>
          <a:xfrm>
            <a:off x="10177272" y="1842516"/>
            <a:ext cx="1115568" cy="1737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000" b="1" i="0" noProof="0" dirty="0">
                <a:solidFill>
                  <a:srgbClr val="1F8E89"/>
                </a:solidFill>
                <a:latin typeface="Aptos"/>
              </a:rPr>
              <a:t>4/23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4360" y="3611880"/>
            <a:ext cx="5376672" cy="1645920"/>
          </a:xfrm>
          <a:prstGeom prst="roundRect">
            <a:avLst/>
          </a:prstGeom>
          <a:solidFill>
            <a:srgbClr val="FCF6EB"/>
          </a:solidFill>
          <a:ln w="1016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22" name="Rounded Rectangle 21"/>
          <p:cNvSpPr/>
          <p:nvPr/>
        </p:nvSpPr>
        <p:spPr>
          <a:xfrm>
            <a:off x="594360" y="3611880"/>
            <a:ext cx="68580" cy="1645920"/>
          </a:xfrm>
          <a:prstGeom prst="roundRect">
            <a:avLst/>
          </a:prstGeom>
          <a:solidFill>
            <a:srgbClr val="D08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23" name="TextBox 22"/>
          <p:cNvSpPr txBox="1"/>
          <p:nvPr/>
        </p:nvSpPr>
        <p:spPr>
          <a:xfrm>
            <a:off x="758952" y="3721608"/>
            <a:ext cx="508406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400" b="1" i="0" noProof="0" dirty="0">
                <a:solidFill>
                  <a:srgbClr val="D08D32"/>
                </a:solidFill>
                <a:latin typeface="Aptos"/>
              </a:rPr>
              <a:t>C  ·  ZMĚNA HODNOCENÍ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952" y="4041648"/>
            <a:ext cx="5084064" cy="1133856"/>
          </a:xfrm>
          <a:prstGeom prst="rect">
            <a:avLst/>
          </a:prstGeom>
          <a:noFill/>
        </p:spPr>
        <p:txBody>
          <a:bodyPr wrap="square" lIns="9144" tIns="9144" r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150" b="0" i="0" noProof="0" dirty="0">
                <a:solidFill>
                  <a:srgbClr val="283442"/>
                </a:solidFill>
                <a:latin typeface="Aptos"/>
              </a:rPr>
              <a:t>Úlohy, které vyžadují vysvětlení postupu, samostatné řešení nebo krátkou obhajobu.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07992" y="3721608"/>
            <a:ext cx="1207008" cy="256032"/>
          </a:xfrm>
          <a:prstGeom prst="roundRect">
            <a:avLst/>
          </a:prstGeom>
          <a:solidFill>
            <a:srgbClr val="FCF6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26" name="TextBox 25"/>
          <p:cNvSpPr txBox="1"/>
          <p:nvPr/>
        </p:nvSpPr>
        <p:spPr>
          <a:xfrm>
            <a:off x="4553712" y="3753612"/>
            <a:ext cx="1115568" cy="1737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000" b="1" i="0" noProof="0" dirty="0">
                <a:solidFill>
                  <a:srgbClr val="D08D32"/>
                </a:solidFill>
                <a:latin typeface="Aptos"/>
              </a:rPr>
              <a:t>5/23*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99632" y="3611880"/>
            <a:ext cx="5376672" cy="1645920"/>
          </a:xfrm>
          <a:prstGeom prst="roundRect">
            <a:avLst/>
          </a:prstGeom>
          <a:solidFill>
            <a:srgbClr val="F6F8FB"/>
          </a:solidFill>
          <a:ln w="1016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28" name="Rounded Rectangle 27"/>
          <p:cNvSpPr/>
          <p:nvPr/>
        </p:nvSpPr>
        <p:spPr>
          <a:xfrm>
            <a:off x="6199632" y="3611880"/>
            <a:ext cx="68580" cy="1645920"/>
          </a:xfrm>
          <a:prstGeom prst="roundRect">
            <a:avLst/>
          </a:prstGeom>
          <a:solidFill>
            <a:srgbClr val="667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29" name="TextBox 28"/>
          <p:cNvSpPr txBox="1"/>
          <p:nvPr/>
        </p:nvSpPr>
        <p:spPr>
          <a:xfrm>
            <a:off x="6364224" y="3721608"/>
            <a:ext cx="508406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400" b="1" i="0" noProof="0" dirty="0">
                <a:solidFill>
                  <a:srgbClr val="667585"/>
                </a:solidFill>
                <a:latin typeface="Aptos"/>
              </a:rPr>
              <a:t>D  ·  ZACHOVAT SOUČASNÝ PŘÍSTUP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64224" y="4041648"/>
            <a:ext cx="5084064" cy="1133856"/>
          </a:xfrm>
          <a:prstGeom prst="rect">
            <a:avLst/>
          </a:prstGeom>
          <a:noFill/>
        </p:spPr>
        <p:txBody>
          <a:bodyPr wrap="square" lIns="9144" tIns="9144" r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150" b="0" i="0" noProof="0" dirty="0">
                <a:solidFill>
                  <a:srgbClr val="283442"/>
                </a:solidFill>
                <a:latin typeface="Aptos"/>
              </a:rPr>
              <a:t>Bez nové intervence. Nevyžaduje dodatečné zdroje, ale neřeší cíleně identifikované rizikové návyky.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131552" y="3721608"/>
            <a:ext cx="1207008" cy="256032"/>
          </a:xfrm>
          <a:prstGeom prst="roundRect">
            <a:avLst/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32" name="TextBox 31"/>
          <p:cNvSpPr txBox="1"/>
          <p:nvPr/>
        </p:nvSpPr>
        <p:spPr>
          <a:xfrm>
            <a:off x="10177272" y="3753612"/>
            <a:ext cx="1115568" cy="1737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000" b="1" i="0" noProof="0" dirty="0">
                <a:solidFill>
                  <a:srgbClr val="667585"/>
                </a:solidFill>
                <a:latin typeface="Aptos"/>
              </a:rPr>
              <a:t>9/23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2648" y="5513832"/>
            <a:ext cx="10972800" cy="502920"/>
          </a:xfrm>
          <a:prstGeom prst="roundRect">
            <a:avLst/>
          </a:prstGeom>
          <a:solidFill>
            <a:srgbClr val="F6F8FB"/>
          </a:solidFill>
          <a:ln w="889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34" name="TextBox 33"/>
          <p:cNvSpPr txBox="1"/>
          <p:nvPr/>
        </p:nvSpPr>
        <p:spPr>
          <a:xfrm>
            <a:off x="768096" y="5623560"/>
            <a:ext cx="10680192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930" b="0" i="0" noProof="0" dirty="0">
                <a:solidFill>
                  <a:srgbClr val="667585"/>
                </a:solidFill>
                <a:latin typeface="Aptos"/>
              </a:rPr>
              <a:t>* Seskupené odpovědi: průvodce (3) + praktické příklady (2); změna hodnocení (4) + jasnější pravidla (1). Současný přístup preferovalo 9/23.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02920" y="6473952"/>
            <a:ext cx="11183112" cy="0"/>
          </a:xfrm>
          <a:prstGeom prst="line">
            <a:avLst/>
          </a:prstGeom>
          <a:ln w="8890">
            <a:solidFill>
              <a:srgbClr val="DAE2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521207" y="6519672"/>
            <a:ext cx="722376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750" b="0" i="0" noProof="0" dirty="0">
                <a:solidFill>
                  <a:srgbClr val="667585"/>
                </a:solidFill>
                <a:latin typeface="Aptos"/>
              </a:rPr>
              <a:t>TÝM 10  ·  ŘEŠENÍ PROBLÉMŮ  ·  FIS VŠE  ·  OBSAH 6/10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06640" y="6510528"/>
            <a:ext cx="4251960" cy="1737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720" b="0" i="0" noProof="0" dirty="0">
                <a:solidFill>
                  <a:srgbClr val="667585"/>
                </a:solidFill>
                <a:latin typeface="Aptos"/>
              </a:rPr>
              <a:t>Zdroj preferencí: Team 10 </a:t>
            </a:r>
            <a:r>
              <a:rPr lang="cs-CZ" sz="720" b="0" i="0" noProof="0" dirty="0" err="1">
                <a:solidFill>
                  <a:srgbClr val="667585"/>
                </a:solidFill>
                <a:latin typeface="Aptos"/>
              </a:rPr>
              <a:t>questionnaire</a:t>
            </a:r>
            <a:r>
              <a:rPr lang="cs-CZ" sz="720" b="0" i="0" noProof="0" dirty="0">
                <a:solidFill>
                  <a:srgbClr val="667585"/>
                </a:solidFill>
                <a:latin typeface="Aptos"/>
              </a:rPr>
              <a:t> [1].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02920" y="246888"/>
            <a:ext cx="1024128" cy="256032"/>
          </a:xfrm>
          <a:prstGeom prst="roundRect">
            <a:avLst/>
          </a:prstGeom>
          <a:solidFill>
            <a:srgbClr val="EFF5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3" name="TextBox 2"/>
          <p:cNvSpPr txBox="1"/>
          <p:nvPr/>
        </p:nvSpPr>
        <p:spPr>
          <a:xfrm>
            <a:off x="548640" y="278892"/>
            <a:ext cx="932688" cy="1737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900" b="1" i="0" noProof="0" dirty="0">
                <a:solidFill>
                  <a:srgbClr val="3669BE"/>
                </a:solidFill>
                <a:latin typeface="Aptos"/>
              </a:rPr>
              <a:t>EXPLORE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94360"/>
            <a:ext cx="1106424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2600" b="1" i="0" noProof="0" dirty="0">
                <a:solidFill>
                  <a:srgbClr val="132A43"/>
                </a:solidFill>
                <a:latin typeface="Aptos Display"/>
              </a:rPr>
              <a:t>Výhody, nevýhody a potřebné zdroje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088136"/>
            <a:ext cx="110185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150" b="0" i="0" noProof="0" dirty="0">
                <a:solidFill>
                  <a:srgbClr val="667585"/>
                </a:solidFill>
                <a:latin typeface="Aptos"/>
              </a:rPr>
              <a:t>Porovnání ukazuje kompromisy; výhody a nevýhody nebyly empiricky ověřeny na FIS.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1426464"/>
            <a:ext cx="11183112" cy="0"/>
          </a:xfrm>
          <a:prstGeom prst="line">
            <a:avLst/>
          </a:prstGeom>
          <a:ln w="11430">
            <a:solidFill>
              <a:srgbClr val="DAE2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1402568" y="265176"/>
            <a:ext cx="118872" cy="118872"/>
          </a:xfrm>
          <a:prstGeom prst="ellipse">
            <a:avLst/>
          </a:prstGeom>
          <a:solidFill>
            <a:srgbClr val="1F8E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8" name="Oval 7"/>
          <p:cNvSpPr/>
          <p:nvPr/>
        </p:nvSpPr>
        <p:spPr>
          <a:xfrm>
            <a:off x="11548872" y="265176"/>
            <a:ext cx="118872" cy="118872"/>
          </a:xfrm>
          <a:prstGeom prst="ellipse">
            <a:avLst/>
          </a:prstGeom>
          <a:solidFill>
            <a:srgbClr val="3669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9" name="Rectangle 8"/>
          <p:cNvSpPr/>
          <p:nvPr/>
        </p:nvSpPr>
        <p:spPr>
          <a:xfrm>
            <a:off x="566928" y="1700784"/>
            <a:ext cx="2057400" cy="438912"/>
          </a:xfrm>
          <a:prstGeom prst="rect">
            <a:avLst/>
          </a:prstGeom>
          <a:solidFill>
            <a:srgbClr val="3669BE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10" name="TextBox 9"/>
          <p:cNvSpPr txBox="1"/>
          <p:nvPr/>
        </p:nvSpPr>
        <p:spPr>
          <a:xfrm>
            <a:off x="649224" y="1810512"/>
            <a:ext cx="1892807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019" b="1" i="0" noProof="0" dirty="0">
                <a:solidFill>
                  <a:srgbClr val="FFFFFF"/>
                </a:solidFill>
                <a:latin typeface="Aptos"/>
              </a:rPr>
              <a:t>VARIANTA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24328" y="1700784"/>
            <a:ext cx="2944368" cy="438912"/>
          </a:xfrm>
          <a:prstGeom prst="rect">
            <a:avLst/>
          </a:prstGeom>
          <a:solidFill>
            <a:srgbClr val="3669BE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12" name="TextBox 11"/>
          <p:cNvSpPr txBox="1"/>
          <p:nvPr/>
        </p:nvSpPr>
        <p:spPr>
          <a:xfrm>
            <a:off x="2706624" y="1810512"/>
            <a:ext cx="2779776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019" b="1" i="0" noProof="0" dirty="0">
                <a:solidFill>
                  <a:srgbClr val="FFFFFF"/>
                </a:solidFill>
                <a:latin typeface="Aptos"/>
              </a:rPr>
              <a:t>VÝHODY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568696" y="1700784"/>
            <a:ext cx="2944368" cy="438912"/>
          </a:xfrm>
          <a:prstGeom prst="rect">
            <a:avLst/>
          </a:prstGeom>
          <a:solidFill>
            <a:srgbClr val="3669BE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14" name="TextBox 13"/>
          <p:cNvSpPr txBox="1"/>
          <p:nvPr/>
        </p:nvSpPr>
        <p:spPr>
          <a:xfrm>
            <a:off x="5650992" y="1810512"/>
            <a:ext cx="2779776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019" b="1" i="0" noProof="0" dirty="0">
                <a:solidFill>
                  <a:srgbClr val="FFFFFF"/>
                </a:solidFill>
                <a:latin typeface="Aptos"/>
              </a:rPr>
              <a:t>OMEZENÍ / NEVÝHODY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513064" y="1700784"/>
            <a:ext cx="2944368" cy="438912"/>
          </a:xfrm>
          <a:prstGeom prst="rect">
            <a:avLst/>
          </a:prstGeom>
          <a:solidFill>
            <a:srgbClr val="3669BE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16" name="TextBox 15"/>
          <p:cNvSpPr txBox="1"/>
          <p:nvPr/>
        </p:nvSpPr>
        <p:spPr>
          <a:xfrm>
            <a:off x="8595360" y="1810512"/>
            <a:ext cx="2779776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019" b="1" i="0" noProof="0" dirty="0">
                <a:solidFill>
                  <a:srgbClr val="FFFFFF"/>
                </a:solidFill>
                <a:latin typeface="Aptos"/>
              </a:rPr>
              <a:t>HLAVNÍ ZDROJE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2139696"/>
            <a:ext cx="2057400" cy="914400"/>
          </a:xfrm>
          <a:prstGeom prst="rect">
            <a:avLst/>
          </a:prstGeom>
          <a:solidFill>
            <a:srgbClr val="F6F8FB"/>
          </a:solidFill>
          <a:ln w="889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18" name="TextBox 17"/>
          <p:cNvSpPr txBox="1"/>
          <p:nvPr/>
        </p:nvSpPr>
        <p:spPr>
          <a:xfrm>
            <a:off x="667512" y="2231136"/>
            <a:ext cx="1856231" cy="7589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080" b="1" i="0" noProof="0" dirty="0">
                <a:solidFill>
                  <a:srgbClr val="132A43"/>
                </a:solidFill>
                <a:latin typeface="Aptos"/>
              </a:rPr>
              <a:t>Studijní průvodce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624328" y="2139696"/>
            <a:ext cx="2944368" cy="914400"/>
          </a:xfrm>
          <a:prstGeom prst="rect">
            <a:avLst/>
          </a:prstGeom>
          <a:solidFill>
            <a:srgbClr val="F6F8FB"/>
          </a:solidFill>
          <a:ln w="889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20" name="TextBox 19"/>
          <p:cNvSpPr txBox="1"/>
          <p:nvPr/>
        </p:nvSpPr>
        <p:spPr>
          <a:xfrm>
            <a:off x="2724912" y="2231136"/>
            <a:ext cx="2743200" cy="7589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040" b="0" i="0" noProof="0" dirty="0">
                <a:solidFill>
                  <a:srgbClr val="283442"/>
                </a:solidFill>
                <a:latin typeface="Aptos"/>
              </a:rPr>
              <a:t>Levný, dostupný kdykoli, snadno </a:t>
            </a:r>
            <a:r>
              <a:rPr lang="cs-CZ" sz="1040" b="0" i="0" noProof="0" dirty="0" err="1">
                <a:solidFill>
                  <a:srgbClr val="283442"/>
                </a:solidFill>
                <a:latin typeface="Aptos"/>
              </a:rPr>
              <a:t>aktualizovatelný</a:t>
            </a:r>
            <a:r>
              <a:rPr lang="cs-CZ" sz="1040" b="0" i="0" noProof="0" dirty="0">
                <a:solidFill>
                  <a:srgbClr val="283442"/>
                </a:solidFill>
                <a:latin typeface="Aptos"/>
              </a:rPr>
              <a:t>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568696" y="2139696"/>
            <a:ext cx="2944368" cy="914400"/>
          </a:xfrm>
          <a:prstGeom prst="rect">
            <a:avLst/>
          </a:prstGeom>
          <a:solidFill>
            <a:srgbClr val="F6F8FB"/>
          </a:solidFill>
          <a:ln w="889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22" name="TextBox 21"/>
          <p:cNvSpPr txBox="1"/>
          <p:nvPr/>
        </p:nvSpPr>
        <p:spPr>
          <a:xfrm>
            <a:off x="5669280" y="2231136"/>
            <a:ext cx="2743200" cy="7589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040" b="0" i="0" noProof="0" dirty="0">
                <a:solidFill>
                  <a:srgbClr val="283442"/>
                </a:solidFill>
                <a:latin typeface="Aptos"/>
              </a:rPr>
              <a:t>Přečtení nezaručí změnu návyku; student jej může ignorovat.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513064" y="2139696"/>
            <a:ext cx="2944368" cy="914400"/>
          </a:xfrm>
          <a:prstGeom prst="rect">
            <a:avLst/>
          </a:prstGeom>
          <a:solidFill>
            <a:srgbClr val="F6F8FB"/>
          </a:solidFill>
          <a:ln w="889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24" name="TextBox 23"/>
          <p:cNvSpPr txBox="1"/>
          <p:nvPr/>
        </p:nvSpPr>
        <p:spPr>
          <a:xfrm>
            <a:off x="8613648" y="2231136"/>
            <a:ext cx="2743200" cy="7589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040" b="0" i="0" noProof="0" dirty="0">
                <a:solidFill>
                  <a:srgbClr val="283442"/>
                </a:solidFill>
                <a:latin typeface="Aptos"/>
              </a:rPr>
              <a:t>Příprava obsahu, revize a digitální distribuce.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3054096"/>
            <a:ext cx="2057400" cy="914400"/>
          </a:xfrm>
          <a:prstGeom prst="rect">
            <a:avLst/>
          </a:prstGeom>
          <a:solidFill>
            <a:srgbClr val="FFFFFF"/>
          </a:solidFill>
          <a:ln w="889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26" name="TextBox 25"/>
          <p:cNvSpPr txBox="1"/>
          <p:nvPr/>
        </p:nvSpPr>
        <p:spPr>
          <a:xfrm>
            <a:off x="667512" y="3145536"/>
            <a:ext cx="1856231" cy="7589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080" b="1" i="0" noProof="0" dirty="0">
                <a:solidFill>
                  <a:srgbClr val="132A43"/>
                </a:solidFill>
                <a:latin typeface="Aptos"/>
              </a:rPr>
              <a:t>Praktický workshop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624328" y="3054096"/>
            <a:ext cx="2944368" cy="914400"/>
          </a:xfrm>
          <a:prstGeom prst="rect">
            <a:avLst/>
          </a:prstGeom>
          <a:solidFill>
            <a:srgbClr val="FFFFFF"/>
          </a:solidFill>
          <a:ln w="889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28" name="TextBox 27"/>
          <p:cNvSpPr txBox="1"/>
          <p:nvPr/>
        </p:nvSpPr>
        <p:spPr>
          <a:xfrm>
            <a:off x="2724912" y="3145536"/>
            <a:ext cx="2743200" cy="7589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040" b="0" i="0" noProof="0" dirty="0">
                <a:solidFill>
                  <a:srgbClr val="283442"/>
                </a:solidFill>
                <a:latin typeface="Aptos"/>
              </a:rPr>
              <a:t>Procvičení na reálné úloze; prostor pro otázky a opravu chyb.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568696" y="3054096"/>
            <a:ext cx="2944368" cy="914400"/>
          </a:xfrm>
          <a:prstGeom prst="rect">
            <a:avLst/>
          </a:prstGeom>
          <a:solidFill>
            <a:srgbClr val="FFFFFF"/>
          </a:solidFill>
          <a:ln w="889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30" name="TextBox 29"/>
          <p:cNvSpPr txBox="1"/>
          <p:nvPr/>
        </p:nvSpPr>
        <p:spPr>
          <a:xfrm>
            <a:off x="5669280" y="3145536"/>
            <a:ext cx="2743200" cy="7589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040" b="0" i="0" noProof="0" dirty="0">
                <a:solidFill>
                  <a:srgbClr val="283442"/>
                </a:solidFill>
                <a:latin typeface="Aptos"/>
              </a:rPr>
              <a:t>Vyžaduje účast, přípravu a vhodný čas.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513064" y="3054096"/>
            <a:ext cx="2944368" cy="914400"/>
          </a:xfrm>
          <a:prstGeom prst="rect">
            <a:avLst/>
          </a:prstGeom>
          <a:solidFill>
            <a:srgbClr val="FFFFFF"/>
          </a:solidFill>
          <a:ln w="889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32" name="TextBox 31"/>
          <p:cNvSpPr txBox="1"/>
          <p:nvPr/>
        </p:nvSpPr>
        <p:spPr>
          <a:xfrm>
            <a:off x="8613648" y="3145536"/>
            <a:ext cx="2743200" cy="7589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040" b="0" i="0" noProof="0" dirty="0">
                <a:solidFill>
                  <a:srgbClr val="283442"/>
                </a:solidFill>
                <a:latin typeface="Aptos"/>
              </a:rPr>
              <a:t>Přednášející, úloha, AI nástroj, místnost a zpětná vazba.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66928" y="3968496"/>
            <a:ext cx="2057400" cy="914400"/>
          </a:xfrm>
          <a:prstGeom prst="rect">
            <a:avLst/>
          </a:prstGeom>
          <a:solidFill>
            <a:srgbClr val="F6F8FB"/>
          </a:solidFill>
          <a:ln w="889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34" name="TextBox 33"/>
          <p:cNvSpPr txBox="1"/>
          <p:nvPr/>
        </p:nvSpPr>
        <p:spPr>
          <a:xfrm>
            <a:off x="667512" y="4059935"/>
            <a:ext cx="1856231" cy="7589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080" b="1" i="0" noProof="0" dirty="0">
                <a:solidFill>
                  <a:srgbClr val="132A43"/>
                </a:solidFill>
                <a:latin typeface="Aptos"/>
              </a:rPr>
              <a:t>Změna hodnocení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624328" y="3968496"/>
            <a:ext cx="2944368" cy="914400"/>
          </a:xfrm>
          <a:prstGeom prst="rect">
            <a:avLst/>
          </a:prstGeom>
          <a:solidFill>
            <a:srgbClr val="F6F8FB"/>
          </a:solidFill>
          <a:ln w="889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36" name="TextBox 35"/>
          <p:cNvSpPr txBox="1"/>
          <p:nvPr/>
        </p:nvSpPr>
        <p:spPr>
          <a:xfrm>
            <a:off x="2724912" y="4059935"/>
            <a:ext cx="2743200" cy="7589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040" b="0" i="0" noProof="0" dirty="0">
                <a:solidFill>
                  <a:srgbClr val="283442"/>
                </a:solidFill>
                <a:latin typeface="Aptos"/>
              </a:rPr>
              <a:t>Přímo ověřuje porozumění a podporuje samostatnost.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568696" y="3968496"/>
            <a:ext cx="2944368" cy="914400"/>
          </a:xfrm>
          <a:prstGeom prst="rect">
            <a:avLst/>
          </a:prstGeom>
          <a:solidFill>
            <a:srgbClr val="F6F8FB"/>
          </a:solidFill>
          <a:ln w="889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38" name="TextBox 37"/>
          <p:cNvSpPr txBox="1"/>
          <p:nvPr/>
        </p:nvSpPr>
        <p:spPr>
          <a:xfrm>
            <a:off x="5669280" y="4059935"/>
            <a:ext cx="2743200" cy="7589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040" b="0" i="0" noProof="0" dirty="0">
                <a:solidFill>
                  <a:srgbClr val="283442"/>
                </a:solidFill>
                <a:latin typeface="Aptos"/>
              </a:rPr>
              <a:t>Vyžaduje spolupráci vyučujících a změnu úloh.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513064" y="3968496"/>
            <a:ext cx="2944368" cy="914400"/>
          </a:xfrm>
          <a:prstGeom prst="rect">
            <a:avLst/>
          </a:prstGeom>
          <a:solidFill>
            <a:srgbClr val="F6F8FB"/>
          </a:solidFill>
          <a:ln w="889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40" name="TextBox 39"/>
          <p:cNvSpPr txBox="1"/>
          <p:nvPr/>
        </p:nvSpPr>
        <p:spPr>
          <a:xfrm>
            <a:off x="8613648" y="4059935"/>
            <a:ext cx="2743200" cy="7589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040" b="0" i="0" noProof="0" dirty="0">
                <a:solidFill>
                  <a:srgbClr val="283442"/>
                </a:solidFill>
                <a:latin typeface="Aptos"/>
              </a:rPr>
              <a:t>Učitelé, návrh hodnocení a pilotní předmět.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66928" y="4882896"/>
            <a:ext cx="2057400" cy="795528"/>
          </a:xfrm>
          <a:prstGeom prst="rect">
            <a:avLst/>
          </a:prstGeom>
          <a:solidFill>
            <a:srgbClr val="FFFFFF"/>
          </a:solidFill>
          <a:ln w="889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42" name="TextBox 41"/>
          <p:cNvSpPr txBox="1"/>
          <p:nvPr/>
        </p:nvSpPr>
        <p:spPr>
          <a:xfrm>
            <a:off x="667512" y="4974336"/>
            <a:ext cx="185623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080" b="1" i="0" noProof="0" dirty="0">
                <a:solidFill>
                  <a:srgbClr val="132A43"/>
                </a:solidFill>
                <a:latin typeface="Aptos"/>
              </a:rPr>
              <a:t>Současný přístup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624328" y="4882896"/>
            <a:ext cx="2944368" cy="795528"/>
          </a:xfrm>
          <a:prstGeom prst="rect">
            <a:avLst/>
          </a:prstGeom>
          <a:solidFill>
            <a:srgbClr val="FFFFFF"/>
          </a:solidFill>
          <a:ln w="889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44" name="TextBox 43"/>
          <p:cNvSpPr txBox="1"/>
          <p:nvPr/>
        </p:nvSpPr>
        <p:spPr>
          <a:xfrm>
            <a:off x="2724912" y="4974336"/>
            <a:ext cx="27432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040" b="0" i="0" noProof="0" dirty="0">
                <a:solidFill>
                  <a:srgbClr val="283442"/>
                </a:solidFill>
                <a:latin typeface="Aptos"/>
              </a:rPr>
              <a:t>Žádné dodatečné náklady ani organizační změny.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568696" y="4882896"/>
            <a:ext cx="2944368" cy="795528"/>
          </a:xfrm>
          <a:prstGeom prst="rect">
            <a:avLst/>
          </a:prstGeom>
          <a:solidFill>
            <a:srgbClr val="FFFFFF"/>
          </a:solidFill>
          <a:ln w="889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46" name="TextBox 45"/>
          <p:cNvSpPr txBox="1"/>
          <p:nvPr/>
        </p:nvSpPr>
        <p:spPr>
          <a:xfrm>
            <a:off x="5669280" y="4974336"/>
            <a:ext cx="27432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040" b="0" i="0" noProof="0" dirty="0">
                <a:solidFill>
                  <a:srgbClr val="283442"/>
                </a:solidFill>
                <a:latin typeface="Aptos"/>
              </a:rPr>
              <a:t>Žádný cílený zásah do rizikových návyků.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513064" y="4882896"/>
            <a:ext cx="2944368" cy="795528"/>
          </a:xfrm>
          <a:prstGeom prst="rect">
            <a:avLst/>
          </a:prstGeom>
          <a:solidFill>
            <a:srgbClr val="FFFFFF"/>
          </a:solidFill>
          <a:ln w="889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48" name="TextBox 47"/>
          <p:cNvSpPr txBox="1"/>
          <p:nvPr/>
        </p:nvSpPr>
        <p:spPr>
          <a:xfrm>
            <a:off x="8613648" y="4974336"/>
            <a:ext cx="27432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040" b="0" i="0" noProof="0" dirty="0">
                <a:solidFill>
                  <a:srgbClr val="283442"/>
                </a:solidFill>
                <a:latin typeface="Aptos"/>
              </a:rPr>
              <a:t>Bez dalších zdrojů.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21792" y="6062472"/>
            <a:ext cx="109728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880" b="0" i="0" noProof="0" dirty="0">
                <a:solidFill>
                  <a:srgbClr val="667585"/>
                </a:solidFill>
                <a:latin typeface="Aptos"/>
              </a:rPr>
              <a:t>Principy </a:t>
            </a:r>
            <a:r>
              <a:rPr lang="cs-CZ" sz="880" b="0" i="0" noProof="0" dirty="0" err="1">
                <a:solidFill>
                  <a:srgbClr val="667585"/>
                </a:solidFill>
                <a:latin typeface="Aptos"/>
              </a:rPr>
              <a:t>guided</a:t>
            </a:r>
            <a:r>
              <a:rPr lang="cs-CZ" sz="880" b="0" i="0" noProof="0" dirty="0">
                <a:solidFill>
                  <a:srgbClr val="667585"/>
                </a:solidFill>
                <a:latin typeface="Aptos"/>
              </a:rPr>
              <a:t> AI learning a nápověd místo hotových řešení podporují </a:t>
            </a:r>
            <a:r>
              <a:rPr lang="cs-CZ" sz="880" b="0" i="0" noProof="0" dirty="0" err="1">
                <a:solidFill>
                  <a:srgbClr val="667585"/>
                </a:solidFill>
                <a:latin typeface="Aptos"/>
              </a:rPr>
              <a:t>Bastani</a:t>
            </a:r>
            <a:r>
              <a:rPr lang="cs-CZ" sz="880" b="0" i="0" noProof="0" dirty="0">
                <a:solidFill>
                  <a:srgbClr val="667585"/>
                </a:solidFill>
                <a:latin typeface="Aptos"/>
              </a:rPr>
              <a:t> et al. (2025) a </a:t>
            </a:r>
            <a:r>
              <a:rPr lang="cs-CZ" sz="880" b="0" i="0" noProof="0" dirty="0" err="1">
                <a:solidFill>
                  <a:srgbClr val="667585"/>
                </a:solidFill>
                <a:latin typeface="Aptos"/>
              </a:rPr>
              <a:t>Pardos</a:t>
            </a:r>
            <a:r>
              <a:rPr lang="cs-CZ" sz="880" b="0" i="0" noProof="0" dirty="0">
                <a:solidFill>
                  <a:srgbClr val="667585"/>
                </a:solidFill>
                <a:latin typeface="Aptos"/>
              </a:rPr>
              <a:t> &amp; </a:t>
            </a:r>
            <a:r>
              <a:rPr lang="cs-CZ" sz="880" b="0" i="0" noProof="0" dirty="0" err="1">
                <a:solidFill>
                  <a:srgbClr val="667585"/>
                </a:solidFill>
                <a:latin typeface="Aptos"/>
              </a:rPr>
              <a:t>Bhandari</a:t>
            </a:r>
            <a:r>
              <a:rPr lang="cs-CZ" sz="880" b="0" i="0" noProof="0" dirty="0">
                <a:solidFill>
                  <a:srgbClr val="667585"/>
                </a:solidFill>
                <a:latin typeface="Aptos"/>
              </a:rPr>
              <a:t> (2024) [2, 3].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502920" y="6473952"/>
            <a:ext cx="11183112" cy="0"/>
          </a:xfrm>
          <a:prstGeom prst="line">
            <a:avLst/>
          </a:prstGeom>
          <a:ln w="8890">
            <a:solidFill>
              <a:srgbClr val="DAE2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521207" y="6519672"/>
            <a:ext cx="722376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750" b="0" i="0" noProof="0" dirty="0">
                <a:solidFill>
                  <a:srgbClr val="667585"/>
                </a:solidFill>
                <a:latin typeface="Aptos"/>
              </a:rPr>
              <a:t>TÝM 10  ·  ŘEŠENÍ PROBLÉMŮ  ·  FIS VŠE  ·  OBSAH 7/10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406640" y="6510528"/>
            <a:ext cx="4251960" cy="1737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720" b="0" i="0" noProof="0" dirty="0" err="1">
                <a:solidFill>
                  <a:srgbClr val="667585"/>
                </a:solidFill>
                <a:latin typeface="Aptos"/>
              </a:rPr>
              <a:t>Trade-offs</a:t>
            </a:r>
            <a:r>
              <a:rPr lang="cs-CZ" sz="720" b="0" i="0" noProof="0" dirty="0">
                <a:solidFill>
                  <a:srgbClr val="667585"/>
                </a:solidFill>
                <a:latin typeface="Aptos"/>
              </a:rPr>
              <a:t> jsou týmové hodnocení, ne výsledky měření na FIS.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02920" y="246888"/>
            <a:ext cx="1024128" cy="256032"/>
          </a:xfrm>
          <a:prstGeom prst="roundRect">
            <a:avLst/>
          </a:prstGeom>
          <a:solidFill>
            <a:srgbClr val="EFF5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3" name="TextBox 2"/>
          <p:cNvSpPr txBox="1"/>
          <p:nvPr/>
        </p:nvSpPr>
        <p:spPr>
          <a:xfrm>
            <a:off x="548640" y="278892"/>
            <a:ext cx="932688" cy="1737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900" b="1" i="0" noProof="0" dirty="0">
                <a:solidFill>
                  <a:srgbClr val="3669BE"/>
                </a:solidFill>
                <a:latin typeface="Aptos"/>
              </a:rPr>
              <a:t>RIZIKA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94360"/>
            <a:ext cx="1106424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2600" b="1" i="0" noProof="0" dirty="0">
                <a:solidFill>
                  <a:srgbClr val="132A43"/>
                </a:solidFill>
                <a:latin typeface="Aptos Display"/>
              </a:rPr>
              <a:t>Riziková matice: které varianty nesou největší riziko?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088136"/>
            <a:ext cx="110185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150" b="0" i="0" noProof="0" dirty="0">
                <a:solidFill>
                  <a:srgbClr val="667585"/>
                </a:solidFill>
                <a:latin typeface="Aptos"/>
              </a:rPr>
              <a:t>P = pravděpodobnost · D = dopad · skóre = P × D · obě hodnoty jsou týmové odhady na stupnici 1–5.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1426464"/>
            <a:ext cx="11183112" cy="0"/>
          </a:xfrm>
          <a:prstGeom prst="line">
            <a:avLst/>
          </a:prstGeom>
          <a:ln w="11430">
            <a:solidFill>
              <a:srgbClr val="DAE2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1402568" y="265176"/>
            <a:ext cx="118872" cy="118872"/>
          </a:xfrm>
          <a:prstGeom prst="ellipse">
            <a:avLst/>
          </a:prstGeom>
          <a:solidFill>
            <a:srgbClr val="1F8E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8" name="Oval 7"/>
          <p:cNvSpPr/>
          <p:nvPr/>
        </p:nvSpPr>
        <p:spPr>
          <a:xfrm>
            <a:off x="11548872" y="265176"/>
            <a:ext cx="118872" cy="118872"/>
          </a:xfrm>
          <a:prstGeom prst="ellipse">
            <a:avLst/>
          </a:prstGeom>
          <a:solidFill>
            <a:srgbClr val="3669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9" name="TextBox 8"/>
          <p:cNvSpPr txBox="1"/>
          <p:nvPr/>
        </p:nvSpPr>
        <p:spPr>
          <a:xfrm>
            <a:off x="566928" y="1554480"/>
            <a:ext cx="35204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200" b="1" i="0" noProof="0" dirty="0">
                <a:solidFill>
                  <a:srgbClr val="3669BE"/>
                </a:solidFill>
                <a:latin typeface="Aptos"/>
              </a:rPr>
              <a:t>MATICE 5 × 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1737360"/>
            <a:ext cx="48463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900" b="1" i="0" noProof="0" dirty="0">
                <a:solidFill>
                  <a:srgbClr val="667585"/>
                </a:solidFill>
                <a:latin typeface="Apto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1737360"/>
            <a:ext cx="48463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900" b="1" i="0" noProof="0" dirty="0">
                <a:solidFill>
                  <a:srgbClr val="667585"/>
                </a:solidFill>
                <a:latin typeface="Apto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93392" y="1737360"/>
            <a:ext cx="48463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900" b="1" i="0" noProof="0" dirty="0">
                <a:solidFill>
                  <a:srgbClr val="667585"/>
                </a:solidFill>
                <a:latin typeface="Aptos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78024" y="1737360"/>
            <a:ext cx="48463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900" b="1" i="0" noProof="0" dirty="0">
                <a:solidFill>
                  <a:srgbClr val="667585"/>
                </a:solidFill>
                <a:latin typeface="Aptos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62656" y="1737360"/>
            <a:ext cx="48463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900" b="1" i="0" noProof="0" dirty="0">
                <a:solidFill>
                  <a:srgbClr val="667585"/>
                </a:solidFill>
                <a:latin typeface="Aptos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2130552"/>
            <a:ext cx="2743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900" b="1" i="0" noProof="0" dirty="0">
                <a:solidFill>
                  <a:srgbClr val="667585"/>
                </a:solidFill>
                <a:latin typeface="Aptos"/>
              </a:rPr>
              <a:t>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1993392"/>
            <a:ext cx="461772" cy="461772"/>
          </a:xfrm>
          <a:prstGeom prst="rect">
            <a:avLst/>
          </a:prstGeom>
          <a:solidFill>
            <a:srgbClr val="FCF6EB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18" name="TextBox 17"/>
          <p:cNvSpPr txBox="1"/>
          <p:nvPr/>
        </p:nvSpPr>
        <p:spPr>
          <a:xfrm>
            <a:off x="1037844" y="2029968"/>
            <a:ext cx="434340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900" b="1" i="0" noProof="0" dirty="0">
                <a:solidFill>
                  <a:srgbClr val="D08D32"/>
                </a:solidFill>
                <a:latin typeface="Aptos"/>
              </a:rPr>
              <a:t>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508760" y="1993392"/>
            <a:ext cx="461772" cy="461772"/>
          </a:xfrm>
          <a:prstGeom prst="rect">
            <a:avLst/>
          </a:prstGeom>
          <a:solidFill>
            <a:srgbClr val="FAE1C6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20" name="TextBox 19"/>
          <p:cNvSpPr txBox="1"/>
          <p:nvPr/>
        </p:nvSpPr>
        <p:spPr>
          <a:xfrm>
            <a:off x="1522476" y="2029968"/>
            <a:ext cx="434340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900" b="1" i="0" noProof="0" dirty="0">
                <a:solidFill>
                  <a:srgbClr val="995716"/>
                </a:solidFill>
                <a:latin typeface="Aptos"/>
              </a:rPr>
              <a:t>10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993392" y="1993392"/>
            <a:ext cx="461772" cy="461772"/>
          </a:xfrm>
          <a:prstGeom prst="rect">
            <a:avLst/>
          </a:prstGeom>
          <a:solidFill>
            <a:srgbClr val="FAE1C6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22" name="TextBox 21"/>
          <p:cNvSpPr txBox="1"/>
          <p:nvPr/>
        </p:nvSpPr>
        <p:spPr>
          <a:xfrm>
            <a:off x="2007108" y="2029968"/>
            <a:ext cx="434340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900" b="1" i="0" noProof="0" dirty="0">
                <a:solidFill>
                  <a:srgbClr val="995716"/>
                </a:solidFill>
                <a:latin typeface="Aptos"/>
              </a:rPr>
              <a:t>15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478024" y="1993392"/>
            <a:ext cx="461772" cy="461772"/>
          </a:xfrm>
          <a:prstGeom prst="rect">
            <a:avLst/>
          </a:prstGeom>
          <a:solidFill>
            <a:srgbClr val="FCF1F0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24" name="TextBox 23"/>
          <p:cNvSpPr txBox="1"/>
          <p:nvPr/>
        </p:nvSpPr>
        <p:spPr>
          <a:xfrm>
            <a:off x="2491740" y="2029968"/>
            <a:ext cx="434340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900" b="1" i="0" noProof="0" dirty="0">
                <a:solidFill>
                  <a:srgbClr val="B84F4F"/>
                </a:solidFill>
                <a:latin typeface="Aptos"/>
              </a:rPr>
              <a:t>20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962656" y="1993392"/>
            <a:ext cx="461772" cy="461772"/>
          </a:xfrm>
          <a:prstGeom prst="rect">
            <a:avLst/>
          </a:prstGeom>
          <a:solidFill>
            <a:srgbClr val="FCF1F0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26" name="TextBox 25"/>
          <p:cNvSpPr txBox="1"/>
          <p:nvPr/>
        </p:nvSpPr>
        <p:spPr>
          <a:xfrm>
            <a:off x="2976372" y="2029968"/>
            <a:ext cx="434340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900" b="1" i="0" noProof="0" dirty="0">
                <a:solidFill>
                  <a:srgbClr val="B84F4F"/>
                </a:solidFill>
                <a:latin typeface="Aptos"/>
              </a:rPr>
              <a:t>25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" y="2615184"/>
            <a:ext cx="2743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900" b="1" i="0" noProof="0" dirty="0">
                <a:solidFill>
                  <a:srgbClr val="667585"/>
                </a:solidFill>
                <a:latin typeface="Aptos"/>
              </a:rPr>
              <a:t>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24128" y="2478024"/>
            <a:ext cx="461772" cy="461772"/>
          </a:xfrm>
          <a:prstGeom prst="rect">
            <a:avLst/>
          </a:prstGeom>
          <a:solidFill>
            <a:srgbClr val="E9F7F5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29" name="TextBox 28"/>
          <p:cNvSpPr txBox="1"/>
          <p:nvPr/>
        </p:nvSpPr>
        <p:spPr>
          <a:xfrm>
            <a:off x="1037844" y="2514600"/>
            <a:ext cx="434340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900" b="1" i="0" noProof="0" dirty="0">
                <a:solidFill>
                  <a:srgbClr val="1F8E89"/>
                </a:solidFill>
                <a:latin typeface="Aptos"/>
              </a:rPr>
              <a:t>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508760" y="2478024"/>
            <a:ext cx="461772" cy="461772"/>
          </a:xfrm>
          <a:prstGeom prst="rect">
            <a:avLst/>
          </a:prstGeom>
          <a:solidFill>
            <a:srgbClr val="FCF6EB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31" name="TextBox 30"/>
          <p:cNvSpPr txBox="1"/>
          <p:nvPr/>
        </p:nvSpPr>
        <p:spPr>
          <a:xfrm>
            <a:off x="1522476" y="2514600"/>
            <a:ext cx="434340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900" b="1" i="0" noProof="0" dirty="0">
                <a:solidFill>
                  <a:srgbClr val="D08D32"/>
                </a:solidFill>
                <a:latin typeface="Aptos"/>
              </a:rPr>
              <a:t>8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993392" y="2478024"/>
            <a:ext cx="461772" cy="461772"/>
          </a:xfrm>
          <a:prstGeom prst="rect">
            <a:avLst/>
          </a:prstGeom>
          <a:solidFill>
            <a:srgbClr val="FAE1C6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33" name="TextBox 32"/>
          <p:cNvSpPr txBox="1"/>
          <p:nvPr/>
        </p:nvSpPr>
        <p:spPr>
          <a:xfrm>
            <a:off x="2007108" y="2514600"/>
            <a:ext cx="434340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900" b="1" i="0" noProof="0" dirty="0">
                <a:solidFill>
                  <a:srgbClr val="995716"/>
                </a:solidFill>
                <a:latin typeface="Aptos"/>
              </a:rPr>
              <a:t>12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478024" y="2478024"/>
            <a:ext cx="461772" cy="461772"/>
          </a:xfrm>
          <a:prstGeom prst="rect">
            <a:avLst/>
          </a:prstGeom>
          <a:solidFill>
            <a:srgbClr val="FCF1F0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35" name="TextBox 34"/>
          <p:cNvSpPr txBox="1"/>
          <p:nvPr/>
        </p:nvSpPr>
        <p:spPr>
          <a:xfrm>
            <a:off x="2491740" y="2514600"/>
            <a:ext cx="434340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819" b="1" i="0" noProof="0" dirty="0">
                <a:solidFill>
                  <a:srgbClr val="B84F4F"/>
                </a:solidFill>
                <a:latin typeface="Aptos"/>
              </a:rPr>
              <a:t>C/D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819" b="1" i="0" noProof="0" dirty="0">
                <a:solidFill>
                  <a:srgbClr val="B84F4F"/>
                </a:solidFill>
                <a:latin typeface="Aptos"/>
              </a:rPr>
              <a:t>16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962656" y="2478024"/>
            <a:ext cx="461772" cy="461772"/>
          </a:xfrm>
          <a:prstGeom prst="rect">
            <a:avLst/>
          </a:prstGeom>
          <a:solidFill>
            <a:srgbClr val="FCF1F0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37" name="TextBox 36"/>
          <p:cNvSpPr txBox="1"/>
          <p:nvPr/>
        </p:nvSpPr>
        <p:spPr>
          <a:xfrm>
            <a:off x="2976372" y="2514600"/>
            <a:ext cx="434340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900" b="1" i="0" noProof="0" dirty="0">
                <a:solidFill>
                  <a:srgbClr val="B84F4F"/>
                </a:solidFill>
                <a:latin typeface="Aptos"/>
              </a:rPr>
              <a:t>20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1792" y="3099816"/>
            <a:ext cx="2743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900" b="1" i="0" noProof="0" dirty="0">
                <a:solidFill>
                  <a:srgbClr val="667585"/>
                </a:solidFill>
                <a:latin typeface="Aptos"/>
              </a:rPr>
              <a:t>3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24128" y="2962656"/>
            <a:ext cx="461772" cy="461772"/>
          </a:xfrm>
          <a:prstGeom prst="rect">
            <a:avLst/>
          </a:prstGeom>
          <a:solidFill>
            <a:srgbClr val="E9F7F5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40" name="TextBox 39"/>
          <p:cNvSpPr txBox="1"/>
          <p:nvPr/>
        </p:nvSpPr>
        <p:spPr>
          <a:xfrm>
            <a:off x="1037844" y="2999232"/>
            <a:ext cx="434340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900" b="1" i="0" noProof="0" dirty="0">
                <a:solidFill>
                  <a:srgbClr val="1F8E89"/>
                </a:solidFill>
                <a:latin typeface="Aptos"/>
              </a:rPr>
              <a:t>3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508760" y="2962656"/>
            <a:ext cx="461772" cy="461772"/>
          </a:xfrm>
          <a:prstGeom prst="rect">
            <a:avLst/>
          </a:prstGeom>
          <a:solidFill>
            <a:srgbClr val="FCF6EB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42" name="TextBox 41"/>
          <p:cNvSpPr txBox="1"/>
          <p:nvPr/>
        </p:nvSpPr>
        <p:spPr>
          <a:xfrm>
            <a:off x="1522476" y="2999232"/>
            <a:ext cx="434340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900" b="1" i="0" noProof="0" dirty="0">
                <a:solidFill>
                  <a:srgbClr val="D08D32"/>
                </a:solidFill>
                <a:latin typeface="Aptos"/>
              </a:rPr>
              <a:t>6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993392" y="2962656"/>
            <a:ext cx="461772" cy="461772"/>
          </a:xfrm>
          <a:prstGeom prst="rect">
            <a:avLst/>
          </a:prstGeom>
          <a:solidFill>
            <a:srgbClr val="FCF6EB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44" name="TextBox 43"/>
          <p:cNvSpPr txBox="1"/>
          <p:nvPr/>
        </p:nvSpPr>
        <p:spPr>
          <a:xfrm>
            <a:off x="2007108" y="2999232"/>
            <a:ext cx="434340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819" b="1" i="0" noProof="0" dirty="0">
                <a:solidFill>
                  <a:srgbClr val="D08D32"/>
                </a:solidFill>
                <a:latin typeface="Aptos"/>
              </a:rPr>
              <a:t>B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819" b="1" i="0" noProof="0" dirty="0">
                <a:solidFill>
                  <a:srgbClr val="D08D32"/>
                </a:solidFill>
                <a:latin typeface="Aptos"/>
              </a:rPr>
              <a:t>9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478024" y="2962656"/>
            <a:ext cx="461772" cy="461772"/>
          </a:xfrm>
          <a:prstGeom prst="rect">
            <a:avLst/>
          </a:prstGeom>
          <a:solidFill>
            <a:srgbClr val="FAE1C6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46" name="TextBox 45"/>
          <p:cNvSpPr txBox="1"/>
          <p:nvPr/>
        </p:nvSpPr>
        <p:spPr>
          <a:xfrm>
            <a:off x="2491740" y="2999232"/>
            <a:ext cx="434340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819" b="1" i="0" noProof="0" dirty="0">
                <a:solidFill>
                  <a:srgbClr val="995716"/>
                </a:solidFill>
                <a:latin typeface="Aptos"/>
              </a:rPr>
              <a:t>A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819" b="1" i="0" noProof="0" dirty="0">
                <a:solidFill>
                  <a:srgbClr val="995716"/>
                </a:solidFill>
                <a:latin typeface="Aptos"/>
              </a:rPr>
              <a:t>12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962656" y="2962656"/>
            <a:ext cx="461772" cy="461772"/>
          </a:xfrm>
          <a:prstGeom prst="rect">
            <a:avLst/>
          </a:prstGeom>
          <a:solidFill>
            <a:srgbClr val="FAE1C6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48" name="TextBox 47"/>
          <p:cNvSpPr txBox="1"/>
          <p:nvPr/>
        </p:nvSpPr>
        <p:spPr>
          <a:xfrm>
            <a:off x="2976372" y="2999232"/>
            <a:ext cx="434340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900" b="1" i="0" noProof="0" dirty="0">
                <a:solidFill>
                  <a:srgbClr val="995716"/>
                </a:solidFill>
                <a:latin typeface="Aptos"/>
              </a:rPr>
              <a:t>15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21792" y="3584448"/>
            <a:ext cx="2743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900" b="1" i="0" noProof="0" dirty="0">
                <a:solidFill>
                  <a:srgbClr val="667585"/>
                </a:solidFill>
                <a:latin typeface="Aptos"/>
              </a:rPr>
              <a:t>2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024128" y="3447288"/>
            <a:ext cx="461772" cy="461772"/>
          </a:xfrm>
          <a:prstGeom prst="rect">
            <a:avLst/>
          </a:prstGeom>
          <a:solidFill>
            <a:srgbClr val="E9F7F5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51" name="TextBox 50"/>
          <p:cNvSpPr txBox="1"/>
          <p:nvPr/>
        </p:nvSpPr>
        <p:spPr>
          <a:xfrm>
            <a:off x="1037844" y="3483864"/>
            <a:ext cx="434340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900" b="1" i="0" noProof="0" dirty="0">
                <a:solidFill>
                  <a:srgbClr val="1F8E89"/>
                </a:solidFill>
                <a:latin typeface="Aptos"/>
              </a:rPr>
              <a:t>2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508760" y="3447288"/>
            <a:ext cx="461772" cy="461772"/>
          </a:xfrm>
          <a:prstGeom prst="rect">
            <a:avLst/>
          </a:prstGeom>
          <a:solidFill>
            <a:srgbClr val="E9F7F5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53" name="TextBox 52"/>
          <p:cNvSpPr txBox="1"/>
          <p:nvPr/>
        </p:nvSpPr>
        <p:spPr>
          <a:xfrm>
            <a:off x="1522476" y="3483864"/>
            <a:ext cx="434340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900" b="1" i="0" noProof="0" dirty="0">
                <a:solidFill>
                  <a:srgbClr val="1F8E89"/>
                </a:solidFill>
                <a:latin typeface="Aptos"/>
              </a:rPr>
              <a:t>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993392" y="3447288"/>
            <a:ext cx="461772" cy="461772"/>
          </a:xfrm>
          <a:prstGeom prst="rect">
            <a:avLst/>
          </a:prstGeom>
          <a:solidFill>
            <a:srgbClr val="FCF6EB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55" name="TextBox 54"/>
          <p:cNvSpPr txBox="1"/>
          <p:nvPr/>
        </p:nvSpPr>
        <p:spPr>
          <a:xfrm>
            <a:off x="2007108" y="3483864"/>
            <a:ext cx="434340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900" b="1" i="0" noProof="0" dirty="0">
                <a:solidFill>
                  <a:srgbClr val="D08D32"/>
                </a:solidFill>
                <a:latin typeface="Aptos"/>
              </a:rPr>
              <a:t>6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478024" y="3447288"/>
            <a:ext cx="461772" cy="461772"/>
          </a:xfrm>
          <a:prstGeom prst="rect">
            <a:avLst/>
          </a:prstGeom>
          <a:solidFill>
            <a:srgbClr val="FCF6EB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57" name="TextBox 56"/>
          <p:cNvSpPr txBox="1"/>
          <p:nvPr/>
        </p:nvSpPr>
        <p:spPr>
          <a:xfrm>
            <a:off x="2491740" y="3483864"/>
            <a:ext cx="434340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900" b="1" i="0" noProof="0" dirty="0">
                <a:solidFill>
                  <a:srgbClr val="D08D32"/>
                </a:solidFill>
                <a:latin typeface="Aptos"/>
              </a:rPr>
              <a:t>8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962656" y="3447288"/>
            <a:ext cx="461772" cy="461772"/>
          </a:xfrm>
          <a:prstGeom prst="rect">
            <a:avLst/>
          </a:prstGeom>
          <a:solidFill>
            <a:srgbClr val="FAE1C6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59" name="TextBox 58"/>
          <p:cNvSpPr txBox="1"/>
          <p:nvPr/>
        </p:nvSpPr>
        <p:spPr>
          <a:xfrm>
            <a:off x="2976372" y="3483864"/>
            <a:ext cx="434340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900" b="1" i="0" noProof="0" dirty="0">
                <a:solidFill>
                  <a:srgbClr val="995716"/>
                </a:solidFill>
                <a:latin typeface="Aptos"/>
              </a:rPr>
              <a:t>10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21792" y="4069080"/>
            <a:ext cx="2743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900" b="1" i="0" noProof="0" dirty="0">
                <a:solidFill>
                  <a:srgbClr val="667585"/>
                </a:solidFill>
                <a:latin typeface="Aptos"/>
              </a:rPr>
              <a:t>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024128" y="3931920"/>
            <a:ext cx="461772" cy="461772"/>
          </a:xfrm>
          <a:prstGeom prst="rect">
            <a:avLst/>
          </a:prstGeom>
          <a:solidFill>
            <a:srgbClr val="E9F7F5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62" name="TextBox 61"/>
          <p:cNvSpPr txBox="1"/>
          <p:nvPr/>
        </p:nvSpPr>
        <p:spPr>
          <a:xfrm>
            <a:off x="1037844" y="3968496"/>
            <a:ext cx="434340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900" b="1" i="0" noProof="0" dirty="0">
                <a:solidFill>
                  <a:srgbClr val="1F8E89"/>
                </a:solidFill>
                <a:latin typeface="Aptos"/>
              </a:rPr>
              <a:t>1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508760" y="3931920"/>
            <a:ext cx="461772" cy="461772"/>
          </a:xfrm>
          <a:prstGeom prst="rect">
            <a:avLst/>
          </a:prstGeom>
          <a:solidFill>
            <a:srgbClr val="E9F7F5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64" name="TextBox 63"/>
          <p:cNvSpPr txBox="1"/>
          <p:nvPr/>
        </p:nvSpPr>
        <p:spPr>
          <a:xfrm>
            <a:off x="1522476" y="3968496"/>
            <a:ext cx="434340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900" b="1" i="0" noProof="0" dirty="0">
                <a:solidFill>
                  <a:srgbClr val="1F8E89"/>
                </a:solidFill>
                <a:latin typeface="Aptos"/>
              </a:rPr>
              <a:t>2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993392" y="3931920"/>
            <a:ext cx="461772" cy="461772"/>
          </a:xfrm>
          <a:prstGeom prst="rect">
            <a:avLst/>
          </a:prstGeom>
          <a:solidFill>
            <a:srgbClr val="E9F7F5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66" name="TextBox 65"/>
          <p:cNvSpPr txBox="1"/>
          <p:nvPr/>
        </p:nvSpPr>
        <p:spPr>
          <a:xfrm>
            <a:off x="2007108" y="3968496"/>
            <a:ext cx="434340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900" b="1" i="0" noProof="0" dirty="0">
                <a:solidFill>
                  <a:srgbClr val="1F8E89"/>
                </a:solidFill>
                <a:latin typeface="Aptos"/>
              </a:rPr>
              <a:t>3</a:t>
            </a:r>
          </a:p>
        </p:txBody>
      </p:sp>
      <p:sp>
        <p:nvSpPr>
          <p:cNvPr id="67" name="Rectangle 66"/>
          <p:cNvSpPr/>
          <p:nvPr/>
        </p:nvSpPr>
        <p:spPr>
          <a:xfrm>
            <a:off x="2478024" y="3931920"/>
            <a:ext cx="461772" cy="461772"/>
          </a:xfrm>
          <a:prstGeom prst="rect">
            <a:avLst/>
          </a:prstGeom>
          <a:solidFill>
            <a:srgbClr val="E9F7F5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68" name="TextBox 67"/>
          <p:cNvSpPr txBox="1"/>
          <p:nvPr/>
        </p:nvSpPr>
        <p:spPr>
          <a:xfrm>
            <a:off x="2491740" y="3968496"/>
            <a:ext cx="434340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900" b="1" i="0" noProof="0" dirty="0">
                <a:solidFill>
                  <a:srgbClr val="1F8E89"/>
                </a:solidFill>
                <a:latin typeface="Aptos"/>
              </a:rPr>
              <a:t>4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962656" y="3931920"/>
            <a:ext cx="461772" cy="461772"/>
          </a:xfrm>
          <a:prstGeom prst="rect">
            <a:avLst/>
          </a:prstGeom>
          <a:solidFill>
            <a:srgbClr val="FCF6EB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70" name="TextBox 69"/>
          <p:cNvSpPr txBox="1"/>
          <p:nvPr/>
        </p:nvSpPr>
        <p:spPr>
          <a:xfrm>
            <a:off x="2976372" y="3968496"/>
            <a:ext cx="434340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900" b="1" i="0" noProof="0" dirty="0">
                <a:solidFill>
                  <a:srgbClr val="D08D32"/>
                </a:solidFill>
                <a:latin typeface="Aptos"/>
              </a:rPr>
              <a:t>5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51560" y="4498848"/>
            <a:ext cx="2697480" cy="14003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910" b="1" i="0" noProof="0" dirty="0">
                <a:solidFill>
                  <a:srgbClr val="667585"/>
                </a:solidFill>
                <a:latin typeface="Aptos"/>
              </a:rPr>
              <a:t>P (</a:t>
            </a:r>
            <a:r>
              <a:rPr lang="cs-CZ" sz="910" i="0" noProof="0" dirty="0">
                <a:solidFill>
                  <a:srgbClr val="667585"/>
                </a:solidFill>
                <a:latin typeface="Aptos"/>
              </a:rPr>
              <a:t>pravděpodobnost) </a:t>
            </a:r>
            <a:r>
              <a:rPr lang="cs-CZ" sz="910" b="1" i="0" noProof="0" dirty="0">
                <a:solidFill>
                  <a:srgbClr val="667585"/>
                </a:solidFill>
                <a:latin typeface="Aptos"/>
              </a:rPr>
              <a:t>→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612648" y="4846320"/>
            <a:ext cx="210312" cy="201168"/>
          </a:xfrm>
          <a:prstGeom prst="roundRect">
            <a:avLst/>
          </a:prstGeom>
          <a:solidFill>
            <a:srgbClr val="E9F7F5"/>
          </a:solidFill>
          <a:ln w="635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73" name="TextBox 72"/>
          <p:cNvSpPr txBox="1"/>
          <p:nvPr/>
        </p:nvSpPr>
        <p:spPr>
          <a:xfrm>
            <a:off x="896112" y="4860036"/>
            <a:ext cx="1508760" cy="1737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850" b="1" i="0" noProof="0" dirty="0">
                <a:solidFill>
                  <a:srgbClr val="1F8E89"/>
                </a:solidFill>
                <a:latin typeface="Aptos"/>
              </a:rPr>
              <a:t>1–4  Nízké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2459736" y="4846320"/>
            <a:ext cx="210312" cy="201168"/>
          </a:xfrm>
          <a:prstGeom prst="roundRect">
            <a:avLst/>
          </a:prstGeom>
          <a:solidFill>
            <a:srgbClr val="FCF6EB"/>
          </a:solidFill>
          <a:ln w="635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75" name="TextBox 74"/>
          <p:cNvSpPr txBox="1"/>
          <p:nvPr/>
        </p:nvSpPr>
        <p:spPr>
          <a:xfrm>
            <a:off x="2743200" y="4860036"/>
            <a:ext cx="1508760" cy="1737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850" b="1" i="0" noProof="0" dirty="0">
                <a:solidFill>
                  <a:srgbClr val="D08D32"/>
                </a:solidFill>
                <a:latin typeface="Aptos"/>
              </a:rPr>
              <a:t>5–9  Střední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612648" y="5193792"/>
            <a:ext cx="210312" cy="201168"/>
          </a:xfrm>
          <a:prstGeom prst="roundRect">
            <a:avLst/>
          </a:prstGeom>
          <a:solidFill>
            <a:srgbClr val="FAE1C6"/>
          </a:solidFill>
          <a:ln w="635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77" name="TextBox 76"/>
          <p:cNvSpPr txBox="1"/>
          <p:nvPr/>
        </p:nvSpPr>
        <p:spPr>
          <a:xfrm>
            <a:off x="896112" y="5207507"/>
            <a:ext cx="1508760" cy="1737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850" b="1" i="0" noProof="0" dirty="0">
                <a:solidFill>
                  <a:srgbClr val="995716"/>
                </a:solidFill>
                <a:latin typeface="Aptos"/>
              </a:rPr>
              <a:t>10–15  Vysoké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2459736" y="5193792"/>
            <a:ext cx="210312" cy="201168"/>
          </a:xfrm>
          <a:prstGeom prst="roundRect">
            <a:avLst/>
          </a:prstGeom>
          <a:solidFill>
            <a:srgbClr val="FCF1F0"/>
          </a:solidFill>
          <a:ln w="635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79" name="TextBox 78"/>
          <p:cNvSpPr txBox="1"/>
          <p:nvPr/>
        </p:nvSpPr>
        <p:spPr>
          <a:xfrm>
            <a:off x="2743200" y="5207507"/>
            <a:ext cx="1508760" cy="1737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850" b="1" i="0" noProof="0" dirty="0">
                <a:solidFill>
                  <a:srgbClr val="B84F4F"/>
                </a:solidFill>
                <a:latin typeface="Aptos"/>
              </a:rPr>
              <a:t>16–25  Kritické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155948" y="1559500"/>
            <a:ext cx="74523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150" b="1" i="0" noProof="0" dirty="0">
                <a:solidFill>
                  <a:srgbClr val="3669BE"/>
                </a:solidFill>
                <a:latin typeface="Aptos"/>
              </a:rPr>
              <a:t>HLAVNÍ RIZIKO A OPATŘENÍ PRO JEDNOTLIVÉ VARIANTY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160520" y="1938528"/>
            <a:ext cx="402336" cy="393192"/>
          </a:xfrm>
          <a:prstGeom prst="rect">
            <a:avLst/>
          </a:prstGeom>
          <a:solidFill>
            <a:srgbClr val="3669BE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82" name="TextBox 81"/>
          <p:cNvSpPr txBox="1"/>
          <p:nvPr/>
        </p:nvSpPr>
        <p:spPr>
          <a:xfrm>
            <a:off x="4183380" y="2029968"/>
            <a:ext cx="356616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endParaRPr lang="cs-CZ" noProof="0" dirty="0"/>
          </a:p>
        </p:txBody>
      </p:sp>
      <p:sp>
        <p:nvSpPr>
          <p:cNvPr id="83" name="Rectangle 82"/>
          <p:cNvSpPr/>
          <p:nvPr/>
        </p:nvSpPr>
        <p:spPr>
          <a:xfrm>
            <a:off x="4562856" y="1938528"/>
            <a:ext cx="1307592" cy="393192"/>
          </a:xfrm>
          <a:prstGeom prst="rect">
            <a:avLst/>
          </a:prstGeom>
          <a:solidFill>
            <a:srgbClr val="3669BE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84" name="TextBox 83"/>
          <p:cNvSpPr txBox="1"/>
          <p:nvPr/>
        </p:nvSpPr>
        <p:spPr>
          <a:xfrm>
            <a:off x="4585716" y="2029968"/>
            <a:ext cx="1261872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800" b="1" i="0" noProof="0" dirty="0">
                <a:solidFill>
                  <a:srgbClr val="FFFFFF"/>
                </a:solidFill>
                <a:latin typeface="Aptos"/>
              </a:rPr>
              <a:t>VARIANTA</a:t>
            </a:r>
          </a:p>
        </p:txBody>
      </p:sp>
      <p:sp>
        <p:nvSpPr>
          <p:cNvPr id="85" name="Rectangle 84"/>
          <p:cNvSpPr/>
          <p:nvPr/>
        </p:nvSpPr>
        <p:spPr>
          <a:xfrm>
            <a:off x="5870448" y="1938528"/>
            <a:ext cx="2057400" cy="393192"/>
          </a:xfrm>
          <a:prstGeom prst="rect">
            <a:avLst/>
          </a:prstGeom>
          <a:solidFill>
            <a:srgbClr val="3669BE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86" name="TextBox 85"/>
          <p:cNvSpPr txBox="1"/>
          <p:nvPr/>
        </p:nvSpPr>
        <p:spPr>
          <a:xfrm>
            <a:off x="5893308" y="2029968"/>
            <a:ext cx="20116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800" b="1" i="0" noProof="0" dirty="0">
                <a:solidFill>
                  <a:srgbClr val="FFFFFF"/>
                </a:solidFill>
                <a:latin typeface="Aptos"/>
              </a:rPr>
              <a:t>RIZIKO</a:t>
            </a:r>
          </a:p>
        </p:txBody>
      </p:sp>
      <p:sp>
        <p:nvSpPr>
          <p:cNvPr id="87" name="Rectangle 86"/>
          <p:cNvSpPr/>
          <p:nvPr/>
        </p:nvSpPr>
        <p:spPr>
          <a:xfrm>
            <a:off x="7927848" y="1938528"/>
            <a:ext cx="356616" cy="393192"/>
          </a:xfrm>
          <a:prstGeom prst="rect">
            <a:avLst/>
          </a:prstGeom>
          <a:solidFill>
            <a:srgbClr val="3669BE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88" name="TextBox 87"/>
          <p:cNvSpPr txBox="1"/>
          <p:nvPr/>
        </p:nvSpPr>
        <p:spPr>
          <a:xfrm>
            <a:off x="7950708" y="2029968"/>
            <a:ext cx="310896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800" b="1" i="0" noProof="0" dirty="0">
                <a:solidFill>
                  <a:srgbClr val="FFFFFF"/>
                </a:solidFill>
                <a:latin typeface="Aptos"/>
              </a:rPr>
              <a:t>P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284464" y="1938528"/>
            <a:ext cx="356616" cy="393192"/>
          </a:xfrm>
          <a:prstGeom prst="rect">
            <a:avLst/>
          </a:prstGeom>
          <a:solidFill>
            <a:srgbClr val="3669BE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90" name="TextBox 89"/>
          <p:cNvSpPr txBox="1"/>
          <p:nvPr/>
        </p:nvSpPr>
        <p:spPr>
          <a:xfrm>
            <a:off x="8307324" y="2029968"/>
            <a:ext cx="310896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800" b="1" i="0" noProof="0" dirty="0">
                <a:solidFill>
                  <a:srgbClr val="FFFFFF"/>
                </a:solidFill>
                <a:latin typeface="Aptos"/>
              </a:rPr>
              <a:t>D</a:t>
            </a:r>
          </a:p>
        </p:txBody>
      </p:sp>
      <p:sp>
        <p:nvSpPr>
          <p:cNvPr id="91" name="Rectangle 90"/>
          <p:cNvSpPr/>
          <p:nvPr/>
        </p:nvSpPr>
        <p:spPr>
          <a:xfrm>
            <a:off x="8641080" y="1938528"/>
            <a:ext cx="621792" cy="393192"/>
          </a:xfrm>
          <a:prstGeom prst="rect">
            <a:avLst/>
          </a:prstGeom>
          <a:solidFill>
            <a:srgbClr val="3669BE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92" name="TextBox 91"/>
          <p:cNvSpPr txBox="1"/>
          <p:nvPr/>
        </p:nvSpPr>
        <p:spPr>
          <a:xfrm>
            <a:off x="8663940" y="2029968"/>
            <a:ext cx="576072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800" b="1" i="0" noProof="0" dirty="0">
                <a:solidFill>
                  <a:srgbClr val="FFFFFF"/>
                </a:solidFill>
                <a:latin typeface="Aptos"/>
              </a:rPr>
              <a:t>P×D</a:t>
            </a:r>
          </a:p>
        </p:txBody>
      </p:sp>
      <p:sp>
        <p:nvSpPr>
          <p:cNvPr id="93" name="Rectangle 92"/>
          <p:cNvSpPr/>
          <p:nvPr/>
        </p:nvSpPr>
        <p:spPr>
          <a:xfrm>
            <a:off x="9262872" y="1938528"/>
            <a:ext cx="2304288" cy="393192"/>
          </a:xfrm>
          <a:prstGeom prst="rect">
            <a:avLst/>
          </a:prstGeom>
          <a:solidFill>
            <a:srgbClr val="3669BE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94" name="TextBox 93"/>
          <p:cNvSpPr txBox="1"/>
          <p:nvPr/>
        </p:nvSpPr>
        <p:spPr>
          <a:xfrm>
            <a:off x="9285732" y="2029968"/>
            <a:ext cx="2258568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800" b="1" i="0" noProof="0" dirty="0">
                <a:solidFill>
                  <a:srgbClr val="FFFFFF"/>
                </a:solidFill>
                <a:latin typeface="Aptos"/>
              </a:rPr>
              <a:t>MITIGACE / OMEZENÍ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160520" y="2331720"/>
            <a:ext cx="402336" cy="658368"/>
          </a:xfrm>
          <a:prstGeom prst="rect">
            <a:avLst/>
          </a:prstGeom>
          <a:solidFill>
            <a:srgbClr val="F6F8FB"/>
          </a:solidFill>
          <a:ln w="6985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96" name="TextBox 95"/>
          <p:cNvSpPr txBox="1"/>
          <p:nvPr/>
        </p:nvSpPr>
        <p:spPr>
          <a:xfrm>
            <a:off x="4197096" y="2386584"/>
            <a:ext cx="329184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869" b="1" i="0" noProof="0" dirty="0">
                <a:solidFill>
                  <a:srgbClr val="132A43"/>
                </a:solidFill>
                <a:latin typeface="Aptos"/>
              </a:rPr>
              <a:t>A</a:t>
            </a:r>
          </a:p>
        </p:txBody>
      </p:sp>
      <p:sp>
        <p:nvSpPr>
          <p:cNvPr id="97" name="Rectangle 96"/>
          <p:cNvSpPr/>
          <p:nvPr/>
        </p:nvSpPr>
        <p:spPr>
          <a:xfrm>
            <a:off x="4562856" y="2331720"/>
            <a:ext cx="1307592" cy="658368"/>
          </a:xfrm>
          <a:prstGeom prst="rect">
            <a:avLst/>
          </a:prstGeom>
          <a:solidFill>
            <a:srgbClr val="F6F8FB"/>
          </a:solidFill>
          <a:ln w="6985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98" name="TextBox 97"/>
          <p:cNvSpPr txBox="1"/>
          <p:nvPr/>
        </p:nvSpPr>
        <p:spPr>
          <a:xfrm>
            <a:off x="4599432" y="2386584"/>
            <a:ext cx="1234439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869" b="1" i="0" noProof="0" dirty="0">
                <a:solidFill>
                  <a:srgbClr val="132A43"/>
                </a:solidFill>
                <a:latin typeface="Aptos"/>
              </a:rPr>
              <a:t>AI Study </a:t>
            </a:r>
            <a:r>
              <a:rPr lang="cs-CZ" sz="869" b="1" i="0" noProof="0" dirty="0" err="1">
                <a:solidFill>
                  <a:srgbClr val="132A43"/>
                </a:solidFill>
                <a:latin typeface="Aptos"/>
              </a:rPr>
              <a:t>Guide</a:t>
            </a:r>
            <a:endParaRPr lang="cs-CZ" sz="869" b="1" i="0" noProof="0" dirty="0">
              <a:solidFill>
                <a:srgbClr val="132A43"/>
              </a:solidFill>
              <a:latin typeface="Aptos"/>
            </a:endParaRPr>
          </a:p>
        </p:txBody>
      </p:sp>
      <p:sp>
        <p:nvSpPr>
          <p:cNvPr id="99" name="Rectangle 98"/>
          <p:cNvSpPr/>
          <p:nvPr/>
        </p:nvSpPr>
        <p:spPr>
          <a:xfrm>
            <a:off x="5870448" y="2331720"/>
            <a:ext cx="2057400" cy="658368"/>
          </a:xfrm>
          <a:prstGeom prst="rect">
            <a:avLst/>
          </a:prstGeom>
          <a:solidFill>
            <a:srgbClr val="F6F8FB"/>
          </a:solidFill>
          <a:ln w="6985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100" name="TextBox 99"/>
          <p:cNvSpPr txBox="1"/>
          <p:nvPr/>
        </p:nvSpPr>
        <p:spPr>
          <a:xfrm>
            <a:off x="5907024" y="2386584"/>
            <a:ext cx="1984248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810" b="0" i="0" noProof="0" dirty="0">
                <a:solidFill>
                  <a:srgbClr val="283442"/>
                </a:solidFill>
                <a:latin typeface="Aptos"/>
              </a:rPr>
              <a:t>Studenti návod nepoužijí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7927848" y="2331720"/>
            <a:ext cx="356616" cy="658368"/>
          </a:xfrm>
          <a:prstGeom prst="rect">
            <a:avLst/>
          </a:prstGeom>
          <a:solidFill>
            <a:srgbClr val="F6F8FB"/>
          </a:solidFill>
          <a:ln w="6985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102" name="TextBox 101"/>
          <p:cNvSpPr txBox="1"/>
          <p:nvPr/>
        </p:nvSpPr>
        <p:spPr>
          <a:xfrm>
            <a:off x="7964423" y="2386584"/>
            <a:ext cx="283464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869" b="0" i="0" noProof="0" dirty="0">
                <a:solidFill>
                  <a:srgbClr val="283442"/>
                </a:solidFill>
                <a:latin typeface="Aptos"/>
              </a:rPr>
              <a:t>4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8284464" y="2331720"/>
            <a:ext cx="356616" cy="658368"/>
          </a:xfrm>
          <a:prstGeom prst="rect">
            <a:avLst/>
          </a:prstGeom>
          <a:solidFill>
            <a:srgbClr val="F6F8FB"/>
          </a:solidFill>
          <a:ln w="6985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104" name="TextBox 103"/>
          <p:cNvSpPr txBox="1"/>
          <p:nvPr/>
        </p:nvSpPr>
        <p:spPr>
          <a:xfrm>
            <a:off x="8321040" y="2386584"/>
            <a:ext cx="283464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869" b="0" i="0" noProof="0" dirty="0">
                <a:solidFill>
                  <a:srgbClr val="283442"/>
                </a:solidFill>
                <a:latin typeface="Aptos"/>
              </a:rPr>
              <a:t>3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8641080" y="2331720"/>
            <a:ext cx="621792" cy="658368"/>
          </a:xfrm>
          <a:prstGeom prst="rect">
            <a:avLst/>
          </a:prstGeom>
          <a:solidFill>
            <a:srgbClr val="F6F8FB"/>
          </a:solidFill>
          <a:ln w="6985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106" name="TextBox 105"/>
          <p:cNvSpPr txBox="1"/>
          <p:nvPr/>
        </p:nvSpPr>
        <p:spPr>
          <a:xfrm>
            <a:off x="8677656" y="2386584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869" b="1" i="0" noProof="0" dirty="0">
                <a:solidFill>
                  <a:srgbClr val="D08D32"/>
                </a:solidFill>
                <a:latin typeface="Aptos"/>
              </a:rPr>
              <a:t>12 · V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9262872" y="2331720"/>
            <a:ext cx="2304288" cy="658368"/>
          </a:xfrm>
          <a:prstGeom prst="rect">
            <a:avLst/>
          </a:prstGeom>
          <a:solidFill>
            <a:srgbClr val="F6F8FB"/>
          </a:solidFill>
          <a:ln w="6985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108" name="TextBox 107"/>
          <p:cNvSpPr txBox="1"/>
          <p:nvPr/>
        </p:nvSpPr>
        <p:spPr>
          <a:xfrm>
            <a:off x="9299448" y="2386584"/>
            <a:ext cx="2231136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810" b="0" i="0" noProof="0" dirty="0">
                <a:solidFill>
                  <a:srgbClr val="283442"/>
                </a:solidFill>
                <a:latin typeface="Aptos"/>
              </a:rPr>
              <a:t>Ukázat na cvičení; sdílet přes </a:t>
            </a:r>
            <a:r>
              <a:rPr lang="cs-CZ" sz="810" b="0" i="0" noProof="0" dirty="0" err="1">
                <a:solidFill>
                  <a:srgbClr val="283442"/>
                </a:solidFill>
                <a:latin typeface="Aptos"/>
              </a:rPr>
              <a:t>InSIS</a:t>
            </a:r>
            <a:r>
              <a:rPr lang="cs-CZ" sz="810" b="0" i="0" noProof="0" dirty="0">
                <a:solidFill>
                  <a:srgbClr val="283442"/>
                </a:solidFill>
                <a:latin typeface="Aptos"/>
              </a:rPr>
              <a:t>.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4160520" y="2990088"/>
            <a:ext cx="402336" cy="658368"/>
          </a:xfrm>
          <a:prstGeom prst="rect">
            <a:avLst/>
          </a:prstGeom>
          <a:solidFill>
            <a:srgbClr val="FFFFFF"/>
          </a:solidFill>
          <a:ln w="6985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110" name="TextBox 109"/>
          <p:cNvSpPr txBox="1"/>
          <p:nvPr/>
        </p:nvSpPr>
        <p:spPr>
          <a:xfrm>
            <a:off x="4197096" y="3044952"/>
            <a:ext cx="329184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869" b="1" i="0" noProof="0" dirty="0">
                <a:solidFill>
                  <a:srgbClr val="132A43"/>
                </a:solidFill>
                <a:latin typeface="Aptos"/>
              </a:rPr>
              <a:t>B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4562856" y="2990088"/>
            <a:ext cx="1307592" cy="658368"/>
          </a:xfrm>
          <a:prstGeom prst="rect">
            <a:avLst/>
          </a:prstGeom>
          <a:solidFill>
            <a:srgbClr val="FFFFFF"/>
          </a:solidFill>
          <a:ln w="6985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112" name="TextBox 111"/>
          <p:cNvSpPr txBox="1"/>
          <p:nvPr/>
        </p:nvSpPr>
        <p:spPr>
          <a:xfrm>
            <a:off x="4599432" y="3044952"/>
            <a:ext cx="1234439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869" b="1" i="0" noProof="0" dirty="0" err="1">
                <a:solidFill>
                  <a:srgbClr val="132A43"/>
                </a:solidFill>
                <a:latin typeface="Aptos"/>
              </a:rPr>
              <a:t>Practical</a:t>
            </a:r>
            <a:r>
              <a:rPr lang="cs-CZ" sz="869" b="1" i="0" noProof="0" dirty="0">
                <a:solidFill>
                  <a:srgbClr val="132A43"/>
                </a:solidFill>
                <a:latin typeface="Aptos"/>
              </a:rPr>
              <a:t> Workshop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5870448" y="2990088"/>
            <a:ext cx="2057400" cy="658368"/>
          </a:xfrm>
          <a:prstGeom prst="rect">
            <a:avLst/>
          </a:prstGeom>
          <a:solidFill>
            <a:srgbClr val="FFFFFF"/>
          </a:solidFill>
          <a:ln w="6985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114" name="TextBox 113"/>
          <p:cNvSpPr txBox="1"/>
          <p:nvPr/>
        </p:nvSpPr>
        <p:spPr>
          <a:xfrm>
            <a:off x="5907024" y="3044952"/>
            <a:ext cx="1984248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810" b="0" i="0" noProof="0" dirty="0">
                <a:solidFill>
                  <a:srgbClr val="283442"/>
                </a:solidFill>
                <a:latin typeface="Aptos"/>
              </a:rPr>
              <a:t>Nízká účast / krátký efekt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7927848" y="2990088"/>
            <a:ext cx="356616" cy="658368"/>
          </a:xfrm>
          <a:prstGeom prst="rect">
            <a:avLst/>
          </a:prstGeom>
          <a:solidFill>
            <a:srgbClr val="FFFFFF"/>
          </a:solidFill>
          <a:ln w="6985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116" name="TextBox 115"/>
          <p:cNvSpPr txBox="1"/>
          <p:nvPr/>
        </p:nvSpPr>
        <p:spPr>
          <a:xfrm>
            <a:off x="7964423" y="3044952"/>
            <a:ext cx="283464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869" b="0" i="0" noProof="0" dirty="0">
                <a:solidFill>
                  <a:srgbClr val="283442"/>
                </a:solidFill>
                <a:latin typeface="Aptos"/>
              </a:rPr>
              <a:t>3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8284464" y="2990088"/>
            <a:ext cx="356616" cy="658368"/>
          </a:xfrm>
          <a:prstGeom prst="rect">
            <a:avLst/>
          </a:prstGeom>
          <a:solidFill>
            <a:srgbClr val="FFFFFF"/>
          </a:solidFill>
          <a:ln w="6985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118" name="TextBox 117"/>
          <p:cNvSpPr txBox="1"/>
          <p:nvPr/>
        </p:nvSpPr>
        <p:spPr>
          <a:xfrm>
            <a:off x="8321040" y="3044952"/>
            <a:ext cx="283464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869" b="0" i="0" noProof="0" dirty="0">
                <a:solidFill>
                  <a:srgbClr val="283442"/>
                </a:solidFill>
                <a:latin typeface="Aptos"/>
              </a:rPr>
              <a:t>3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8641080" y="2990088"/>
            <a:ext cx="621792" cy="658368"/>
          </a:xfrm>
          <a:prstGeom prst="rect">
            <a:avLst/>
          </a:prstGeom>
          <a:solidFill>
            <a:srgbClr val="FFFFFF"/>
          </a:solidFill>
          <a:ln w="6985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120" name="TextBox 119"/>
          <p:cNvSpPr txBox="1"/>
          <p:nvPr/>
        </p:nvSpPr>
        <p:spPr>
          <a:xfrm>
            <a:off x="8677656" y="3044952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869" b="1" i="0" noProof="0" dirty="0">
                <a:solidFill>
                  <a:srgbClr val="1F8E89"/>
                </a:solidFill>
                <a:latin typeface="Aptos"/>
              </a:rPr>
              <a:t>9 · S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9262872" y="2990088"/>
            <a:ext cx="2304288" cy="658368"/>
          </a:xfrm>
          <a:prstGeom prst="rect">
            <a:avLst/>
          </a:prstGeom>
          <a:solidFill>
            <a:srgbClr val="FFFFFF"/>
          </a:solidFill>
          <a:ln w="6985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122" name="TextBox 121"/>
          <p:cNvSpPr txBox="1"/>
          <p:nvPr/>
        </p:nvSpPr>
        <p:spPr>
          <a:xfrm>
            <a:off x="9299448" y="3044952"/>
            <a:ext cx="2231136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810" b="0" i="0" noProof="0" dirty="0">
                <a:solidFill>
                  <a:srgbClr val="283442"/>
                </a:solidFill>
                <a:latin typeface="Aptos"/>
              </a:rPr>
              <a:t>Zařadit do běžného cvičení; následný </a:t>
            </a:r>
            <a:r>
              <a:rPr lang="cs-CZ" sz="810" b="0" i="0" noProof="0" dirty="0" err="1">
                <a:solidFill>
                  <a:srgbClr val="283442"/>
                </a:solidFill>
                <a:latin typeface="Aptos"/>
              </a:rPr>
              <a:t>follow</a:t>
            </a:r>
            <a:r>
              <a:rPr lang="cs-CZ" sz="810" b="0" i="0" noProof="0" dirty="0">
                <a:solidFill>
                  <a:srgbClr val="283442"/>
                </a:solidFill>
                <a:latin typeface="Aptos"/>
              </a:rPr>
              <a:t>-up.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4160520" y="3648456"/>
            <a:ext cx="402336" cy="658368"/>
          </a:xfrm>
          <a:prstGeom prst="rect">
            <a:avLst/>
          </a:prstGeom>
          <a:solidFill>
            <a:srgbClr val="F6F8FB"/>
          </a:solidFill>
          <a:ln w="6985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124" name="TextBox 123"/>
          <p:cNvSpPr txBox="1"/>
          <p:nvPr/>
        </p:nvSpPr>
        <p:spPr>
          <a:xfrm>
            <a:off x="4197096" y="3703320"/>
            <a:ext cx="329184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869" b="1" i="0" noProof="0" dirty="0">
                <a:solidFill>
                  <a:srgbClr val="132A43"/>
                </a:solidFill>
                <a:latin typeface="Aptos"/>
              </a:rPr>
              <a:t>C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62856" y="3648456"/>
            <a:ext cx="1307592" cy="658368"/>
          </a:xfrm>
          <a:prstGeom prst="rect">
            <a:avLst/>
          </a:prstGeom>
          <a:solidFill>
            <a:srgbClr val="F6F8FB"/>
          </a:solidFill>
          <a:ln w="6985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126" name="TextBox 125"/>
          <p:cNvSpPr txBox="1"/>
          <p:nvPr/>
        </p:nvSpPr>
        <p:spPr>
          <a:xfrm>
            <a:off x="4599432" y="3703320"/>
            <a:ext cx="1234439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869" b="1" i="0" noProof="0" dirty="0" err="1">
                <a:solidFill>
                  <a:srgbClr val="132A43"/>
                </a:solidFill>
                <a:latin typeface="Aptos"/>
              </a:rPr>
              <a:t>Assessment</a:t>
            </a:r>
            <a:r>
              <a:rPr lang="cs-CZ" sz="869" b="1" i="0" noProof="0" dirty="0">
                <a:solidFill>
                  <a:srgbClr val="132A43"/>
                </a:solidFill>
                <a:latin typeface="Aptos"/>
              </a:rPr>
              <a:t> Design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5870448" y="3648456"/>
            <a:ext cx="2057400" cy="658368"/>
          </a:xfrm>
          <a:prstGeom prst="rect">
            <a:avLst/>
          </a:prstGeom>
          <a:solidFill>
            <a:srgbClr val="F6F8FB"/>
          </a:solidFill>
          <a:ln w="6985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128" name="TextBox 127"/>
          <p:cNvSpPr txBox="1"/>
          <p:nvPr/>
        </p:nvSpPr>
        <p:spPr>
          <a:xfrm>
            <a:off x="5907024" y="3703320"/>
            <a:ext cx="1984248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810" b="0" i="0" noProof="0" dirty="0">
                <a:solidFill>
                  <a:srgbClr val="283442"/>
                </a:solidFill>
                <a:latin typeface="Aptos"/>
              </a:rPr>
              <a:t>Nízká podpora vyučujících; obtížné zavedení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7927848" y="3648456"/>
            <a:ext cx="356616" cy="658368"/>
          </a:xfrm>
          <a:prstGeom prst="rect">
            <a:avLst/>
          </a:prstGeom>
          <a:solidFill>
            <a:srgbClr val="F6F8FB"/>
          </a:solidFill>
          <a:ln w="6985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130" name="TextBox 129"/>
          <p:cNvSpPr txBox="1"/>
          <p:nvPr/>
        </p:nvSpPr>
        <p:spPr>
          <a:xfrm>
            <a:off x="7964423" y="3703320"/>
            <a:ext cx="283464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869" b="0" i="0" noProof="0" dirty="0">
                <a:solidFill>
                  <a:srgbClr val="283442"/>
                </a:solidFill>
                <a:latin typeface="Aptos"/>
              </a:rPr>
              <a:t>4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8284464" y="3648456"/>
            <a:ext cx="356616" cy="658368"/>
          </a:xfrm>
          <a:prstGeom prst="rect">
            <a:avLst/>
          </a:prstGeom>
          <a:solidFill>
            <a:srgbClr val="F6F8FB"/>
          </a:solidFill>
          <a:ln w="6985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132" name="TextBox 131"/>
          <p:cNvSpPr txBox="1"/>
          <p:nvPr/>
        </p:nvSpPr>
        <p:spPr>
          <a:xfrm>
            <a:off x="8321040" y="3703320"/>
            <a:ext cx="283464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869" b="0" i="0" noProof="0" dirty="0">
                <a:solidFill>
                  <a:srgbClr val="283442"/>
                </a:solidFill>
                <a:latin typeface="Aptos"/>
              </a:rPr>
              <a:t>4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8641080" y="3648456"/>
            <a:ext cx="621792" cy="658368"/>
          </a:xfrm>
          <a:prstGeom prst="rect">
            <a:avLst/>
          </a:prstGeom>
          <a:solidFill>
            <a:srgbClr val="F6F8FB"/>
          </a:solidFill>
          <a:ln w="6985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134" name="TextBox 133"/>
          <p:cNvSpPr txBox="1"/>
          <p:nvPr/>
        </p:nvSpPr>
        <p:spPr>
          <a:xfrm>
            <a:off x="8677656" y="3703320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869" b="1" i="0" noProof="0" dirty="0">
                <a:solidFill>
                  <a:srgbClr val="B84F4F"/>
                </a:solidFill>
                <a:latin typeface="Aptos"/>
              </a:rPr>
              <a:t>16 · K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9262872" y="3648456"/>
            <a:ext cx="2304288" cy="658368"/>
          </a:xfrm>
          <a:prstGeom prst="rect">
            <a:avLst/>
          </a:prstGeom>
          <a:solidFill>
            <a:srgbClr val="F6F8FB"/>
          </a:solidFill>
          <a:ln w="6985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136" name="TextBox 135"/>
          <p:cNvSpPr txBox="1"/>
          <p:nvPr/>
        </p:nvSpPr>
        <p:spPr>
          <a:xfrm>
            <a:off x="9299448" y="3703320"/>
            <a:ext cx="2231136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810" b="0" i="0" noProof="0" dirty="0">
                <a:solidFill>
                  <a:srgbClr val="283442"/>
                </a:solidFill>
                <a:latin typeface="Aptos"/>
              </a:rPr>
              <a:t>Začít dobrovolným pilotem v jednom předmětu.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4160520" y="4306824"/>
            <a:ext cx="402336" cy="658368"/>
          </a:xfrm>
          <a:prstGeom prst="rect">
            <a:avLst/>
          </a:prstGeom>
          <a:solidFill>
            <a:srgbClr val="FFFFFF"/>
          </a:solidFill>
          <a:ln w="6985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138" name="TextBox 137"/>
          <p:cNvSpPr txBox="1"/>
          <p:nvPr/>
        </p:nvSpPr>
        <p:spPr>
          <a:xfrm>
            <a:off x="4197096" y="4361688"/>
            <a:ext cx="329184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869" b="1" i="0" noProof="0" dirty="0">
                <a:solidFill>
                  <a:srgbClr val="132A43"/>
                </a:solidFill>
                <a:latin typeface="Aptos"/>
              </a:rPr>
              <a:t>D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4562856" y="4306824"/>
            <a:ext cx="1307592" cy="658368"/>
          </a:xfrm>
          <a:prstGeom prst="rect">
            <a:avLst/>
          </a:prstGeom>
          <a:solidFill>
            <a:srgbClr val="FFFFFF"/>
          </a:solidFill>
          <a:ln w="6985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140" name="TextBox 139"/>
          <p:cNvSpPr txBox="1"/>
          <p:nvPr/>
        </p:nvSpPr>
        <p:spPr>
          <a:xfrm>
            <a:off x="4599432" y="4361688"/>
            <a:ext cx="1234439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869" b="1" i="0" noProof="0" dirty="0" err="1">
                <a:solidFill>
                  <a:srgbClr val="132A43"/>
                </a:solidFill>
                <a:latin typeface="Aptos"/>
              </a:rPr>
              <a:t>Maintain</a:t>
            </a:r>
            <a:r>
              <a:rPr lang="cs-CZ" sz="869" b="1" i="0" noProof="0" dirty="0">
                <a:solidFill>
                  <a:srgbClr val="132A43"/>
                </a:solidFill>
                <a:latin typeface="Aptos"/>
              </a:rPr>
              <a:t> </a:t>
            </a:r>
            <a:r>
              <a:rPr lang="cs-CZ" sz="869" b="1" i="0" noProof="0" dirty="0" err="1">
                <a:solidFill>
                  <a:srgbClr val="132A43"/>
                </a:solidFill>
                <a:latin typeface="Aptos"/>
              </a:rPr>
              <a:t>Current</a:t>
            </a:r>
            <a:endParaRPr lang="cs-CZ" sz="869" b="1" i="0" noProof="0" dirty="0">
              <a:solidFill>
                <a:srgbClr val="132A43"/>
              </a:solidFill>
              <a:latin typeface="Aptos"/>
            </a:endParaRPr>
          </a:p>
        </p:txBody>
      </p:sp>
      <p:sp>
        <p:nvSpPr>
          <p:cNvPr id="141" name="Rectangle 140"/>
          <p:cNvSpPr/>
          <p:nvPr/>
        </p:nvSpPr>
        <p:spPr>
          <a:xfrm>
            <a:off x="5870448" y="4306824"/>
            <a:ext cx="2057400" cy="658368"/>
          </a:xfrm>
          <a:prstGeom prst="rect">
            <a:avLst/>
          </a:prstGeom>
          <a:solidFill>
            <a:srgbClr val="FFFFFF"/>
          </a:solidFill>
          <a:ln w="6985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142" name="TextBox 141"/>
          <p:cNvSpPr txBox="1"/>
          <p:nvPr/>
        </p:nvSpPr>
        <p:spPr>
          <a:xfrm>
            <a:off x="5907024" y="4361688"/>
            <a:ext cx="1984248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810" b="0" i="0" noProof="0" dirty="0">
                <a:solidFill>
                  <a:srgbClr val="283442"/>
                </a:solidFill>
                <a:latin typeface="Aptos"/>
              </a:rPr>
              <a:t>Rizikové návyky zůstanou bez cíleného zásahu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7927848" y="4306824"/>
            <a:ext cx="356616" cy="658368"/>
          </a:xfrm>
          <a:prstGeom prst="rect">
            <a:avLst/>
          </a:prstGeom>
          <a:solidFill>
            <a:srgbClr val="FFFFFF"/>
          </a:solidFill>
          <a:ln w="6985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144" name="TextBox 143"/>
          <p:cNvSpPr txBox="1"/>
          <p:nvPr/>
        </p:nvSpPr>
        <p:spPr>
          <a:xfrm>
            <a:off x="7964423" y="4361688"/>
            <a:ext cx="283464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869" b="0" i="0" noProof="0" dirty="0">
                <a:solidFill>
                  <a:srgbClr val="283442"/>
                </a:solidFill>
                <a:latin typeface="Aptos"/>
              </a:rPr>
              <a:t>4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8284464" y="4306824"/>
            <a:ext cx="356616" cy="658368"/>
          </a:xfrm>
          <a:prstGeom prst="rect">
            <a:avLst/>
          </a:prstGeom>
          <a:solidFill>
            <a:srgbClr val="FFFFFF"/>
          </a:solidFill>
          <a:ln w="6985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146" name="TextBox 145"/>
          <p:cNvSpPr txBox="1"/>
          <p:nvPr/>
        </p:nvSpPr>
        <p:spPr>
          <a:xfrm>
            <a:off x="8321040" y="4361688"/>
            <a:ext cx="283464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869" b="0" i="0" noProof="0" dirty="0">
                <a:solidFill>
                  <a:srgbClr val="283442"/>
                </a:solidFill>
                <a:latin typeface="Aptos"/>
              </a:rPr>
              <a:t>4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641080" y="4306824"/>
            <a:ext cx="621792" cy="658368"/>
          </a:xfrm>
          <a:prstGeom prst="rect">
            <a:avLst/>
          </a:prstGeom>
          <a:solidFill>
            <a:srgbClr val="FFFFFF"/>
          </a:solidFill>
          <a:ln w="6985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148" name="TextBox 147"/>
          <p:cNvSpPr txBox="1"/>
          <p:nvPr/>
        </p:nvSpPr>
        <p:spPr>
          <a:xfrm>
            <a:off x="8677656" y="4361688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869" b="1" i="0" noProof="0" dirty="0">
                <a:solidFill>
                  <a:srgbClr val="B84F4F"/>
                </a:solidFill>
                <a:latin typeface="Aptos"/>
              </a:rPr>
              <a:t>16 · K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9262872" y="4306824"/>
            <a:ext cx="2304288" cy="658368"/>
          </a:xfrm>
          <a:prstGeom prst="rect">
            <a:avLst/>
          </a:prstGeom>
          <a:solidFill>
            <a:srgbClr val="FFFFFF"/>
          </a:solidFill>
          <a:ln w="6985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150" name="TextBox 149"/>
          <p:cNvSpPr txBox="1"/>
          <p:nvPr/>
        </p:nvSpPr>
        <p:spPr>
          <a:xfrm>
            <a:off x="9299448" y="4361688"/>
            <a:ext cx="2231136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810" b="0" i="0" noProof="0" dirty="0">
                <a:solidFill>
                  <a:srgbClr val="283442"/>
                </a:solidFill>
                <a:latin typeface="Aptos"/>
              </a:rPr>
              <a:t>Bez intervence není cílená </a:t>
            </a:r>
            <a:r>
              <a:rPr lang="cs-CZ" sz="810" b="0" i="0" noProof="0" dirty="0" err="1">
                <a:solidFill>
                  <a:srgbClr val="283442"/>
                </a:solidFill>
                <a:latin typeface="Aptos"/>
              </a:rPr>
              <a:t>mitigace</a:t>
            </a:r>
            <a:r>
              <a:rPr lang="cs-CZ" sz="810" b="0" i="0" noProof="0" dirty="0">
                <a:solidFill>
                  <a:srgbClr val="283442"/>
                </a:solidFill>
                <a:latin typeface="Aptos"/>
              </a:rPr>
              <a:t>; znovu vyhodnotit.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187952" y="5212080"/>
            <a:ext cx="7388352" cy="4846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860" b="0" i="0" noProof="0" dirty="0">
                <a:solidFill>
                  <a:srgbClr val="667585"/>
                </a:solidFill>
                <a:latin typeface="Aptos"/>
              </a:rPr>
              <a:t>Škála: 1 = nízká, 5 = vysoká. Kategorie: 1–4 nízké, 5–9 střední (S), 10–15 vysoké (V), 16–25 kritické (K).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187952" y="5705856"/>
            <a:ext cx="738835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840" b="0" i="0" noProof="0" dirty="0">
                <a:solidFill>
                  <a:srgbClr val="667585"/>
                </a:solidFill>
                <a:latin typeface="Aptos"/>
              </a:rPr>
              <a:t>P a D jsou kvalifikované odhady týmu, ne naměřené pravděpodobnosti. Rizika po </a:t>
            </a:r>
            <a:r>
              <a:rPr lang="cs-CZ" sz="840" b="0" i="0" noProof="0" dirty="0" err="1">
                <a:solidFill>
                  <a:srgbClr val="667585"/>
                </a:solidFill>
                <a:latin typeface="Aptos"/>
              </a:rPr>
              <a:t>mitigaci</a:t>
            </a:r>
            <a:r>
              <a:rPr lang="cs-CZ" sz="840" b="0" i="0" noProof="0" dirty="0">
                <a:solidFill>
                  <a:srgbClr val="667585"/>
                </a:solidFill>
                <a:latin typeface="Aptos"/>
              </a:rPr>
              <a:t> zatím nejsou přepočítána.</a:t>
            </a:r>
          </a:p>
        </p:txBody>
      </p:sp>
      <p:cxnSp>
        <p:nvCxnSpPr>
          <p:cNvPr id="153" name="Connector 152"/>
          <p:cNvCxnSpPr/>
          <p:nvPr/>
        </p:nvCxnSpPr>
        <p:spPr>
          <a:xfrm>
            <a:off x="502920" y="6473952"/>
            <a:ext cx="11183112" cy="0"/>
          </a:xfrm>
          <a:prstGeom prst="line">
            <a:avLst/>
          </a:prstGeom>
          <a:ln w="8890">
            <a:solidFill>
              <a:srgbClr val="DAE2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4" name="TextBox 153"/>
          <p:cNvSpPr txBox="1"/>
          <p:nvPr/>
        </p:nvSpPr>
        <p:spPr>
          <a:xfrm>
            <a:off x="521207" y="6519672"/>
            <a:ext cx="722376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750" b="0" i="0" noProof="0" dirty="0">
                <a:solidFill>
                  <a:srgbClr val="667585"/>
                </a:solidFill>
                <a:latin typeface="Aptos"/>
              </a:rPr>
              <a:t>TÝM 10  ·  ŘEŠENÍ PROBLÉMŮ  ·  FIS VŠE  ·  OBSAH 8/10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7406640" y="6510528"/>
            <a:ext cx="4251960" cy="1737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720" b="0" i="0" noProof="0" dirty="0">
                <a:solidFill>
                  <a:srgbClr val="667585"/>
                </a:solidFill>
                <a:latin typeface="Aptos"/>
              </a:rPr>
              <a:t>Skóre = P × D; týmové hodnocení.</a:t>
            </a:r>
          </a:p>
        </p:txBody>
      </p:sp>
      <p:sp>
        <p:nvSpPr>
          <p:cNvPr id="157" name="TextovéPole 156">
            <a:extLst>
              <a:ext uri="{FF2B5EF4-FFF2-40B4-BE49-F238E27FC236}">
                <a16:creationId xmlns:a16="http://schemas.microsoft.com/office/drawing/2014/main" id="{9ABCA346-E80A-B7CB-D5BC-C9CAD082B35B}"/>
              </a:ext>
            </a:extLst>
          </p:cNvPr>
          <p:cNvSpPr txBox="1"/>
          <p:nvPr/>
        </p:nvSpPr>
        <p:spPr>
          <a:xfrm>
            <a:off x="3438144" y="2814870"/>
            <a:ext cx="362712" cy="11249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910" b="1" i="0" noProof="0" dirty="0">
                <a:solidFill>
                  <a:srgbClr val="667585"/>
                </a:solidFill>
                <a:latin typeface="Aptos"/>
              </a:rPr>
              <a:t>D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910" i="0" noProof="0" dirty="0">
                <a:solidFill>
                  <a:srgbClr val="667585"/>
                </a:solidFill>
                <a:latin typeface="Aptos"/>
              </a:rPr>
              <a:t>(d</a:t>
            </a:r>
            <a:br>
              <a:rPr lang="cs-CZ" sz="910" i="0" noProof="0" dirty="0">
                <a:solidFill>
                  <a:srgbClr val="667585"/>
                </a:solidFill>
                <a:latin typeface="Aptos"/>
              </a:rPr>
            </a:br>
            <a:r>
              <a:rPr lang="cs-CZ" sz="910" i="0" noProof="0" dirty="0">
                <a:solidFill>
                  <a:srgbClr val="667585"/>
                </a:solidFill>
                <a:latin typeface="Aptos"/>
              </a:rPr>
              <a:t>o</a:t>
            </a:r>
            <a:br>
              <a:rPr lang="cs-CZ" sz="910" i="0" noProof="0" dirty="0">
                <a:solidFill>
                  <a:srgbClr val="667585"/>
                </a:solidFill>
                <a:latin typeface="Aptos"/>
              </a:rPr>
            </a:br>
            <a:r>
              <a:rPr lang="cs-CZ" sz="910" i="0" noProof="0" dirty="0">
                <a:solidFill>
                  <a:srgbClr val="667585"/>
                </a:solidFill>
                <a:latin typeface="Aptos"/>
              </a:rPr>
              <a:t>p</a:t>
            </a:r>
            <a:br>
              <a:rPr lang="cs-CZ" sz="910" i="0" noProof="0" dirty="0">
                <a:solidFill>
                  <a:srgbClr val="667585"/>
                </a:solidFill>
                <a:latin typeface="Aptos"/>
              </a:rPr>
            </a:br>
            <a:r>
              <a:rPr lang="cs-CZ" sz="910" i="0" noProof="0" dirty="0">
                <a:solidFill>
                  <a:srgbClr val="667585"/>
                </a:solidFill>
                <a:latin typeface="Aptos"/>
              </a:rPr>
              <a:t>a</a:t>
            </a:r>
            <a:br>
              <a:rPr lang="cs-CZ" sz="910" i="0" noProof="0" dirty="0">
                <a:solidFill>
                  <a:srgbClr val="667585"/>
                </a:solidFill>
                <a:latin typeface="Aptos"/>
              </a:rPr>
            </a:br>
            <a:r>
              <a:rPr lang="cs-CZ" sz="910" i="0" noProof="0" dirty="0">
                <a:solidFill>
                  <a:srgbClr val="667585"/>
                </a:solidFill>
                <a:latin typeface="Aptos"/>
              </a:rPr>
              <a:t>d) </a:t>
            </a:r>
            <a:r>
              <a:rPr lang="cs-CZ" sz="910" b="1" noProof="0" dirty="0">
                <a:solidFill>
                  <a:srgbClr val="667585"/>
                </a:solidFill>
                <a:latin typeface="Aptos"/>
              </a:rPr>
              <a:t>↓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02920" y="246888"/>
            <a:ext cx="1024128" cy="256032"/>
          </a:xfrm>
          <a:prstGeom prst="roundRect">
            <a:avLst/>
          </a:prstGeom>
          <a:solidFill>
            <a:srgbClr val="EFF5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3" name="TextBox 2"/>
          <p:cNvSpPr txBox="1"/>
          <p:nvPr/>
        </p:nvSpPr>
        <p:spPr>
          <a:xfrm>
            <a:off x="548640" y="278892"/>
            <a:ext cx="932688" cy="1737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900" b="1" i="0" noProof="0" dirty="0">
                <a:solidFill>
                  <a:srgbClr val="3669BE"/>
                </a:solidFill>
                <a:latin typeface="Aptos"/>
              </a:rPr>
              <a:t>DECIDE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94360"/>
            <a:ext cx="1106424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2600" b="1" i="0" noProof="0" dirty="0">
                <a:solidFill>
                  <a:srgbClr val="132A43"/>
                </a:solidFill>
                <a:latin typeface="Aptos Display"/>
              </a:rPr>
              <a:t>Doporučené řešení: AI Study Smart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088136"/>
            <a:ext cx="110185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150" b="0" i="0" noProof="0" dirty="0">
                <a:solidFill>
                  <a:srgbClr val="667585"/>
                </a:solidFill>
                <a:latin typeface="Aptos"/>
              </a:rPr>
              <a:t>Kombinujeme tři varianty postupně, protože žádná jednotlivá možnost neřeší problém sama.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1426464"/>
            <a:ext cx="11183112" cy="0"/>
          </a:xfrm>
          <a:prstGeom prst="line">
            <a:avLst/>
          </a:prstGeom>
          <a:ln w="11430">
            <a:solidFill>
              <a:srgbClr val="DAE2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1402568" y="265176"/>
            <a:ext cx="118872" cy="118872"/>
          </a:xfrm>
          <a:prstGeom prst="ellipse">
            <a:avLst/>
          </a:prstGeom>
          <a:solidFill>
            <a:srgbClr val="1F8E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8" name="Oval 7"/>
          <p:cNvSpPr/>
          <p:nvPr/>
        </p:nvSpPr>
        <p:spPr>
          <a:xfrm>
            <a:off x="11548872" y="265176"/>
            <a:ext cx="118872" cy="118872"/>
          </a:xfrm>
          <a:prstGeom prst="ellipse">
            <a:avLst/>
          </a:prstGeom>
          <a:solidFill>
            <a:srgbClr val="3669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9" name="Rounded Rectangle 8"/>
          <p:cNvSpPr/>
          <p:nvPr/>
        </p:nvSpPr>
        <p:spPr>
          <a:xfrm>
            <a:off x="603504" y="1645920"/>
            <a:ext cx="10972800" cy="576072"/>
          </a:xfrm>
          <a:prstGeom prst="roundRect">
            <a:avLst/>
          </a:prstGeom>
          <a:solidFill>
            <a:srgbClr val="13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10" name="TextBox 9"/>
          <p:cNvSpPr txBox="1"/>
          <p:nvPr/>
        </p:nvSpPr>
        <p:spPr>
          <a:xfrm>
            <a:off x="804672" y="1810512"/>
            <a:ext cx="10561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500" b="1" i="0" noProof="0" dirty="0">
                <a:solidFill>
                  <a:srgbClr val="FFFFFF"/>
                </a:solidFill>
                <a:latin typeface="Aptos"/>
              </a:rPr>
              <a:t>ZKUS SÁM  →  PTEJ SE NA NÁPOVĚDU  →  VYŘEŠ  →  OVĚŘ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" y="2487168"/>
            <a:ext cx="3502152" cy="2121408"/>
          </a:xfrm>
          <a:prstGeom prst="roundRect">
            <a:avLst/>
          </a:prstGeom>
          <a:solidFill>
            <a:srgbClr val="EFF5FC"/>
          </a:solidFill>
          <a:ln w="1016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12" name="Rounded Rectangle 11"/>
          <p:cNvSpPr/>
          <p:nvPr/>
        </p:nvSpPr>
        <p:spPr>
          <a:xfrm>
            <a:off x="603504" y="2487168"/>
            <a:ext cx="68580" cy="2121408"/>
          </a:xfrm>
          <a:prstGeom prst="roundRect">
            <a:avLst/>
          </a:prstGeom>
          <a:solidFill>
            <a:srgbClr val="3669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13" name="TextBox 12"/>
          <p:cNvSpPr txBox="1"/>
          <p:nvPr/>
        </p:nvSpPr>
        <p:spPr>
          <a:xfrm>
            <a:off x="768096" y="2596896"/>
            <a:ext cx="320954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300" b="1" i="0" noProof="0" dirty="0">
                <a:solidFill>
                  <a:srgbClr val="3669BE"/>
                </a:solidFill>
                <a:latin typeface="Aptos"/>
              </a:rPr>
              <a:t>KRÁTKODOBĚ  ·  PRŮVODCE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" y="2916936"/>
            <a:ext cx="3209544" cy="1609343"/>
          </a:xfrm>
          <a:prstGeom prst="rect">
            <a:avLst/>
          </a:prstGeom>
          <a:noFill/>
        </p:spPr>
        <p:txBody>
          <a:bodyPr wrap="square" lIns="9144" tIns="9144" r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080" b="0" i="0" noProof="0" dirty="0">
                <a:solidFill>
                  <a:srgbClr val="283442"/>
                </a:solidFill>
                <a:latin typeface="Aptos"/>
              </a:rPr>
              <a:t>Jedna strana s pravidlem 4 kroků a vzorovými prompty.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endParaRPr lang="cs-CZ" sz="1080" b="0" i="0" noProof="0" dirty="0">
              <a:solidFill>
                <a:srgbClr val="283442"/>
              </a:solidFill>
              <a:latin typeface="Aptos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080" b="0" i="0" noProof="0" dirty="0">
                <a:solidFill>
                  <a:srgbClr val="283442"/>
                </a:solidFill>
                <a:latin typeface="Aptos"/>
              </a:rPr>
              <a:t>Distribuce přes </a:t>
            </a:r>
            <a:r>
              <a:rPr lang="cs-CZ" sz="1080" b="0" i="0" noProof="0" dirty="0" err="1">
                <a:solidFill>
                  <a:srgbClr val="283442"/>
                </a:solidFill>
                <a:latin typeface="Aptos"/>
              </a:rPr>
              <a:t>InSIS</a:t>
            </a:r>
            <a:r>
              <a:rPr lang="cs-CZ" sz="1080" b="0" i="0" noProof="0" dirty="0">
                <a:solidFill>
                  <a:srgbClr val="283442"/>
                </a:solidFill>
                <a:latin typeface="Aptos"/>
              </a:rPr>
              <a:t> a na cvičeních.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endParaRPr lang="cs-CZ" sz="1080" b="0" i="0" noProof="0" dirty="0">
              <a:solidFill>
                <a:srgbClr val="283442"/>
              </a:solidFill>
              <a:latin typeface="Aptos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080" b="0" i="0" noProof="0" dirty="0">
                <a:solidFill>
                  <a:srgbClr val="283442"/>
                </a:solidFill>
                <a:latin typeface="Aptos"/>
              </a:rPr>
              <a:t>Cíl: průvodce dostupný prvákům do 2 týdnů.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3400" y="2487168"/>
            <a:ext cx="3502152" cy="2121408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16" name="Rounded Rectangle 15"/>
          <p:cNvSpPr/>
          <p:nvPr/>
        </p:nvSpPr>
        <p:spPr>
          <a:xfrm>
            <a:off x="4343400" y="2487168"/>
            <a:ext cx="68580" cy="2121408"/>
          </a:xfrm>
          <a:prstGeom prst="roundRect">
            <a:avLst/>
          </a:prstGeom>
          <a:solidFill>
            <a:srgbClr val="1F8E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17" name="TextBox 16"/>
          <p:cNvSpPr txBox="1"/>
          <p:nvPr/>
        </p:nvSpPr>
        <p:spPr>
          <a:xfrm>
            <a:off x="4507992" y="2596896"/>
            <a:ext cx="320954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250" b="1" i="0" noProof="0" dirty="0">
                <a:solidFill>
                  <a:srgbClr val="1F8E89"/>
                </a:solidFill>
                <a:latin typeface="Aptos"/>
              </a:rPr>
              <a:t>STŘEDNĚDOBĚ  ·  WORKSHOP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07992" y="2916936"/>
            <a:ext cx="3209544" cy="1609343"/>
          </a:xfrm>
          <a:prstGeom prst="rect">
            <a:avLst/>
          </a:prstGeom>
          <a:noFill/>
        </p:spPr>
        <p:txBody>
          <a:bodyPr wrap="square" lIns="9144" tIns="9144" r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050" b="0" i="0" noProof="0" dirty="0">
                <a:solidFill>
                  <a:srgbClr val="283442"/>
                </a:solidFill>
                <a:latin typeface="Aptos"/>
              </a:rPr>
              <a:t>Praktické cvičení na reálné úloze: hotová odpověď vs. nápověda.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endParaRPr lang="cs-CZ" sz="1050" b="0" i="0" noProof="0" dirty="0">
              <a:solidFill>
                <a:srgbClr val="283442"/>
              </a:solidFill>
              <a:latin typeface="Aptos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050" b="0" i="0" noProof="0" dirty="0">
                <a:solidFill>
                  <a:srgbClr val="283442"/>
                </a:solidFill>
                <a:latin typeface="Aptos"/>
              </a:rPr>
              <a:t>Krátký workshop a zpětná vazba.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endParaRPr lang="cs-CZ" sz="1050" b="0" i="0" noProof="0" dirty="0">
              <a:solidFill>
                <a:srgbClr val="283442"/>
              </a:solidFill>
              <a:latin typeface="Aptos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050" b="0" i="0" noProof="0" dirty="0">
                <a:solidFill>
                  <a:srgbClr val="283442"/>
                </a:solidFill>
                <a:latin typeface="Aptos"/>
              </a:rPr>
              <a:t>Cíl: ≥ 70 % účastníků hodnotí workshop jako užitečný.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83296" y="2487168"/>
            <a:ext cx="3502152" cy="2121408"/>
          </a:xfrm>
          <a:prstGeom prst="roundRect">
            <a:avLst/>
          </a:prstGeom>
          <a:solidFill>
            <a:srgbClr val="FCF6EB"/>
          </a:solidFill>
          <a:ln w="1016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20" name="Rounded Rectangle 19"/>
          <p:cNvSpPr/>
          <p:nvPr/>
        </p:nvSpPr>
        <p:spPr>
          <a:xfrm>
            <a:off x="8083296" y="2487168"/>
            <a:ext cx="68580" cy="2121408"/>
          </a:xfrm>
          <a:prstGeom prst="roundRect">
            <a:avLst/>
          </a:prstGeom>
          <a:solidFill>
            <a:srgbClr val="D08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21" name="TextBox 20"/>
          <p:cNvSpPr txBox="1"/>
          <p:nvPr/>
        </p:nvSpPr>
        <p:spPr>
          <a:xfrm>
            <a:off x="8247888" y="2596896"/>
            <a:ext cx="320954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250" b="1" i="0" noProof="0" dirty="0">
                <a:solidFill>
                  <a:srgbClr val="D08D32"/>
                </a:solidFill>
                <a:latin typeface="Aptos"/>
              </a:rPr>
              <a:t>DLOUHODOBĚ  ·  HODNOCENÍ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47888" y="2916936"/>
            <a:ext cx="3209544" cy="1609343"/>
          </a:xfrm>
          <a:prstGeom prst="rect">
            <a:avLst/>
          </a:prstGeom>
          <a:noFill/>
        </p:spPr>
        <p:txBody>
          <a:bodyPr wrap="square" lIns="9144" tIns="9144" r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040" b="0" i="0" noProof="0" dirty="0">
                <a:solidFill>
                  <a:srgbClr val="283442"/>
                </a:solidFill>
                <a:latin typeface="Aptos"/>
              </a:rPr>
              <a:t>Ve spolupráci s FIS upravit vybrané úlohy tak, aby ověřovaly vlastní postup.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endParaRPr lang="cs-CZ" sz="1040" b="0" i="0" noProof="0" dirty="0">
              <a:solidFill>
                <a:srgbClr val="283442"/>
              </a:solidFill>
              <a:latin typeface="Aptos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040" b="0" i="0" noProof="0" dirty="0">
                <a:solidFill>
                  <a:srgbClr val="283442"/>
                </a:solidFill>
                <a:latin typeface="Aptos"/>
              </a:rPr>
              <a:t>Např. krátká ústní obhajoba nebo podobná úloha bez AI.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endParaRPr lang="cs-CZ" sz="1040" b="0" i="0" noProof="0" dirty="0">
              <a:solidFill>
                <a:srgbClr val="283442"/>
              </a:solidFill>
              <a:latin typeface="Aptos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040" b="0" i="0" noProof="0" dirty="0">
                <a:solidFill>
                  <a:srgbClr val="283442"/>
                </a:solidFill>
                <a:latin typeface="Aptos"/>
              </a:rPr>
              <a:t>Cíl: pilot alespoň v jednom předmětu 1. ročníku.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" y="4892040"/>
            <a:ext cx="10972800" cy="850392"/>
          </a:xfrm>
          <a:prstGeom prst="roundRect">
            <a:avLst/>
          </a:prstGeom>
          <a:solidFill>
            <a:srgbClr val="F6F8FB"/>
          </a:solidFill>
          <a:ln w="889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24" name="TextBox 23"/>
          <p:cNvSpPr txBox="1"/>
          <p:nvPr/>
        </p:nvSpPr>
        <p:spPr>
          <a:xfrm>
            <a:off x="822960" y="5010912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000" b="1" i="0" noProof="0" dirty="0">
                <a:solidFill>
                  <a:srgbClr val="3669BE"/>
                </a:solidFill>
                <a:latin typeface="Aptos"/>
              </a:rPr>
              <a:t>PROČ TATO KOMBINACE?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31720" y="4992624"/>
            <a:ext cx="8979408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080" b="0" i="0" noProof="0" dirty="0">
                <a:solidFill>
                  <a:srgbClr val="283442"/>
                </a:solidFill>
                <a:latin typeface="Aptos"/>
              </a:rPr>
              <a:t>Průvodce je rychlý a škálovatelný; workshop učí postup prakticky; změna hodnocení dlouhodoběji podporuje vlastní porozumění. Pilot umožní ověřit přijetí i užitečnost před širším zavedením.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02920" y="6473952"/>
            <a:ext cx="11183112" cy="0"/>
          </a:xfrm>
          <a:prstGeom prst="line">
            <a:avLst/>
          </a:prstGeom>
          <a:ln w="8890">
            <a:solidFill>
              <a:srgbClr val="DAE2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21207" y="6519672"/>
            <a:ext cx="722376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750" b="0" i="0" noProof="0" dirty="0">
                <a:solidFill>
                  <a:srgbClr val="667585"/>
                </a:solidFill>
                <a:latin typeface="Aptos"/>
              </a:rPr>
              <a:t>TÝM 10  ·  ŘEŠENÍ PROBLÉMŮ  ·  FIS VŠE  ·  OBSAH 9/10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06640" y="6510528"/>
            <a:ext cx="4251960" cy="1737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720" b="0" i="0" noProof="0" dirty="0">
                <a:solidFill>
                  <a:srgbClr val="667585"/>
                </a:solidFill>
                <a:latin typeface="Aptos"/>
              </a:rPr>
              <a:t>Výchozí důkazy: [2, 3] · cíle jsou návrhy, nikoli dosažené výsledky.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02920" y="246888"/>
            <a:ext cx="1024128" cy="256032"/>
          </a:xfrm>
          <a:prstGeom prst="roundRect">
            <a:avLst/>
          </a:prstGeom>
          <a:solidFill>
            <a:srgbClr val="EFF5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3" name="TextBox 2"/>
          <p:cNvSpPr txBox="1"/>
          <p:nvPr/>
        </p:nvSpPr>
        <p:spPr>
          <a:xfrm>
            <a:off x="548640" y="278892"/>
            <a:ext cx="932688" cy="1737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900" b="1" i="0" noProof="0" dirty="0">
                <a:solidFill>
                  <a:srgbClr val="3669BE"/>
                </a:solidFill>
                <a:latin typeface="Aptos"/>
              </a:rPr>
              <a:t>IMPLEMENTACE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94360"/>
            <a:ext cx="1106424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2600" b="1" i="0" noProof="0" dirty="0">
                <a:solidFill>
                  <a:srgbClr val="132A43"/>
                </a:solidFill>
                <a:latin typeface="Aptos Display"/>
              </a:rPr>
              <a:t>Jak řešení otestujeme a poznáme, zda funguje?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088136"/>
            <a:ext cx="110185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150" b="0" i="0" noProof="0" dirty="0">
                <a:solidFill>
                  <a:srgbClr val="667585"/>
                </a:solidFill>
                <a:latin typeface="Aptos"/>
              </a:rPr>
              <a:t>Postupné pilotování omezuje náklady a umožňuje upravit návrh podle zpětné vazby.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1426464"/>
            <a:ext cx="11183112" cy="0"/>
          </a:xfrm>
          <a:prstGeom prst="line">
            <a:avLst/>
          </a:prstGeom>
          <a:ln w="11430">
            <a:solidFill>
              <a:srgbClr val="DAE2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1402568" y="265176"/>
            <a:ext cx="118872" cy="118872"/>
          </a:xfrm>
          <a:prstGeom prst="ellipse">
            <a:avLst/>
          </a:prstGeom>
          <a:solidFill>
            <a:srgbClr val="1F8E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8" name="Oval 7"/>
          <p:cNvSpPr/>
          <p:nvPr/>
        </p:nvSpPr>
        <p:spPr>
          <a:xfrm>
            <a:off x="11548872" y="265176"/>
            <a:ext cx="118872" cy="118872"/>
          </a:xfrm>
          <a:prstGeom prst="ellipse">
            <a:avLst/>
          </a:prstGeom>
          <a:solidFill>
            <a:srgbClr val="3669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9" name="Rounded Rectangle 8"/>
          <p:cNvSpPr/>
          <p:nvPr/>
        </p:nvSpPr>
        <p:spPr>
          <a:xfrm>
            <a:off x="585216" y="1664208"/>
            <a:ext cx="3520440" cy="1426464"/>
          </a:xfrm>
          <a:prstGeom prst="roundRect">
            <a:avLst/>
          </a:prstGeom>
          <a:solidFill>
            <a:srgbClr val="EFF5FC"/>
          </a:solidFill>
          <a:ln w="1016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10" name="Rounded Rectangle 9"/>
          <p:cNvSpPr/>
          <p:nvPr/>
        </p:nvSpPr>
        <p:spPr>
          <a:xfrm>
            <a:off x="585216" y="1664208"/>
            <a:ext cx="68580" cy="1426464"/>
          </a:xfrm>
          <a:prstGeom prst="roundRect">
            <a:avLst/>
          </a:prstGeom>
          <a:solidFill>
            <a:srgbClr val="3669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11" name="TextBox 10"/>
          <p:cNvSpPr txBox="1"/>
          <p:nvPr/>
        </p:nvSpPr>
        <p:spPr>
          <a:xfrm>
            <a:off x="749808" y="1773936"/>
            <a:ext cx="32278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220" b="1" i="0" noProof="0" dirty="0">
                <a:solidFill>
                  <a:srgbClr val="3669BE"/>
                </a:solidFill>
                <a:latin typeface="Aptos"/>
              </a:rPr>
              <a:t>1  ·  PŘIPRAVIT PRŮVODCE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2093976"/>
            <a:ext cx="3227832" cy="914400"/>
          </a:xfrm>
          <a:prstGeom prst="rect">
            <a:avLst/>
          </a:prstGeom>
          <a:noFill/>
        </p:spPr>
        <p:txBody>
          <a:bodyPr wrap="square" lIns="9144" tIns="9144" r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000" b="0" i="0" noProof="0" dirty="0">
                <a:solidFill>
                  <a:srgbClr val="283442"/>
                </a:solidFill>
                <a:latin typeface="Aptos"/>
              </a:rPr>
              <a:t>Otestovat text s malou skupinou, představit na cvičení.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000" b="0" i="0" noProof="0" dirty="0">
                <a:solidFill>
                  <a:srgbClr val="283442"/>
                </a:solidFill>
                <a:latin typeface="Aptos"/>
              </a:rPr>
              <a:t>Odpovědnost: tým + vyučující.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34256" y="1664208"/>
            <a:ext cx="3520440" cy="1426464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14" name="Rounded Rectangle 13"/>
          <p:cNvSpPr/>
          <p:nvPr/>
        </p:nvSpPr>
        <p:spPr>
          <a:xfrm>
            <a:off x="4334256" y="1664208"/>
            <a:ext cx="68580" cy="1426464"/>
          </a:xfrm>
          <a:prstGeom prst="roundRect">
            <a:avLst/>
          </a:prstGeom>
          <a:solidFill>
            <a:srgbClr val="1F8E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15" name="TextBox 14"/>
          <p:cNvSpPr txBox="1"/>
          <p:nvPr/>
        </p:nvSpPr>
        <p:spPr>
          <a:xfrm>
            <a:off x="4498848" y="1773936"/>
            <a:ext cx="32278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220" b="1" i="0" noProof="0" dirty="0">
                <a:solidFill>
                  <a:srgbClr val="1F8E89"/>
                </a:solidFill>
                <a:latin typeface="Aptos"/>
              </a:rPr>
              <a:t>2  ·  OTESTOVAT WORKSHOP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98848" y="2093976"/>
            <a:ext cx="3227832" cy="914400"/>
          </a:xfrm>
          <a:prstGeom prst="rect">
            <a:avLst/>
          </a:prstGeom>
          <a:noFill/>
        </p:spPr>
        <p:txBody>
          <a:bodyPr wrap="square" lIns="9144" tIns="9144" r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980" b="0" i="0" noProof="0" dirty="0">
                <a:solidFill>
                  <a:srgbClr val="283442"/>
                </a:solidFill>
                <a:latin typeface="Aptos"/>
              </a:rPr>
              <a:t>Zařadit do cvičení, použít reálnou úlohu a krátký dotazník.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980" b="0" i="0" noProof="0" dirty="0">
                <a:solidFill>
                  <a:srgbClr val="283442"/>
                </a:solidFill>
                <a:latin typeface="Aptos"/>
              </a:rPr>
              <a:t>Odpovědnost: tým + vyučující / spolek.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83296" y="1664208"/>
            <a:ext cx="3520440" cy="1426464"/>
          </a:xfrm>
          <a:prstGeom prst="roundRect">
            <a:avLst/>
          </a:prstGeom>
          <a:solidFill>
            <a:srgbClr val="FCF6EB"/>
          </a:solidFill>
          <a:ln w="1016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18" name="Rounded Rectangle 17"/>
          <p:cNvSpPr/>
          <p:nvPr/>
        </p:nvSpPr>
        <p:spPr>
          <a:xfrm>
            <a:off x="8083296" y="1664208"/>
            <a:ext cx="68580" cy="1426464"/>
          </a:xfrm>
          <a:prstGeom prst="roundRect">
            <a:avLst/>
          </a:prstGeom>
          <a:solidFill>
            <a:srgbClr val="D08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19" name="TextBox 18"/>
          <p:cNvSpPr txBox="1"/>
          <p:nvPr/>
        </p:nvSpPr>
        <p:spPr>
          <a:xfrm>
            <a:off x="8247888" y="1773936"/>
            <a:ext cx="32278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170" b="1" i="0" noProof="0" dirty="0">
                <a:solidFill>
                  <a:srgbClr val="D08D32"/>
                </a:solidFill>
                <a:latin typeface="Aptos"/>
              </a:rPr>
              <a:t>3  ·  NAVRHNOUT PILOT HODNOCENÍ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7888" y="2093976"/>
            <a:ext cx="3227832" cy="914400"/>
          </a:xfrm>
          <a:prstGeom prst="rect">
            <a:avLst/>
          </a:prstGeom>
          <a:noFill/>
        </p:spPr>
        <p:txBody>
          <a:bodyPr wrap="square" lIns="9144" tIns="9144" r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960" b="0" i="0" noProof="0" dirty="0">
                <a:solidFill>
                  <a:srgbClr val="283442"/>
                </a:solidFill>
                <a:latin typeface="Aptos"/>
              </a:rPr>
              <a:t>Vybrat jeden předmět a spolu s vyučujícím navrhnout úlohu.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960" b="0" i="0" noProof="0" dirty="0">
                <a:solidFill>
                  <a:srgbClr val="283442"/>
                </a:solidFill>
                <a:latin typeface="Aptos"/>
              </a:rPr>
              <a:t>Odpovědnost: vyučující + FIS.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85216" y="3337560"/>
            <a:ext cx="5486400" cy="2487168"/>
          </a:xfrm>
          <a:prstGeom prst="roundRect">
            <a:avLst/>
          </a:prstGeom>
          <a:solidFill>
            <a:srgbClr val="FCF1F0"/>
          </a:solidFill>
          <a:ln w="1016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22" name="Rounded Rectangle 21"/>
          <p:cNvSpPr/>
          <p:nvPr/>
        </p:nvSpPr>
        <p:spPr>
          <a:xfrm>
            <a:off x="585216" y="3337560"/>
            <a:ext cx="68580" cy="2487168"/>
          </a:xfrm>
          <a:prstGeom prst="roundRect">
            <a:avLst/>
          </a:prstGeom>
          <a:solidFill>
            <a:srgbClr val="B84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23" name="TextBox 22"/>
          <p:cNvSpPr txBox="1"/>
          <p:nvPr/>
        </p:nvSpPr>
        <p:spPr>
          <a:xfrm>
            <a:off x="749808" y="3447288"/>
            <a:ext cx="5193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300" b="1" i="0" noProof="0" dirty="0">
                <a:solidFill>
                  <a:srgbClr val="B84F4F"/>
                </a:solidFill>
                <a:latin typeface="Aptos"/>
              </a:rPr>
              <a:t>RIZIKA A OPATŘENÍ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8" y="3767328"/>
            <a:ext cx="5193792" cy="1975104"/>
          </a:xfrm>
          <a:prstGeom prst="rect">
            <a:avLst/>
          </a:prstGeom>
          <a:noFill/>
        </p:spPr>
        <p:txBody>
          <a:bodyPr wrap="square" lIns="9144" tIns="9144" r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050" b="0" i="0" noProof="0" dirty="0">
                <a:solidFill>
                  <a:srgbClr val="283442"/>
                </a:solidFill>
                <a:latin typeface="Aptos"/>
              </a:rPr>
              <a:t>• Nízká účast → zařadit workshop do běžného cvičení.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050" b="0" i="0" noProof="0" dirty="0">
                <a:solidFill>
                  <a:srgbClr val="283442"/>
                </a:solidFill>
                <a:latin typeface="Aptos"/>
              </a:rPr>
              <a:t>• Průvodce studenti ignorují → sdílet jej přes </a:t>
            </a:r>
            <a:r>
              <a:rPr lang="cs-CZ" sz="1050" b="0" i="0" noProof="0" dirty="0" err="1">
                <a:solidFill>
                  <a:srgbClr val="283442"/>
                </a:solidFill>
                <a:latin typeface="Aptos"/>
              </a:rPr>
              <a:t>InSIS</a:t>
            </a:r>
            <a:r>
              <a:rPr lang="cs-CZ" sz="1050" b="0" i="0" noProof="0" dirty="0">
                <a:solidFill>
                  <a:srgbClr val="283442"/>
                </a:solidFill>
                <a:latin typeface="Aptos"/>
              </a:rPr>
              <a:t> a použít v praxi.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050" b="0" i="0" noProof="0" dirty="0">
                <a:solidFill>
                  <a:srgbClr val="283442"/>
                </a:solidFill>
                <a:latin typeface="Aptos"/>
              </a:rPr>
              <a:t>• Odpor ke změně hodnocení → začít malým pilotem v jednom předmětu.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050" b="0" i="0" noProof="0" dirty="0">
                <a:solidFill>
                  <a:srgbClr val="283442"/>
                </a:solidFill>
                <a:latin typeface="Aptos"/>
              </a:rPr>
              <a:t>• Chování se obtížně měří → kombinovat dotazník a úlohu bez AI.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91072" y="3337560"/>
            <a:ext cx="5303520" cy="2487168"/>
          </a:xfrm>
          <a:prstGeom prst="roundRect">
            <a:avLst/>
          </a:prstGeom>
          <a:solidFill>
            <a:srgbClr val="EFF5FC"/>
          </a:solidFill>
          <a:ln w="1016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26" name="Rounded Rectangle 25"/>
          <p:cNvSpPr/>
          <p:nvPr/>
        </p:nvSpPr>
        <p:spPr>
          <a:xfrm>
            <a:off x="6291072" y="3337560"/>
            <a:ext cx="68580" cy="2487168"/>
          </a:xfrm>
          <a:prstGeom prst="roundRect">
            <a:avLst/>
          </a:prstGeom>
          <a:solidFill>
            <a:srgbClr val="3669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27" name="TextBox 26"/>
          <p:cNvSpPr txBox="1"/>
          <p:nvPr/>
        </p:nvSpPr>
        <p:spPr>
          <a:xfrm>
            <a:off x="6455664" y="3447288"/>
            <a:ext cx="501091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300" b="1" i="0" noProof="0" dirty="0">
                <a:solidFill>
                  <a:srgbClr val="3669BE"/>
                </a:solidFill>
                <a:latin typeface="Aptos"/>
              </a:rPr>
              <a:t>JAK POZNÁME ÚSPĚCH?  ·  KPI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55664" y="3767328"/>
            <a:ext cx="5010912" cy="1975104"/>
          </a:xfrm>
          <a:prstGeom prst="rect">
            <a:avLst/>
          </a:prstGeom>
          <a:noFill/>
        </p:spPr>
        <p:txBody>
          <a:bodyPr wrap="square" lIns="9144" tIns="9144" r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040" b="0" i="0" noProof="0" dirty="0">
                <a:solidFill>
                  <a:srgbClr val="283442"/>
                </a:solidFill>
                <a:latin typeface="Aptos"/>
              </a:rPr>
              <a:t>• Zapojení: počet studentů, kteří použijí průvodce/workshop.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040" b="0" i="0" noProof="0" dirty="0">
                <a:solidFill>
                  <a:srgbClr val="283442"/>
                </a:solidFill>
                <a:latin typeface="Aptos"/>
              </a:rPr>
              <a:t>• Užitečnost: ≥ 70 % účastníků hodnotí materiál jako užitečný.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040" b="0" i="0" noProof="0" dirty="0">
                <a:solidFill>
                  <a:srgbClr val="283442"/>
                </a:solidFill>
                <a:latin typeface="Aptos"/>
              </a:rPr>
              <a:t>• Změna návyků: častější využití nápověd a ověřování místo hotových odpovědí.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040" b="0" i="0" noProof="0" dirty="0">
                <a:solidFill>
                  <a:srgbClr val="283442"/>
                </a:solidFill>
                <a:latin typeface="Aptos"/>
              </a:rPr>
              <a:t>• Systémová změna: alespoň 1 pilotní předmět ověřuje samostatné porozumění.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" y="5998464"/>
            <a:ext cx="10972800" cy="2103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880" b="0" i="0" noProof="0" dirty="0">
                <a:solidFill>
                  <a:srgbClr val="667585"/>
                </a:solidFill>
                <a:latin typeface="Aptos"/>
              </a:rPr>
              <a:t>Uvedené cíle jsou plánované ukazatele. Výsledek se má měřit po pilotu, ne předpokládat předem.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02920" y="6473952"/>
            <a:ext cx="11183112" cy="0"/>
          </a:xfrm>
          <a:prstGeom prst="line">
            <a:avLst/>
          </a:prstGeom>
          <a:ln w="8890">
            <a:solidFill>
              <a:srgbClr val="DAE2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521207" y="6519672"/>
            <a:ext cx="722376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750" b="0" i="0" noProof="0" dirty="0">
                <a:solidFill>
                  <a:srgbClr val="667585"/>
                </a:solidFill>
                <a:latin typeface="Aptos"/>
              </a:rPr>
              <a:t>TÝM 10  ·  ŘEŠENÍ PROBLÉMŮ  ·  FIS VŠE  ·  OBSAH 10/10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2A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58368" y="640080"/>
            <a:ext cx="1417320" cy="256032"/>
          </a:xfrm>
          <a:prstGeom prst="roundRect">
            <a:avLst/>
          </a:prstGeom>
          <a:solidFill>
            <a:srgbClr val="294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3" name="TextBox 2"/>
          <p:cNvSpPr txBox="1"/>
          <p:nvPr/>
        </p:nvSpPr>
        <p:spPr>
          <a:xfrm>
            <a:off x="704088" y="672084"/>
            <a:ext cx="1325880" cy="1737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000" b="1" i="0" noProof="0" dirty="0">
                <a:solidFill>
                  <a:srgbClr val="C4E0FF"/>
                </a:solidFill>
                <a:latin typeface="Aptos"/>
              </a:rPr>
              <a:t>ZÁVĚR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34440"/>
            <a:ext cx="1069848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2800" b="1" i="0" noProof="0" dirty="0">
                <a:solidFill>
                  <a:srgbClr val="FFFFFF"/>
                </a:solidFill>
                <a:latin typeface="Aptos Display"/>
              </a:rPr>
              <a:t>AI nemá nahrazovat vlastní učení.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2800" b="1" i="0" noProof="0" dirty="0">
                <a:solidFill>
                  <a:srgbClr val="FFFFFF"/>
                </a:solidFill>
                <a:latin typeface="Aptos Display"/>
              </a:rPr>
              <a:t>Má studentům pomáhat lépe přemýšlet.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871216"/>
            <a:ext cx="10149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500" b="0" i="0" noProof="0" dirty="0">
                <a:solidFill>
                  <a:srgbClr val="C2D6EC"/>
                </a:solidFill>
                <a:latin typeface="Aptos"/>
              </a:rPr>
              <a:t>Od rychlé pomoci k dlouhodobé změně návyků: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3749039"/>
            <a:ext cx="3072384" cy="1225296"/>
          </a:xfrm>
          <a:prstGeom prst="roundRect">
            <a:avLst/>
          </a:prstGeom>
          <a:solidFill>
            <a:srgbClr val="1F3C5B"/>
          </a:solidFill>
          <a:ln w="10160">
            <a:solidFill>
              <a:srgbClr val="3F5B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7" name="TextBox 6"/>
          <p:cNvSpPr txBox="1"/>
          <p:nvPr/>
        </p:nvSpPr>
        <p:spPr>
          <a:xfrm>
            <a:off x="841248" y="4014215"/>
            <a:ext cx="276148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250" b="1" i="0" noProof="0" dirty="0">
                <a:solidFill>
                  <a:srgbClr val="3669BE"/>
                </a:solidFill>
                <a:latin typeface="Aptos"/>
              </a:rPr>
              <a:t>PRŮVODCE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4416552"/>
            <a:ext cx="276148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150" b="0" i="0" noProof="0" dirty="0">
                <a:solidFill>
                  <a:srgbClr val="FFFFFF"/>
                </a:solidFill>
                <a:latin typeface="Aptos"/>
              </a:rPr>
              <a:t>Dostupná podpora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60520" y="3749039"/>
            <a:ext cx="3072384" cy="1225296"/>
          </a:xfrm>
          <a:prstGeom prst="roundRect">
            <a:avLst/>
          </a:prstGeom>
          <a:solidFill>
            <a:srgbClr val="1F3C5B"/>
          </a:solidFill>
          <a:ln w="10160">
            <a:solidFill>
              <a:srgbClr val="3F5B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10" name="TextBox 9"/>
          <p:cNvSpPr txBox="1"/>
          <p:nvPr/>
        </p:nvSpPr>
        <p:spPr>
          <a:xfrm>
            <a:off x="4315968" y="4014215"/>
            <a:ext cx="276148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250" b="1" i="0" noProof="0" dirty="0">
                <a:solidFill>
                  <a:srgbClr val="1F8E89"/>
                </a:solidFill>
                <a:latin typeface="Aptos"/>
              </a:rPr>
              <a:t>WORKSHOP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15968" y="4416552"/>
            <a:ext cx="276148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150" b="0" i="0" noProof="0" dirty="0">
                <a:solidFill>
                  <a:srgbClr val="FFFFFF"/>
                </a:solidFill>
                <a:latin typeface="Aptos"/>
              </a:rPr>
              <a:t>Praktický nácvik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35240" y="3749039"/>
            <a:ext cx="3072384" cy="1225296"/>
          </a:xfrm>
          <a:prstGeom prst="roundRect">
            <a:avLst/>
          </a:prstGeom>
          <a:solidFill>
            <a:srgbClr val="1F3C5B"/>
          </a:solidFill>
          <a:ln w="10160">
            <a:solidFill>
              <a:srgbClr val="3F5B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13" name="TextBox 12"/>
          <p:cNvSpPr txBox="1"/>
          <p:nvPr/>
        </p:nvSpPr>
        <p:spPr>
          <a:xfrm>
            <a:off x="7790688" y="4014215"/>
            <a:ext cx="276148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250" b="1" i="0" noProof="0" dirty="0">
                <a:solidFill>
                  <a:srgbClr val="D08D32"/>
                </a:solidFill>
                <a:latin typeface="Aptos"/>
              </a:rPr>
              <a:t>ZMĚNA HODNOCENÍ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90688" y="4416552"/>
            <a:ext cx="276148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150" b="0" i="0" noProof="0" dirty="0">
                <a:solidFill>
                  <a:srgbClr val="FFFFFF"/>
                </a:solidFill>
                <a:latin typeface="Aptos"/>
              </a:rPr>
              <a:t>Samostatné porozumění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" y="5806440"/>
            <a:ext cx="1060704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200" b="0" i="0" noProof="0" dirty="0">
                <a:solidFill>
                  <a:srgbClr val="BED2E8"/>
                </a:solidFill>
                <a:latin typeface="Aptos"/>
              </a:rPr>
              <a:t>Návrh nejprve pilotně ověříme a rozšíříme až podle výsledků.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4407408" y="932688"/>
            <a:ext cx="3383280" cy="3383280"/>
          </a:xfrm>
          <a:prstGeom prst="ellipse">
            <a:avLst/>
          </a:prstGeom>
          <a:solidFill>
            <a:srgbClr val="EFF5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3" name="Oval 2"/>
          <p:cNvSpPr/>
          <p:nvPr/>
        </p:nvSpPr>
        <p:spPr>
          <a:xfrm>
            <a:off x="5074920" y="1600200"/>
            <a:ext cx="2048256" cy="2048256"/>
          </a:xfrm>
          <a:prstGeom prst="ellipse">
            <a:avLst/>
          </a:prstGeom>
          <a:solidFill>
            <a:srgbClr val="3669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5166360" y="1993392"/>
            <a:ext cx="1865376" cy="11521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3500" b="1" i="0" noProof="0" dirty="0">
                <a:solidFill>
                  <a:srgbClr val="FFFFFF"/>
                </a:solidFill>
                <a:latin typeface="Aptos Display"/>
              </a:rPr>
              <a:t>Q&amp;A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0" y="4663440"/>
            <a:ext cx="76352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2500" b="1" i="0" noProof="0" dirty="0">
                <a:solidFill>
                  <a:srgbClr val="132A43"/>
                </a:solidFill>
                <a:latin typeface="Aptos Display"/>
              </a:rPr>
              <a:t>Děkujeme za pozornost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0" y="5294376"/>
            <a:ext cx="7635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300" b="0" i="0" noProof="0" dirty="0">
                <a:solidFill>
                  <a:srgbClr val="667585"/>
                </a:solidFill>
                <a:latin typeface="Aptos"/>
              </a:rPr>
              <a:t>Rádi odpovíme na vaše otázky a připomínky.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" y="6473952"/>
            <a:ext cx="11183112" cy="0"/>
          </a:xfrm>
          <a:prstGeom prst="line">
            <a:avLst/>
          </a:prstGeom>
          <a:ln w="8890">
            <a:solidFill>
              <a:srgbClr val="DAE2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21207" y="6519672"/>
            <a:ext cx="722376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750" b="0" i="0" noProof="0" dirty="0">
                <a:solidFill>
                  <a:srgbClr val="667585"/>
                </a:solidFill>
                <a:latin typeface="Aptos"/>
              </a:rPr>
              <a:t>TÝM 10  ·  ŘEŠENÍ PROBLÉMŮ  ·  FIS VŠE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02920" y="246888"/>
            <a:ext cx="1024128" cy="256032"/>
          </a:xfrm>
          <a:prstGeom prst="roundRect">
            <a:avLst/>
          </a:prstGeom>
          <a:solidFill>
            <a:srgbClr val="EFF5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3" name="TextBox 2"/>
          <p:cNvSpPr txBox="1"/>
          <p:nvPr/>
        </p:nvSpPr>
        <p:spPr>
          <a:xfrm>
            <a:off x="548640" y="296510"/>
            <a:ext cx="932688" cy="1384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900" b="1" dirty="0">
                <a:solidFill>
                  <a:srgbClr val="3669BE"/>
                </a:solidFill>
                <a:latin typeface="Aptos"/>
              </a:rPr>
              <a:t>BACKUP</a:t>
            </a:r>
            <a:endParaRPr lang="cs-CZ" sz="900" b="1" i="0" noProof="0" dirty="0">
              <a:solidFill>
                <a:srgbClr val="3669BE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594360"/>
            <a:ext cx="1106424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2600" b="1" i="0" noProof="0" dirty="0">
                <a:solidFill>
                  <a:srgbClr val="132A43"/>
                </a:solidFill>
                <a:latin typeface="Aptos Display"/>
              </a:rPr>
              <a:t>Co ukázal náš dotazník?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088136"/>
            <a:ext cx="110185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150" b="0" i="0" noProof="0" dirty="0">
                <a:solidFill>
                  <a:srgbClr val="667585"/>
                </a:solidFill>
                <a:latin typeface="Aptos"/>
              </a:rPr>
              <a:t>Anonymní dotazník mezi prváky FIS · n = 23 · vlastní průzkum týmu 10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1426464"/>
            <a:ext cx="11183112" cy="0"/>
          </a:xfrm>
          <a:prstGeom prst="line">
            <a:avLst/>
          </a:prstGeom>
          <a:ln w="11430">
            <a:solidFill>
              <a:srgbClr val="DAE2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1402568" y="265176"/>
            <a:ext cx="118872" cy="118872"/>
          </a:xfrm>
          <a:prstGeom prst="ellipse">
            <a:avLst/>
          </a:prstGeom>
          <a:solidFill>
            <a:srgbClr val="1F8E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8" name="Oval 7"/>
          <p:cNvSpPr/>
          <p:nvPr/>
        </p:nvSpPr>
        <p:spPr>
          <a:xfrm>
            <a:off x="11548872" y="265176"/>
            <a:ext cx="118872" cy="118872"/>
          </a:xfrm>
          <a:prstGeom prst="ellipse">
            <a:avLst/>
          </a:prstGeom>
          <a:solidFill>
            <a:srgbClr val="3669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9" name="Rounded Rectangle 8"/>
          <p:cNvSpPr/>
          <p:nvPr/>
        </p:nvSpPr>
        <p:spPr>
          <a:xfrm>
            <a:off x="566928" y="1673352"/>
            <a:ext cx="3538728" cy="1335024"/>
          </a:xfrm>
          <a:prstGeom prst="roundRect">
            <a:avLst/>
          </a:prstGeom>
          <a:solidFill>
            <a:srgbClr val="F6F8FB"/>
          </a:solidFill>
          <a:ln w="1016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10" name="TextBox 9"/>
          <p:cNvSpPr txBox="1"/>
          <p:nvPr/>
        </p:nvSpPr>
        <p:spPr>
          <a:xfrm>
            <a:off x="704088" y="1810512"/>
            <a:ext cx="1024128" cy="2834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200" b="1" i="0" noProof="0" dirty="0">
                <a:solidFill>
                  <a:srgbClr val="667585"/>
                </a:solidFill>
                <a:latin typeface="Aptos"/>
              </a:rPr>
              <a:t>20/23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1746504"/>
            <a:ext cx="2148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2500" b="1" i="0" noProof="0" dirty="0">
                <a:solidFill>
                  <a:srgbClr val="3669BE"/>
                </a:solidFill>
                <a:latin typeface="Aptos Display"/>
              </a:rPr>
              <a:t>87 %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2258568"/>
            <a:ext cx="3255264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080" b="1" i="0" noProof="0" dirty="0">
                <a:solidFill>
                  <a:srgbClr val="283442"/>
                </a:solidFill>
                <a:latin typeface="Aptos"/>
              </a:rPr>
              <a:t>AI používají k vyhledávání informací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79392" y="1673352"/>
            <a:ext cx="3538728" cy="1335024"/>
          </a:xfrm>
          <a:prstGeom prst="roundRect">
            <a:avLst/>
          </a:prstGeom>
          <a:solidFill>
            <a:srgbClr val="F6F8FB"/>
          </a:solidFill>
          <a:ln w="1016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14" name="TextBox 13"/>
          <p:cNvSpPr txBox="1"/>
          <p:nvPr/>
        </p:nvSpPr>
        <p:spPr>
          <a:xfrm>
            <a:off x="4416552" y="1810512"/>
            <a:ext cx="1024128" cy="2834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200" b="1" i="0" noProof="0" dirty="0">
                <a:solidFill>
                  <a:srgbClr val="667585"/>
                </a:solidFill>
                <a:latin typeface="Aptos"/>
              </a:rPr>
              <a:t>19/23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9824" y="1746504"/>
            <a:ext cx="2148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2500" b="1" i="0" noProof="0" dirty="0">
                <a:solidFill>
                  <a:srgbClr val="1F8E89"/>
                </a:solidFill>
                <a:latin typeface="Aptos Display"/>
              </a:rPr>
              <a:t>83 %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25696" y="2258568"/>
            <a:ext cx="3255264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080" b="1" i="0" noProof="0" dirty="0">
                <a:solidFill>
                  <a:srgbClr val="283442"/>
                </a:solidFill>
                <a:latin typeface="Aptos"/>
              </a:rPr>
              <a:t>AI používají při školních projektech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91856" y="1673352"/>
            <a:ext cx="3538728" cy="1335024"/>
          </a:xfrm>
          <a:prstGeom prst="roundRect">
            <a:avLst/>
          </a:prstGeom>
          <a:solidFill>
            <a:srgbClr val="F6F8FB"/>
          </a:solidFill>
          <a:ln w="1016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18" name="TextBox 17"/>
          <p:cNvSpPr txBox="1"/>
          <p:nvPr/>
        </p:nvSpPr>
        <p:spPr>
          <a:xfrm>
            <a:off x="8129016" y="1810512"/>
            <a:ext cx="1024128" cy="2834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200" b="1" i="0" noProof="0" dirty="0">
                <a:solidFill>
                  <a:srgbClr val="667585"/>
                </a:solidFill>
                <a:latin typeface="Aptos"/>
              </a:rPr>
              <a:t>16/23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62288" y="1746504"/>
            <a:ext cx="2148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2500" b="1" i="0" noProof="0" dirty="0">
                <a:solidFill>
                  <a:srgbClr val="D08D32"/>
                </a:solidFill>
                <a:latin typeface="Aptos Display"/>
              </a:rPr>
              <a:t>70 %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2258568"/>
            <a:ext cx="3255264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080" b="1" i="0" noProof="0" dirty="0">
                <a:solidFill>
                  <a:srgbClr val="283442"/>
                </a:solidFill>
                <a:latin typeface="Aptos"/>
              </a:rPr>
              <a:t>uvádí úsporu času a snazší práci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3246120"/>
            <a:ext cx="3538728" cy="1335024"/>
          </a:xfrm>
          <a:prstGeom prst="roundRect">
            <a:avLst/>
          </a:prstGeom>
          <a:solidFill>
            <a:srgbClr val="F6F8FB"/>
          </a:solidFill>
          <a:ln w="1016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22" name="TextBox 21"/>
          <p:cNvSpPr txBox="1"/>
          <p:nvPr/>
        </p:nvSpPr>
        <p:spPr>
          <a:xfrm>
            <a:off x="704088" y="3383279"/>
            <a:ext cx="1024128" cy="2834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200" b="1" i="0" noProof="0" dirty="0">
                <a:solidFill>
                  <a:srgbClr val="667585"/>
                </a:solidFill>
                <a:latin typeface="Aptos"/>
              </a:rPr>
              <a:t>12/23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37360" y="3319272"/>
            <a:ext cx="2148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2500" b="1" i="0" noProof="0" dirty="0">
                <a:solidFill>
                  <a:srgbClr val="3669BE"/>
                </a:solidFill>
                <a:latin typeface="Aptos Display"/>
              </a:rPr>
              <a:t>52 %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" y="3831335"/>
            <a:ext cx="3255264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080" b="1" i="0" noProof="0" dirty="0">
                <a:solidFill>
                  <a:srgbClr val="283442"/>
                </a:solidFill>
                <a:latin typeface="Aptos"/>
              </a:rPr>
              <a:t>AI používají na triviální úkoly velmi často nebo občas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79392" y="3246120"/>
            <a:ext cx="3538728" cy="1335024"/>
          </a:xfrm>
          <a:prstGeom prst="roundRect">
            <a:avLst/>
          </a:prstGeom>
          <a:solidFill>
            <a:srgbClr val="F6F8FB"/>
          </a:solidFill>
          <a:ln w="1016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26" name="TextBox 25"/>
          <p:cNvSpPr txBox="1"/>
          <p:nvPr/>
        </p:nvSpPr>
        <p:spPr>
          <a:xfrm>
            <a:off x="4416552" y="3383279"/>
            <a:ext cx="1024128" cy="2834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200" b="1" i="0" noProof="0" dirty="0">
                <a:solidFill>
                  <a:srgbClr val="667585"/>
                </a:solidFill>
                <a:latin typeface="Aptos"/>
              </a:rPr>
              <a:t>12/23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9824" y="3319272"/>
            <a:ext cx="2148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2500" b="1" i="0" noProof="0" dirty="0">
                <a:solidFill>
                  <a:srgbClr val="1F8E89"/>
                </a:solidFill>
                <a:latin typeface="Aptos Display"/>
              </a:rPr>
              <a:t>52 %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25696" y="3831335"/>
            <a:ext cx="3255264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080" b="1" i="0" noProof="0" dirty="0">
                <a:solidFill>
                  <a:srgbClr val="283442"/>
                </a:solidFill>
                <a:latin typeface="Aptos"/>
              </a:rPr>
              <a:t>říká, že AI někdy pomáhá a jindy nahrazuje vlastní práci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991856" y="3246120"/>
            <a:ext cx="3538728" cy="1335024"/>
          </a:xfrm>
          <a:prstGeom prst="roundRect">
            <a:avLst/>
          </a:prstGeom>
          <a:solidFill>
            <a:srgbClr val="F6F8FB"/>
          </a:solidFill>
          <a:ln w="1016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30" name="TextBox 29"/>
          <p:cNvSpPr txBox="1"/>
          <p:nvPr/>
        </p:nvSpPr>
        <p:spPr>
          <a:xfrm>
            <a:off x="8129016" y="3383279"/>
            <a:ext cx="1024128" cy="2834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200" b="1" i="0" noProof="0" dirty="0">
                <a:solidFill>
                  <a:srgbClr val="667585"/>
                </a:solidFill>
                <a:latin typeface="Aptos"/>
              </a:rPr>
              <a:t>12/23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62288" y="3319272"/>
            <a:ext cx="2148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2500" b="1" i="0" noProof="0" dirty="0">
                <a:solidFill>
                  <a:srgbClr val="D08D32"/>
                </a:solidFill>
                <a:latin typeface="Aptos Display"/>
              </a:rPr>
              <a:t>52 %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38160" y="3831335"/>
            <a:ext cx="3255264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080" b="1" i="0" noProof="0" dirty="0">
                <a:solidFill>
                  <a:srgbClr val="283442"/>
                </a:solidFill>
                <a:latin typeface="Aptos"/>
              </a:rPr>
              <a:t>kontroluje správnost odpovědí na stupni 3–4 z 5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85216" y="4882896"/>
            <a:ext cx="11045952" cy="795528"/>
          </a:xfrm>
          <a:prstGeom prst="roundRect">
            <a:avLst/>
          </a:prstGeom>
          <a:solidFill>
            <a:srgbClr val="FCF6EB"/>
          </a:solidFill>
          <a:ln w="10160">
            <a:solidFill>
              <a:srgbClr val="EFDC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34" name="TextBox 33"/>
          <p:cNvSpPr txBox="1"/>
          <p:nvPr/>
        </p:nvSpPr>
        <p:spPr>
          <a:xfrm>
            <a:off x="777240" y="5010912"/>
            <a:ext cx="1417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700" b="1" i="0" noProof="0" dirty="0">
                <a:solidFill>
                  <a:srgbClr val="D08D32"/>
                </a:solidFill>
                <a:latin typeface="Aptos"/>
              </a:rPr>
              <a:t>26 %  ·  6/23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304288" y="4983480"/>
            <a:ext cx="9006840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150" b="0" i="0" noProof="0" dirty="0">
                <a:solidFill>
                  <a:srgbClr val="283442"/>
                </a:solidFill>
                <a:latin typeface="Aptos"/>
              </a:rPr>
              <a:t>vnímají zhoršení samostatného a kritického myšlení stupněm 4–5 z 5.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1792" y="5879592"/>
            <a:ext cx="109728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930" b="0" i="0" noProof="0" dirty="0">
                <a:solidFill>
                  <a:srgbClr val="667585"/>
                </a:solidFill>
                <a:latin typeface="Aptos"/>
              </a:rPr>
              <a:t>Interpretace: data naznačují rizikové vzorce používání, ale neprokazují, že AI skutečně zhoršila schopnosti studentů. Malý </a:t>
            </a:r>
            <a:r>
              <a:rPr lang="cs-CZ" sz="930" b="0" i="0" noProof="0" dirty="0" err="1">
                <a:solidFill>
                  <a:srgbClr val="667585"/>
                </a:solidFill>
                <a:latin typeface="Aptos"/>
              </a:rPr>
              <a:t>samovýběrový</a:t>
            </a:r>
            <a:r>
              <a:rPr lang="cs-CZ" sz="930" b="0" i="0" noProof="0" dirty="0">
                <a:solidFill>
                  <a:srgbClr val="667585"/>
                </a:solidFill>
                <a:latin typeface="Aptos"/>
              </a:rPr>
              <a:t> vzorek není reprezentativní.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502920" y="6473952"/>
            <a:ext cx="11183112" cy="0"/>
          </a:xfrm>
          <a:prstGeom prst="line">
            <a:avLst/>
          </a:prstGeom>
          <a:ln w="8890">
            <a:solidFill>
              <a:srgbClr val="DAE2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521207" y="6519672"/>
            <a:ext cx="7223760" cy="1154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300"/>
              </a:spcAft>
            </a:pPr>
            <a:r>
              <a:rPr lang="cs-CZ" sz="750" b="1" dirty="0">
                <a:solidFill>
                  <a:srgbClr val="667585"/>
                </a:solidFill>
                <a:latin typeface="Aptos"/>
              </a:rPr>
              <a:t>TÝM 10  ·  ZÁLOŽNÍ SLIDE  ·  ZOBRAZIT POUZE PŘI DISKUSI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06640" y="6510528"/>
            <a:ext cx="4251960" cy="1737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720" b="0" i="0" noProof="0" dirty="0">
                <a:solidFill>
                  <a:srgbClr val="667585"/>
                </a:solidFill>
                <a:latin typeface="Aptos"/>
              </a:rPr>
              <a:t>Zdroj: Team 10 </a:t>
            </a:r>
            <a:r>
              <a:rPr lang="cs-CZ" sz="720" b="0" i="0" noProof="0" dirty="0" err="1">
                <a:solidFill>
                  <a:srgbClr val="667585"/>
                </a:solidFill>
                <a:latin typeface="Aptos"/>
              </a:rPr>
              <a:t>questionnaire</a:t>
            </a:r>
            <a:r>
              <a:rPr lang="cs-CZ" sz="720" b="0" i="0" noProof="0" dirty="0">
                <a:solidFill>
                  <a:srgbClr val="667585"/>
                </a:solidFill>
                <a:latin typeface="Aptos"/>
              </a:rPr>
              <a:t> (2026), n = 23.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02920" y="246888"/>
            <a:ext cx="1024128" cy="256032"/>
          </a:xfrm>
          <a:prstGeom prst="roundRect">
            <a:avLst/>
          </a:prstGeom>
          <a:solidFill>
            <a:srgbClr val="EFF5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3" name="TextBox 2"/>
          <p:cNvSpPr txBox="1"/>
          <p:nvPr/>
        </p:nvSpPr>
        <p:spPr>
          <a:xfrm>
            <a:off x="548640" y="278892"/>
            <a:ext cx="932688" cy="1737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900" b="1" i="0" noProof="0" dirty="0">
                <a:solidFill>
                  <a:srgbClr val="3669BE"/>
                </a:solidFill>
                <a:latin typeface="Aptos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94360"/>
            <a:ext cx="1106424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2600" b="1" i="0" noProof="0" dirty="0">
                <a:solidFill>
                  <a:srgbClr val="132A43"/>
                </a:solidFill>
                <a:latin typeface="Aptos Display"/>
              </a:rPr>
              <a:t>Podrobné výsledky dotazníku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088136"/>
            <a:ext cx="110185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150" b="0" i="0" noProof="0" dirty="0">
                <a:solidFill>
                  <a:srgbClr val="667585"/>
                </a:solidFill>
                <a:latin typeface="Aptos"/>
              </a:rPr>
              <a:t>n = 23 · otázky s více odpověďmi umožňovaly vybrat více možností.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1426464"/>
            <a:ext cx="11183112" cy="0"/>
          </a:xfrm>
          <a:prstGeom prst="line">
            <a:avLst/>
          </a:prstGeom>
          <a:ln w="11430">
            <a:solidFill>
              <a:srgbClr val="DAE2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1402568" y="265176"/>
            <a:ext cx="118872" cy="118872"/>
          </a:xfrm>
          <a:prstGeom prst="ellipse">
            <a:avLst/>
          </a:prstGeom>
          <a:solidFill>
            <a:srgbClr val="1F8E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8" name="Oval 7"/>
          <p:cNvSpPr/>
          <p:nvPr/>
        </p:nvSpPr>
        <p:spPr>
          <a:xfrm>
            <a:off x="11548872" y="265176"/>
            <a:ext cx="118872" cy="118872"/>
          </a:xfrm>
          <a:prstGeom prst="ellipse">
            <a:avLst/>
          </a:prstGeom>
          <a:solidFill>
            <a:srgbClr val="3669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9" name="Rounded Rectangle 8"/>
          <p:cNvSpPr/>
          <p:nvPr/>
        </p:nvSpPr>
        <p:spPr>
          <a:xfrm>
            <a:off x="594360" y="1673352"/>
            <a:ext cx="5376672" cy="1956816"/>
          </a:xfrm>
          <a:prstGeom prst="roundRect">
            <a:avLst/>
          </a:prstGeom>
          <a:solidFill>
            <a:srgbClr val="EFF5FC"/>
          </a:solidFill>
          <a:ln w="1016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10" name="Rounded Rectangle 9"/>
          <p:cNvSpPr/>
          <p:nvPr/>
        </p:nvSpPr>
        <p:spPr>
          <a:xfrm>
            <a:off x="594360" y="1673352"/>
            <a:ext cx="68580" cy="1956816"/>
          </a:xfrm>
          <a:prstGeom prst="roundRect">
            <a:avLst/>
          </a:prstGeom>
          <a:solidFill>
            <a:srgbClr val="3669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11" name="TextBox 10"/>
          <p:cNvSpPr txBox="1"/>
          <p:nvPr/>
        </p:nvSpPr>
        <p:spPr>
          <a:xfrm>
            <a:off x="758952" y="1783080"/>
            <a:ext cx="508406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250" b="1" i="0" noProof="0" dirty="0">
                <a:solidFill>
                  <a:srgbClr val="3669BE"/>
                </a:solidFill>
                <a:latin typeface="Aptos"/>
              </a:rPr>
              <a:t>NEJČASTĚJŠÍ ÚČELY POUŽITÍ 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" y="2103120"/>
            <a:ext cx="5084064" cy="1444752"/>
          </a:xfrm>
          <a:prstGeom prst="rect">
            <a:avLst/>
          </a:prstGeom>
          <a:noFill/>
        </p:spPr>
        <p:txBody>
          <a:bodyPr wrap="square" lIns="9144" tIns="9144" r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000" b="0" i="0" noProof="0" dirty="0">
                <a:solidFill>
                  <a:srgbClr val="283442"/>
                </a:solidFill>
                <a:latin typeface="Aptos"/>
              </a:rPr>
              <a:t>Vyhledávání informací  20/23 (87 %)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000" b="0" i="0" noProof="0" dirty="0">
                <a:solidFill>
                  <a:srgbClr val="283442"/>
                </a:solidFill>
                <a:latin typeface="Aptos"/>
              </a:rPr>
              <a:t>Školní projekty  19/23 (83 %)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000" b="0" i="0" noProof="0" dirty="0">
                <a:solidFill>
                  <a:srgbClr val="283442"/>
                </a:solidFill>
                <a:latin typeface="Aptos"/>
              </a:rPr>
              <a:t>Debugging kódu  17/23 (74 %)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000" b="0" i="0" noProof="0" dirty="0">
                <a:solidFill>
                  <a:srgbClr val="283442"/>
                </a:solidFill>
                <a:latin typeface="Aptos"/>
              </a:rPr>
              <a:t>Psaní e-mailů / zpráv  14/23 (61 %)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000" b="0" i="0" noProof="0" dirty="0">
                <a:solidFill>
                  <a:srgbClr val="283442"/>
                </a:solidFill>
                <a:latin typeface="Aptos"/>
              </a:rPr>
              <a:t>Generování kódu  13/23 (57 %)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000" b="0" i="0" noProof="0" dirty="0">
                <a:solidFill>
                  <a:srgbClr val="283442"/>
                </a:solidFill>
                <a:latin typeface="Aptos"/>
              </a:rPr>
              <a:t>Shrnutí textů / videí  12/23 (52 %)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9632" y="1673352"/>
            <a:ext cx="5376672" cy="1956816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14" name="Rounded Rectangle 13"/>
          <p:cNvSpPr/>
          <p:nvPr/>
        </p:nvSpPr>
        <p:spPr>
          <a:xfrm>
            <a:off x="6199632" y="1673352"/>
            <a:ext cx="68580" cy="1956816"/>
          </a:xfrm>
          <a:prstGeom prst="roundRect">
            <a:avLst/>
          </a:prstGeom>
          <a:solidFill>
            <a:srgbClr val="1F8E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15" name="TextBox 14"/>
          <p:cNvSpPr txBox="1"/>
          <p:nvPr/>
        </p:nvSpPr>
        <p:spPr>
          <a:xfrm>
            <a:off x="6364224" y="1783080"/>
            <a:ext cx="508406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250" b="1" i="0" noProof="0" dirty="0">
                <a:solidFill>
                  <a:srgbClr val="1F8E89"/>
                </a:solidFill>
                <a:latin typeface="Aptos"/>
              </a:rPr>
              <a:t>DŮVODY POUŽÍVÁNÍ AI PŘI STUDIU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4224" y="2103120"/>
            <a:ext cx="5084064" cy="1444752"/>
          </a:xfrm>
          <a:prstGeom prst="rect">
            <a:avLst/>
          </a:prstGeom>
          <a:noFill/>
        </p:spPr>
        <p:txBody>
          <a:bodyPr wrap="square" lIns="9144" tIns="9144" r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000" b="0" i="0" noProof="0" dirty="0">
                <a:solidFill>
                  <a:srgbClr val="283442"/>
                </a:solidFill>
                <a:latin typeface="Aptos"/>
              </a:rPr>
              <a:t>Úspora času a snazší práce  16/23 (70 %)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000" b="0" i="0" noProof="0" dirty="0">
                <a:solidFill>
                  <a:srgbClr val="283442"/>
                </a:solidFill>
                <a:latin typeface="Aptos"/>
              </a:rPr>
              <a:t>Pomáhá pochopit látku  14/23 (61 %)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000" b="0" i="0" noProof="0" dirty="0">
                <a:solidFill>
                  <a:srgbClr val="283442"/>
                </a:solidFill>
                <a:latin typeface="Aptos"/>
              </a:rPr>
              <a:t>Nevím, kde začít / jak řešit  9/23 (39 %)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000" b="0" i="0" noProof="0" dirty="0">
                <a:solidFill>
                  <a:srgbClr val="283442"/>
                </a:solidFill>
                <a:latin typeface="Aptos"/>
              </a:rPr>
              <a:t>Velké množství úkolů / termíny  6/23 (26 %)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000" b="0" i="0" noProof="0" dirty="0">
                <a:solidFill>
                  <a:srgbClr val="283442"/>
                </a:solidFill>
                <a:latin typeface="Aptos"/>
              </a:rPr>
              <a:t>Hotová odpověď je jednodušší  4/23 (17 %)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000" b="0" i="0" noProof="0" dirty="0">
                <a:solidFill>
                  <a:srgbClr val="283442"/>
                </a:solidFill>
                <a:latin typeface="Aptos"/>
              </a:rPr>
              <a:t>Zvyk / pohodlnost  4/23 (17 %)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" y="3822191"/>
            <a:ext cx="5376672" cy="1627632"/>
          </a:xfrm>
          <a:prstGeom prst="roundRect">
            <a:avLst/>
          </a:prstGeom>
          <a:solidFill>
            <a:srgbClr val="FCF6EB"/>
          </a:solidFill>
          <a:ln w="1016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18" name="Rounded Rectangle 17"/>
          <p:cNvSpPr/>
          <p:nvPr/>
        </p:nvSpPr>
        <p:spPr>
          <a:xfrm>
            <a:off x="594360" y="3822191"/>
            <a:ext cx="68580" cy="1627632"/>
          </a:xfrm>
          <a:prstGeom prst="roundRect">
            <a:avLst/>
          </a:prstGeom>
          <a:solidFill>
            <a:srgbClr val="D08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19" name="TextBox 18"/>
          <p:cNvSpPr txBox="1"/>
          <p:nvPr/>
        </p:nvSpPr>
        <p:spPr>
          <a:xfrm>
            <a:off x="758952" y="3931920"/>
            <a:ext cx="508406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230" b="1" i="0" noProof="0" dirty="0">
                <a:solidFill>
                  <a:srgbClr val="D08D32"/>
                </a:solidFill>
                <a:latin typeface="Aptos"/>
              </a:rPr>
              <a:t>TRIVIÁLNÍ ÚKOLY A STUDIUM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52" y="4251959"/>
            <a:ext cx="5084064" cy="1115568"/>
          </a:xfrm>
          <a:prstGeom prst="rect">
            <a:avLst/>
          </a:prstGeom>
          <a:noFill/>
        </p:spPr>
        <p:txBody>
          <a:bodyPr wrap="square" lIns="9144" tIns="9144" r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000" b="0" i="0" noProof="0" dirty="0">
                <a:solidFill>
                  <a:srgbClr val="283442"/>
                </a:solidFill>
                <a:latin typeface="Aptos"/>
              </a:rPr>
              <a:t>Triviální úkoly: velmi často 4, občas 8, výjimečně 8, vůbec 3.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000" b="0" i="0" noProof="0" dirty="0">
                <a:solidFill>
                  <a:srgbClr val="283442"/>
                </a:solidFill>
                <a:latin typeface="Aptos"/>
              </a:rPr>
              <a:t>Při studiu: pomoc s porozuměním 10; půl na půl 12; AI k učení nepoužívám 1.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99632" y="3822191"/>
            <a:ext cx="5376672" cy="1627632"/>
          </a:xfrm>
          <a:prstGeom prst="roundRect">
            <a:avLst/>
          </a:prstGeom>
          <a:solidFill>
            <a:srgbClr val="EFF5FC"/>
          </a:solidFill>
          <a:ln w="1016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22" name="Rounded Rectangle 21"/>
          <p:cNvSpPr/>
          <p:nvPr/>
        </p:nvSpPr>
        <p:spPr>
          <a:xfrm>
            <a:off x="6199632" y="3822191"/>
            <a:ext cx="68580" cy="1627632"/>
          </a:xfrm>
          <a:prstGeom prst="roundRect">
            <a:avLst/>
          </a:prstGeom>
          <a:solidFill>
            <a:srgbClr val="3669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23" name="TextBox 22"/>
          <p:cNvSpPr txBox="1"/>
          <p:nvPr/>
        </p:nvSpPr>
        <p:spPr>
          <a:xfrm>
            <a:off x="6364224" y="3931920"/>
            <a:ext cx="508406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230" b="1" i="0" noProof="0" dirty="0">
                <a:solidFill>
                  <a:srgbClr val="3669BE"/>
                </a:solidFill>
                <a:latin typeface="Aptos"/>
              </a:rPr>
              <a:t>OVĚŘOVÁNÍ A VNÍMANÝ DOPAD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64224" y="4251959"/>
            <a:ext cx="5084064" cy="1115568"/>
          </a:xfrm>
          <a:prstGeom prst="rect">
            <a:avLst/>
          </a:prstGeom>
          <a:noFill/>
        </p:spPr>
        <p:txBody>
          <a:bodyPr wrap="square" lIns="9144" tIns="9144" r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969" b="0" i="0" noProof="0" dirty="0">
                <a:solidFill>
                  <a:srgbClr val="283442"/>
                </a:solidFill>
                <a:latin typeface="Aptos"/>
              </a:rPr>
              <a:t>Ověřování (1 = vždy, 5 = nikdy): 1 → 0; 2 → 11; 3 → 7; 4 → 5; 5 → 0.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969" b="0" i="0" noProof="0" dirty="0">
                <a:solidFill>
                  <a:srgbClr val="283442"/>
                </a:solidFill>
                <a:latin typeface="Aptos"/>
              </a:rPr>
              <a:t>Vnímaný dopad na kritické myšlení (1 = vůbec, 5 = rozhodně): 1 → 4; 2 → 4; 3 → 9; 4 → 5; 5 → 1.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" y="5715000"/>
            <a:ext cx="108813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910" b="0" i="0" noProof="0" dirty="0">
                <a:solidFill>
                  <a:srgbClr val="667585"/>
                </a:solidFill>
                <a:latin typeface="Aptos"/>
              </a:rPr>
              <a:t>Pozor: jde o malý </a:t>
            </a:r>
            <a:r>
              <a:rPr lang="cs-CZ" sz="910" b="0" i="0" noProof="0" dirty="0" err="1">
                <a:solidFill>
                  <a:srgbClr val="667585"/>
                </a:solidFill>
                <a:latin typeface="Aptos"/>
              </a:rPr>
              <a:t>samovýběrový</a:t>
            </a:r>
            <a:r>
              <a:rPr lang="cs-CZ" sz="910" b="0" i="0" noProof="0" dirty="0">
                <a:solidFill>
                  <a:srgbClr val="667585"/>
                </a:solidFill>
                <a:latin typeface="Aptos"/>
              </a:rPr>
              <a:t> vzorek, který neumožňuje zobecnit výsledky na všechny prváky FIS.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02920" y="6473952"/>
            <a:ext cx="11183112" cy="0"/>
          </a:xfrm>
          <a:prstGeom prst="line">
            <a:avLst/>
          </a:prstGeom>
          <a:ln w="8890">
            <a:solidFill>
              <a:srgbClr val="DAE2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21207" y="6519672"/>
            <a:ext cx="85039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750" b="1" i="0" noProof="0" dirty="0">
                <a:solidFill>
                  <a:srgbClr val="667585"/>
                </a:solidFill>
                <a:latin typeface="Aptos"/>
              </a:rPr>
              <a:t>TÝM 10  ·  ZÁLOŽNÍ SLIDE  ·  ZOBRAZIT POUZE PŘI DISKUSI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02920" y="246888"/>
            <a:ext cx="1024128" cy="256032"/>
          </a:xfrm>
          <a:prstGeom prst="roundRect">
            <a:avLst/>
          </a:prstGeom>
          <a:solidFill>
            <a:srgbClr val="EFF5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3" name="TextBox 2"/>
          <p:cNvSpPr txBox="1"/>
          <p:nvPr/>
        </p:nvSpPr>
        <p:spPr>
          <a:xfrm>
            <a:off x="548640" y="278892"/>
            <a:ext cx="932688" cy="1737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900" b="1" i="0" noProof="0" dirty="0">
                <a:solidFill>
                  <a:srgbClr val="3669BE"/>
                </a:solidFill>
                <a:latin typeface="Aptos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94360"/>
            <a:ext cx="1106424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2600" b="1" i="0" noProof="0" dirty="0">
                <a:solidFill>
                  <a:srgbClr val="132A43"/>
                </a:solidFill>
                <a:latin typeface="Aptos Display"/>
              </a:rPr>
              <a:t>Rozšířený registr rizik doporučeného řešení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088136"/>
            <a:ext cx="110185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150" b="0" i="0" noProof="0" dirty="0">
                <a:solidFill>
                  <a:srgbClr val="667585"/>
                </a:solidFill>
                <a:latin typeface="Aptos"/>
              </a:rPr>
              <a:t>P a D jsou týmové odhady na stupnici 1–5; hodnoty po </a:t>
            </a:r>
            <a:r>
              <a:rPr lang="cs-CZ" sz="1150" b="0" i="0" noProof="0" dirty="0" err="1">
                <a:solidFill>
                  <a:srgbClr val="667585"/>
                </a:solidFill>
                <a:latin typeface="Aptos"/>
              </a:rPr>
              <a:t>mitigaci</a:t>
            </a:r>
            <a:r>
              <a:rPr lang="cs-CZ" sz="1150" b="0" i="0" noProof="0" dirty="0">
                <a:solidFill>
                  <a:srgbClr val="667585"/>
                </a:solidFill>
                <a:latin typeface="Aptos"/>
              </a:rPr>
              <a:t> nejsou měřené.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1426464"/>
            <a:ext cx="11183112" cy="0"/>
          </a:xfrm>
          <a:prstGeom prst="line">
            <a:avLst/>
          </a:prstGeom>
          <a:ln w="11430">
            <a:solidFill>
              <a:srgbClr val="DAE2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1402568" y="265176"/>
            <a:ext cx="118872" cy="118872"/>
          </a:xfrm>
          <a:prstGeom prst="ellipse">
            <a:avLst/>
          </a:prstGeom>
          <a:solidFill>
            <a:srgbClr val="1F8E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8" name="Oval 7"/>
          <p:cNvSpPr/>
          <p:nvPr/>
        </p:nvSpPr>
        <p:spPr>
          <a:xfrm>
            <a:off x="11548872" y="265176"/>
            <a:ext cx="118872" cy="118872"/>
          </a:xfrm>
          <a:prstGeom prst="ellipse">
            <a:avLst/>
          </a:prstGeom>
          <a:solidFill>
            <a:srgbClr val="3669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9" name="Rectangle 8"/>
          <p:cNvSpPr/>
          <p:nvPr/>
        </p:nvSpPr>
        <p:spPr>
          <a:xfrm>
            <a:off x="576072" y="1719072"/>
            <a:ext cx="2057400" cy="438912"/>
          </a:xfrm>
          <a:prstGeom prst="rect">
            <a:avLst/>
          </a:prstGeom>
          <a:solidFill>
            <a:srgbClr val="3669BE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10" name="TextBox 9"/>
          <p:cNvSpPr txBox="1"/>
          <p:nvPr/>
        </p:nvSpPr>
        <p:spPr>
          <a:xfrm>
            <a:off x="630936" y="1828800"/>
            <a:ext cx="1947672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900" b="1" i="0" noProof="0" dirty="0">
                <a:solidFill>
                  <a:srgbClr val="FFFFFF"/>
                </a:solidFill>
                <a:latin typeface="Aptos"/>
              </a:rPr>
              <a:t>RIZIKO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33472" y="1719072"/>
            <a:ext cx="2423160" cy="438912"/>
          </a:xfrm>
          <a:prstGeom prst="rect">
            <a:avLst/>
          </a:prstGeom>
          <a:solidFill>
            <a:srgbClr val="3669BE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12" name="TextBox 11"/>
          <p:cNvSpPr txBox="1"/>
          <p:nvPr/>
        </p:nvSpPr>
        <p:spPr>
          <a:xfrm>
            <a:off x="2688336" y="1828800"/>
            <a:ext cx="2313432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900" b="1" i="0" noProof="0" dirty="0">
                <a:solidFill>
                  <a:srgbClr val="FFFFFF"/>
                </a:solidFill>
                <a:latin typeface="Aptos"/>
              </a:rPr>
              <a:t>CO SE MŮŽE STÁT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56631" y="1719072"/>
            <a:ext cx="566928" cy="438912"/>
          </a:xfrm>
          <a:prstGeom prst="rect">
            <a:avLst/>
          </a:prstGeom>
          <a:solidFill>
            <a:srgbClr val="3669BE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14" name="TextBox 13"/>
          <p:cNvSpPr txBox="1"/>
          <p:nvPr/>
        </p:nvSpPr>
        <p:spPr>
          <a:xfrm>
            <a:off x="5111495" y="1828800"/>
            <a:ext cx="45720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900" b="1" i="0" noProof="0" dirty="0">
                <a:solidFill>
                  <a:srgbClr val="FFFFFF"/>
                </a:solidFill>
                <a:latin typeface="Aptos"/>
              </a:rPr>
              <a:t>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23559" y="1719072"/>
            <a:ext cx="566928" cy="438912"/>
          </a:xfrm>
          <a:prstGeom prst="rect">
            <a:avLst/>
          </a:prstGeom>
          <a:solidFill>
            <a:srgbClr val="3669BE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16" name="TextBox 15"/>
          <p:cNvSpPr txBox="1"/>
          <p:nvPr/>
        </p:nvSpPr>
        <p:spPr>
          <a:xfrm>
            <a:off x="5678423" y="1828800"/>
            <a:ext cx="45720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900" b="1" i="0" noProof="0" dirty="0">
                <a:solidFill>
                  <a:srgbClr val="FFFFFF"/>
                </a:solidFill>
                <a:latin typeface="Aptos"/>
              </a:rPr>
              <a:t>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90488" y="1719072"/>
            <a:ext cx="749808" cy="438912"/>
          </a:xfrm>
          <a:prstGeom prst="rect">
            <a:avLst/>
          </a:prstGeom>
          <a:solidFill>
            <a:srgbClr val="3669BE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18" name="TextBox 17"/>
          <p:cNvSpPr txBox="1"/>
          <p:nvPr/>
        </p:nvSpPr>
        <p:spPr>
          <a:xfrm>
            <a:off x="6245351" y="1828800"/>
            <a:ext cx="640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900" b="1" i="0" noProof="0" dirty="0">
                <a:solidFill>
                  <a:srgbClr val="FFFFFF"/>
                </a:solidFill>
                <a:latin typeface="Aptos"/>
              </a:rPr>
              <a:t>P×D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40296" y="1719072"/>
            <a:ext cx="4160520" cy="438912"/>
          </a:xfrm>
          <a:prstGeom prst="rect">
            <a:avLst/>
          </a:prstGeom>
          <a:solidFill>
            <a:srgbClr val="3669BE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20" name="TextBox 19"/>
          <p:cNvSpPr txBox="1"/>
          <p:nvPr/>
        </p:nvSpPr>
        <p:spPr>
          <a:xfrm>
            <a:off x="6995159" y="1828800"/>
            <a:ext cx="4050791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900" b="1" i="0" noProof="0" dirty="0">
                <a:solidFill>
                  <a:srgbClr val="FFFFFF"/>
                </a:solidFill>
                <a:latin typeface="Aptos"/>
              </a:rPr>
              <a:t>MITIGAČNÍ OPATŘENÍ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76072" y="2157984"/>
            <a:ext cx="2057400" cy="694944"/>
          </a:xfrm>
          <a:prstGeom prst="rect">
            <a:avLst/>
          </a:prstGeom>
          <a:solidFill>
            <a:srgbClr val="F6F8FB"/>
          </a:solidFill>
          <a:ln w="762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22" name="TextBox 21"/>
          <p:cNvSpPr txBox="1"/>
          <p:nvPr/>
        </p:nvSpPr>
        <p:spPr>
          <a:xfrm>
            <a:off x="649224" y="2231136"/>
            <a:ext cx="1911095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910" b="1" i="0" noProof="0" dirty="0">
                <a:solidFill>
                  <a:srgbClr val="132A43"/>
                </a:solidFill>
                <a:latin typeface="Aptos"/>
              </a:rPr>
              <a:t>Nízké používání průvodce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633472" y="2157984"/>
            <a:ext cx="2423160" cy="694944"/>
          </a:xfrm>
          <a:prstGeom prst="rect">
            <a:avLst/>
          </a:prstGeom>
          <a:solidFill>
            <a:srgbClr val="F6F8FB"/>
          </a:solidFill>
          <a:ln w="762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24" name="TextBox 23"/>
          <p:cNvSpPr txBox="1"/>
          <p:nvPr/>
        </p:nvSpPr>
        <p:spPr>
          <a:xfrm>
            <a:off x="2706624" y="2231136"/>
            <a:ext cx="2276856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910" b="0" i="0" noProof="0" dirty="0">
                <a:solidFill>
                  <a:srgbClr val="283442"/>
                </a:solidFill>
                <a:latin typeface="Aptos"/>
              </a:rPr>
              <a:t>Materiál zůstane nepovšimnutý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56631" y="2157984"/>
            <a:ext cx="566928" cy="694944"/>
          </a:xfrm>
          <a:prstGeom prst="rect">
            <a:avLst/>
          </a:prstGeom>
          <a:solidFill>
            <a:srgbClr val="F6F8FB"/>
          </a:solidFill>
          <a:ln w="762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26" name="TextBox 25"/>
          <p:cNvSpPr txBox="1"/>
          <p:nvPr/>
        </p:nvSpPr>
        <p:spPr>
          <a:xfrm>
            <a:off x="5129783" y="2231136"/>
            <a:ext cx="420623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910" b="0" i="0" noProof="0" dirty="0">
                <a:solidFill>
                  <a:srgbClr val="283442"/>
                </a:solidFill>
                <a:latin typeface="Aptos"/>
              </a:rPr>
              <a:t>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23559" y="2157984"/>
            <a:ext cx="566928" cy="694944"/>
          </a:xfrm>
          <a:prstGeom prst="rect">
            <a:avLst/>
          </a:prstGeom>
          <a:solidFill>
            <a:srgbClr val="F6F8FB"/>
          </a:solidFill>
          <a:ln w="762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28" name="TextBox 27"/>
          <p:cNvSpPr txBox="1"/>
          <p:nvPr/>
        </p:nvSpPr>
        <p:spPr>
          <a:xfrm>
            <a:off x="5696712" y="2231136"/>
            <a:ext cx="420623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910" b="0" i="0" noProof="0" dirty="0">
                <a:solidFill>
                  <a:srgbClr val="283442"/>
                </a:solidFill>
                <a:latin typeface="Aptos"/>
              </a:rPr>
              <a:t>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90488" y="2157984"/>
            <a:ext cx="749808" cy="694944"/>
          </a:xfrm>
          <a:prstGeom prst="rect">
            <a:avLst/>
          </a:prstGeom>
          <a:solidFill>
            <a:srgbClr val="F6F8FB"/>
          </a:solidFill>
          <a:ln w="762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30" name="TextBox 29"/>
          <p:cNvSpPr txBox="1"/>
          <p:nvPr/>
        </p:nvSpPr>
        <p:spPr>
          <a:xfrm>
            <a:off x="6263640" y="2231136"/>
            <a:ext cx="603503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910" b="1" i="0" noProof="0" dirty="0">
                <a:solidFill>
                  <a:srgbClr val="D08D32"/>
                </a:solidFill>
                <a:latin typeface="Aptos"/>
              </a:rPr>
              <a:t>12 · V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940296" y="2157984"/>
            <a:ext cx="4160520" cy="694944"/>
          </a:xfrm>
          <a:prstGeom prst="rect">
            <a:avLst/>
          </a:prstGeom>
          <a:solidFill>
            <a:srgbClr val="F6F8FB"/>
          </a:solidFill>
          <a:ln w="762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32" name="TextBox 31"/>
          <p:cNvSpPr txBox="1"/>
          <p:nvPr/>
        </p:nvSpPr>
        <p:spPr>
          <a:xfrm>
            <a:off x="7013448" y="2231136"/>
            <a:ext cx="4014215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910" b="0" i="0" noProof="0" dirty="0">
                <a:solidFill>
                  <a:srgbClr val="283442"/>
                </a:solidFill>
                <a:latin typeface="Aptos"/>
              </a:rPr>
              <a:t>Představit ho na cvičení, sdílet přes </a:t>
            </a:r>
            <a:r>
              <a:rPr lang="cs-CZ" sz="910" b="0" i="0" noProof="0" dirty="0" err="1">
                <a:solidFill>
                  <a:srgbClr val="283442"/>
                </a:solidFill>
                <a:latin typeface="Aptos"/>
              </a:rPr>
              <a:t>InSIS</a:t>
            </a:r>
            <a:r>
              <a:rPr lang="cs-CZ" sz="910" b="0" i="0" noProof="0" dirty="0">
                <a:solidFill>
                  <a:srgbClr val="283442"/>
                </a:solidFill>
                <a:latin typeface="Aptos"/>
              </a:rPr>
              <a:t>, přidat konkrétní prompty.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76072" y="2852928"/>
            <a:ext cx="2057400" cy="694944"/>
          </a:xfrm>
          <a:prstGeom prst="rect">
            <a:avLst/>
          </a:prstGeom>
          <a:solidFill>
            <a:srgbClr val="FFFFFF"/>
          </a:solidFill>
          <a:ln w="762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34" name="TextBox 33"/>
          <p:cNvSpPr txBox="1"/>
          <p:nvPr/>
        </p:nvSpPr>
        <p:spPr>
          <a:xfrm>
            <a:off x="649224" y="2926080"/>
            <a:ext cx="1911095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910" b="1" i="0" noProof="0" dirty="0">
                <a:solidFill>
                  <a:srgbClr val="132A43"/>
                </a:solidFill>
                <a:latin typeface="Aptos"/>
              </a:rPr>
              <a:t>Nízká účast na workshopu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633472" y="2852928"/>
            <a:ext cx="2423160" cy="694944"/>
          </a:xfrm>
          <a:prstGeom prst="rect">
            <a:avLst/>
          </a:prstGeom>
          <a:solidFill>
            <a:srgbClr val="FFFFFF"/>
          </a:solidFill>
          <a:ln w="762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36" name="TextBox 35"/>
          <p:cNvSpPr txBox="1"/>
          <p:nvPr/>
        </p:nvSpPr>
        <p:spPr>
          <a:xfrm>
            <a:off x="2706624" y="2926080"/>
            <a:ext cx="2276856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910" b="0" i="0" noProof="0" dirty="0">
                <a:solidFill>
                  <a:srgbClr val="283442"/>
                </a:solidFill>
                <a:latin typeface="Aptos"/>
              </a:rPr>
              <a:t>Studenti nepřijdou na samostatnou akci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56631" y="2852928"/>
            <a:ext cx="566928" cy="694944"/>
          </a:xfrm>
          <a:prstGeom prst="rect">
            <a:avLst/>
          </a:prstGeom>
          <a:solidFill>
            <a:srgbClr val="FFFFFF"/>
          </a:solidFill>
          <a:ln w="762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38" name="TextBox 37"/>
          <p:cNvSpPr txBox="1"/>
          <p:nvPr/>
        </p:nvSpPr>
        <p:spPr>
          <a:xfrm>
            <a:off x="5129783" y="2926080"/>
            <a:ext cx="420623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910" b="0" i="0" noProof="0" dirty="0">
                <a:solidFill>
                  <a:srgbClr val="283442"/>
                </a:solidFill>
                <a:latin typeface="Aptos"/>
              </a:rPr>
              <a:t>3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623559" y="2852928"/>
            <a:ext cx="566928" cy="694944"/>
          </a:xfrm>
          <a:prstGeom prst="rect">
            <a:avLst/>
          </a:prstGeom>
          <a:solidFill>
            <a:srgbClr val="FFFFFF"/>
          </a:solidFill>
          <a:ln w="762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40" name="TextBox 39"/>
          <p:cNvSpPr txBox="1"/>
          <p:nvPr/>
        </p:nvSpPr>
        <p:spPr>
          <a:xfrm>
            <a:off x="5696712" y="2926080"/>
            <a:ext cx="420623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910" b="0" i="0" noProof="0" dirty="0">
                <a:solidFill>
                  <a:srgbClr val="283442"/>
                </a:solidFill>
                <a:latin typeface="Aptos"/>
              </a:rPr>
              <a:t>3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190488" y="2852928"/>
            <a:ext cx="749808" cy="694944"/>
          </a:xfrm>
          <a:prstGeom prst="rect">
            <a:avLst/>
          </a:prstGeom>
          <a:solidFill>
            <a:srgbClr val="FFFFFF"/>
          </a:solidFill>
          <a:ln w="762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42" name="TextBox 41"/>
          <p:cNvSpPr txBox="1"/>
          <p:nvPr/>
        </p:nvSpPr>
        <p:spPr>
          <a:xfrm>
            <a:off x="6263640" y="2926080"/>
            <a:ext cx="603503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910" b="1" i="0" noProof="0" dirty="0">
                <a:solidFill>
                  <a:srgbClr val="1F8E89"/>
                </a:solidFill>
                <a:latin typeface="Aptos"/>
              </a:rPr>
              <a:t>9 · 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940296" y="2852928"/>
            <a:ext cx="4160520" cy="694944"/>
          </a:xfrm>
          <a:prstGeom prst="rect">
            <a:avLst/>
          </a:prstGeom>
          <a:solidFill>
            <a:srgbClr val="FFFFFF"/>
          </a:solidFill>
          <a:ln w="762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44" name="TextBox 43"/>
          <p:cNvSpPr txBox="1"/>
          <p:nvPr/>
        </p:nvSpPr>
        <p:spPr>
          <a:xfrm>
            <a:off x="7013448" y="2926080"/>
            <a:ext cx="4014215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910" b="0" i="0" noProof="0" dirty="0">
                <a:solidFill>
                  <a:srgbClr val="283442"/>
                </a:solidFill>
                <a:latin typeface="Aptos"/>
              </a:rPr>
              <a:t>Zařadit workshop přímo do běžného cvičení.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76072" y="3547872"/>
            <a:ext cx="2057400" cy="694944"/>
          </a:xfrm>
          <a:prstGeom prst="rect">
            <a:avLst/>
          </a:prstGeom>
          <a:solidFill>
            <a:srgbClr val="F6F8FB"/>
          </a:solidFill>
          <a:ln w="762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46" name="TextBox 45"/>
          <p:cNvSpPr txBox="1"/>
          <p:nvPr/>
        </p:nvSpPr>
        <p:spPr>
          <a:xfrm>
            <a:off x="649224" y="3621024"/>
            <a:ext cx="1911095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910" b="1" i="0" noProof="0" dirty="0">
                <a:solidFill>
                  <a:srgbClr val="132A43"/>
                </a:solidFill>
                <a:latin typeface="Aptos"/>
              </a:rPr>
              <a:t>Malý přenos do praxe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633472" y="3547872"/>
            <a:ext cx="2423160" cy="694944"/>
          </a:xfrm>
          <a:prstGeom prst="rect">
            <a:avLst/>
          </a:prstGeom>
          <a:solidFill>
            <a:srgbClr val="F6F8FB"/>
          </a:solidFill>
          <a:ln w="762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48" name="TextBox 47"/>
          <p:cNvSpPr txBox="1"/>
          <p:nvPr/>
        </p:nvSpPr>
        <p:spPr>
          <a:xfrm>
            <a:off x="2706624" y="3621024"/>
            <a:ext cx="2276856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910" b="0" i="0" noProof="0" dirty="0">
                <a:solidFill>
                  <a:srgbClr val="283442"/>
                </a:solidFill>
                <a:latin typeface="Aptos"/>
              </a:rPr>
              <a:t>Po workshopu se návyky nezmění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056631" y="3547872"/>
            <a:ext cx="566928" cy="694944"/>
          </a:xfrm>
          <a:prstGeom prst="rect">
            <a:avLst/>
          </a:prstGeom>
          <a:solidFill>
            <a:srgbClr val="F6F8FB"/>
          </a:solidFill>
          <a:ln w="762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50" name="TextBox 49"/>
          <p:cNvSpPr txBox="1"/>
          <p:nvPr/>
        </p:nvSpPr>
        <p:spPr>
          <a:xfrm>
            <a:off x="5129783" y="3621024"/>
            <a:ext cx="420623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910" b="0" i="0" noProof="0" dirty="0">
                <a:solidFill>
                  <a:srgbClr val="283442"/>
                </a:solidFill>
                <a:latin typeface="Aptos"/>
              </a:rPr>
              <a:t>3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623559" y="3547872"/>
            <a:ext cx="566928" cy="694944"/>
          </a:xfrm>
          <a:prstGeom prst="rect">
            <a:avLst/>
          </a:prstGeom>
          <a:solidFill>
            <a:srgbClr val="F6F8FB"/>
          </a:solidFill>
          <a:ln w="762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52" name="TextBox 51"/>
          <p:cNvSpPr txBox="1"/>
          <p:nvPr/>
        </p:nvSpPr>
        <p:spPr>
          <a:xfrm>
            <a:off x="5696712" y="3621024"/>
            <a:ext cx="420623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910" b="0" i="0" noProof="0" dirty="0">
                <a:solidFill>
                  <a:srgbClr val="283442"/>
                </a:solidFill>
                <a:latin typeface="Aptos"/>
              </a:rPr>
              <a:t>4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190488" y="3547872"/>
            <a:ext cx="749808" cy="694944"/>
          </a:xfrm>
          <a:prstGeom prst="rect">
            <a:avLst/>
          </a:prstGeom>
          <a:solidFill>
            <a:srgbClr val="F6F8FB"/>
          </a:solidFill>
          <a:ln w="762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54" name="TextBox 53"/>
          <p:cNvSpPr txBox="1"/>
          <p:nvPr/>
        </p:nvSpPr>
        <p:spPr>
          <a:xfrm>
            <a:off x="6263640" y="3621024"/>
            <a:ext cx="603503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910" b="1" i="0" noProof="0" dirty="0">
                <a:solidFill>
                  <a:srgbClr val="D08D32"/>
                </a:solidFill>
                <a:latin typeface="Aptos"/>
              </a:rPr>
              <a:t>12 · V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940296" y="3547872"/>
            <a:ext cx="4160520" cy="694944"/>
          </a:xfrm>
          <a:prstGeom prst="rect">
            <a:avLst/>
          </a:prstGeom>
          <a:solidFill>
            <a:srgbClr val="F6F8FB"/>
          </a:solidFill>
          <a:ln w="762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56" name="TextBox 55"/>
          <p:cNvSpPr txBox="1"/>
          <p:nvPr/>
        </p:nvSpPr>
        <p:spPr>
          <a:xfrm>
            <a:off x="7013448" y="3621024"/>
            <a:ext cx="4014215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910" b="0" i="0" noProof="0" dirty="0">
                <a:solidFill>
                  <a:srgbClr val="283442"/>
                </a:solidFill>
                <a:latin typeface="Aptos"/>
              </a:rPr>
              <a:t>Po dvou týdnech krátce ověřit využití a upravit materiály.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76072" y="4242816"/>
            <a:ext cx="2057400" cy="694944"/>
          </a:xfrm>
          <a:prstGeom prst="rect">
            <a:avLst/>
          </a:prstGeom>
          <a:solidFill>
            <a:srgbClr val="FFFFFF"/>
          </a:solidFill>
          <a:ln w="762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58" name="TextBox 57"/>
          <p:cNvSpPr txBox="1"/>
          <p:nvPr/>
        </p:nvSpPr>
        <p:spPr>
          <a:xfrm>
            <a:off x="649224" y="4315968"/>
            <a:ext cx="1911095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910" b="1" i="0" noProof="0" dirty="0">
                <a:solidFill>
                  <a:srgbClr val="132A43"/>
                </a:solidFill>
                <a:latin typeface="Aptos"/>
              </a:rPr>
              <a:t>Nízká podpora vyučujících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633472" y="4242816"/>
            <a:ext cx="2423160" cy="694944"/>
          </a:xfrm>
          <a:prstGeom prst="rect">
            <a:avLst/>
          </a:prstGeom>
          <a:solidFill>
            <a:srgbClr val="FFFFFF"/>
          </a:solidFill>
          <a:ln w="762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60" name="TextBox 59"/>
          <p:cNvSpPr txBox="1"/>
          <p:nvPr/>
        </p:nvSpPr>
        <p:spPr>
          <a:xfrm>
            <a:off x="2706624" y="4315968"/>
            <a:ext cx="2276856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910" b="0" i="0" noProof="0" dirty="0">
                <a:solidFill>
                  <a:srgbClr val="283442"/>
                </a:solidFill>
                <a:latin typeface="Aptos"/>
              </a:rPr>
              <a:t>Změna hodnocení se nezavede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056631" y="4242816"/>
            <a:ext cx="566928" cy="694944"/>
          </a:xfrm>
          <a:prstGeom prst="rect">
            <a:avLst/>
          </a:prstGeom>
          <a:solidFill>
            <a:srgbClr val="FFFFFF"/>
          </a:solidFill>
          <a:ln w="762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62" name="TextBox 61"/>
          <p:cNvSpPr txBox="1"/>
          <p:nvPr/>
        </p:nvSpPr>
        <p:spPr>
          <a:xfrm>
            <a:off x="5129783" y="4315968"/>
            <a:ext cx="420623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910" b="0" i="0" noProof="0" dirty="0">
                <a:solidFill>
                  <a:srgbClr val="283442"/>
                </a:solidFill>
                <a:latin typeface="Aptos"/>
              </a:rPr>
              <a:t>4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623559" y="4242816"/>
            <a:ext cx="566928" cy="694944"/>
          </a:xfrm>
          <a:prstGeom prst="rect">
            <a:avLst/>
          </a:prstGeom>
          <a:solidFill>
            <a:srgbClr val="FFFFFF"/>
          </a:solidFill>
          <a:ln w="762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64" name="TextBox 63"/>
          <p:cNvSpPr txBox="1"/>
          <p:nvPr/>
        </p:nvSpPr>
        <p:spPr>
          <a:xfrm>
            <a:off x="5696712" y="4315968"/>
            <a:ext cx="420623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910" b="0" i="0" noProof="0" dirty="0">
                <a:solidFill>
                  <a:srgbClr val="283442"/>
                </a:solidFill>
                <a:latin typeface="Aptos"/>
              </a:rPr>
              <a:t>4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190488" y="4242816"/>
            <a:ext cx="749808" cy="694944"/>
          </a:xfrm>
          <a:prstGeom prst="rect">
            <a:avLst/>
          </a:prstGeom>
          <a:solidFill>
            <a:srgbClr val="FFFFFF"/>
          </a:solidFill>
          <a:ln w="762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66" name="TextBox 65"/>
          <p:cNvSpPr txBox="1"/>
          <p:nvPr/>
        </p:nvSpPr>
        <p:spPr>
          <a:xfrm>
            <a:off x="6263640" y="4315968"/>
            <a:ext cx="603503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910" b="1" i="0" noProof="0" dirty="0">
                <a:solidFill>
                  <a:srgbClr val="B84F4F"/>
                </a:solidFill>
                <a:latin typeface="Aptos"/>
              </a:rPr>
              <a:t>16 · K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940296" y="4242816"/>
            <a:ext cx="4160520" cy="694944"/>
          </a:xfrm>
          <a:prstGeom prst="rect">
            <a:avLst/>
          </a:prstGeom>
          <a:solidFill>
            <a:srgbClr val="FFFFFF"/>
          </a:solidFill>
          <a:ln w="762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68" name="TextBox 67"/>
          <p:cNvSpPr txBox="1"/>
          <p:nvPr/>
        </p:nvSpPr>
        <p:spPr>
          <a:xfrm>
            <a:off x="7013448" y="4315968"/>
            <a:ext cx="4014215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910" b="0" i="0" noProof="0" dirty="0">
                <a:solidFill>
                  <a:srgbClr val="283442"/>
                </a:solidFill>
                <a:latin typeface="Aptos"/>
              </a:rPr>
              <a:t>Začít jedním dobrovolným pilotním předmětem.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76072" y="4937759"/>
            <a:ext cx="2057400" cy="694944"/>
          </a:xfrm>
          <a:prstGeom prst="rect">
            <a:avLst/>
          </a:prstGeom>
          <a:solidFill>
            <a:srgbClr val="F6F8FB"/>
          </a:solidFill>
          <a:ln w="762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70" name="TextBox 69"/>
          <p:cNvSpPr txBox="1"/>
          <p:nvPr/>
        </p:nvSpPr>
        <p:spPr>
          <a:xfrm>
            <a:off x="649224" y="5010912"/>
            <a:ext cx="1911095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910" b="1" i="0" noProof="0" dirty="0">
                <a:solidFill>
                  <a:srgbClr val="132A43"/>
                </a:solidFill>
                <a:latin typeface="Aptos"/>
              </a:rPr>
              <a:t>Obtížné měření dopadu</a:t>
            </a:r>
          </a:p>
        </p:txBody>
      </p:sp>
      <p:sp>
        <p:nvSpPr>
          <p:cNvPr id="71" name="Rectangle 70"/>
          <p:cNvSpPr/>
          <p:nvPr/>
        </p:nvSpPr>
        <p:spPr>
          <a:xfrm>
            <a:off x="2633472" y="4937759"/>
            <a:ext cx="2423160" cy="694944"/>
          </a:xfrm>
          <a:prstGeom prst="rect">
            <a:avLst/>
          </a:prstGeom>
          <a:solidFill>
            <a:srgbClr val="F6F8FB"/>
          </a:solidFill>
          <a:ln w="762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72" name="TextBox 71"/>
          <p:cNvSpPr txBox="1"/>
          <p:nvPr/>
        </p:nvSpPr>
        <p:spPr>
          <a:xfrm>
            <a:off x="2706624" y="5010912"/>
            <a:ext cx="2276856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910" b="0" i="0" noProof="0" dirty="0">
                <a:solidFill>
                  <a:srgbClr val="283442"/>
                </a:solidFill>
                <a:latin typeface="Aptos"/>
              </a:rPr>
              <a:t>Spokojenost nemusí znamenat lepší učení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056631" y="4937759"/>
            <a:ext cx="566928" cy="694944"/>
          </a:xfrm>
          <a:prstGeom prst="rect">
            <a:avLst/>
          </a:prstGeom>
          <a:solidFill>
            <a:srgbClr val="F6F8FB"/>
          </a:solidFill>
          <a:ln w="762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74" name="TextBox 73"/>
          <p:cNvSpPr txBox="1"/>
          <p:nvPr/>
        </p:nvSpPr>
        <p:spPr>
          <a:xfrm>
            <a:off x="5129783" y="5010912"/>
            <a:ext cx="420623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910" b="0" i="0" noProof="0" dirty="0">
                <a:solidFill>
                  <a:srgbClr val="283442"/>
                </a:solidFill>
                <a:latin typeface="Aptos"/>
              </a:rPr>
              <a:t>3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623559" y="4937759"/>
            <a:ext cx="566928" cy="694944"/>
          </a:xfrm>
          <a:prstGeom prst="rect">
            <a:avLst/>
          </a:prstGeom>
          <a:solidFill>
            <a:srgbClr val="F6F8FB"/>
          </a:solidFill>
          <a:ln w="762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76" name="TextBox 75"/>
          <p:cNvSpPr txBox="1"/>
          <p:nvPr/>
        </p:nvSpPr>
        <p:spPr>
          <a:xfrm>
            <a:off x="5696712" y="5010912"/>
            <a:ext cx="420623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910" b="0" i="0" noProof="0" dirty="0">
                <a:solidFill>
                  <a:srgbClr val="283442"/>
                </a:solidFill>
                <a:latin typeface="Aptos"/>
              </a:rPr>
              <a:t>4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190488" y="4937759"/>
            <a:ext cx="749808" cy="694944"/>
          </a:xfrm>
          <a:prstGeom prst="rect">
            <a:avLst/>
          </a:prstGeom>
          <a:solidFill>
            <a:srgbClr val="F6F8FB"/>
          </a:solidFill>
          <a:ln w="762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78" name="TextBox 77"/>
          <p:cNvSpPr txBox="1"/>
          <p:nvPr/>
        </p:nvSpPr>
        <p:spPr>
          <a:xfrm>
            <a:off x="6263640" y="5010912"/>
            <a:ext cx="603503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910" b="1" i="0" noProof="0" dirty="0">
                <a:solidFill>
                  <a:srgbClr val="D08D32"/>
                </a:solidFill>
                <a:latin typeface="Aptos"/>
              </a:rPr>
              <a:t>12 · V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940296" y="4937759"/>
            <a:ext cx="4160520" cy="694944"/>
          </a:xfrm>
          <a:prstGeom prst="rect">
            <a:avLst/>
          </a:prstGeom>
          <a:solidFill>
            <a:srgbClr val="F6F8FB"/>
          </a:solidFill>
          <a:ln w="762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80" name="TextBox 79"/>
          <p:cNvSpPr txBox="1"/>
          <p:nvPr/>
        </p:nvSpPr>
        <p:spPr>
          <a:xfrm>
            <a:off x="7013448" y="5010912"/>
            <a:ext cx="4014215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910" b="0" i="0" noProof="0" dirty="0">
                <a:solidFill>
                  <a:srgbClr val="283442"/>
                </a:solidFill>
                <a:latin typeface="Aptos"/>
              </a:rPr>
              <a:t>Kromě dotazníku použít krátký úkol bez AI.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21792" y="5980176"/>
            <a:ext cx="10881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890" b="0" i="0" noProof="0" dirty="0">
                <a:solidFill>
                  <a:srgbClr val="667585"/>
                </a:solidFill>
                <a:latin typeface="Aptos"/>
              </a:rPr>
              <a:t>Kategorie: 1–4 nízké · 5–9 střední (S) · 10–15 vysoké (V) · 16–25 kritické (K). Nejvyšší prioritou je spolupráce s vyučujícími u dlouhodobé změny hodnocení.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502920" y="6473952"/>
            <a:ext cx="11183112" cy="0"/>
          </a:xfrm>
          <a:prstGeom prst="line">
            <a:avLst/>
          </a:prstGeom>
          <a:ln w="8890">
            <a:solidFill>
              <a:srgbClr val="DAE2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521207" y="6519672"/>
            <a:ext cx="85039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750" b="1" i="0" noProof="0" dirty="0">
                <a:solidFill>
                  <a:srgbClr val="667585"/>
                </a:solidFill>
                <a:latin typeface="Aptos"/>
              </a:rPr>
              <a:t>TÝM 10  ·  ZÁLOŽNÍ SLIDE  ·  ZOBRAZIT POUZE PŘI DISKUSI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02920" y="246888"/>
            <a:ext cx="1024128" cy="256032"/>
          </a:xfrm>
          <a:prstGeom prst="roundRect">
            <a:avLst/>
          </a:prstGeom>
          <a:solidFill>
            <a:srgbClr val="EFF5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3" name="TextBox 2"/>
          <p:cNvSpPr txBox="1"/>
          <p:nvPr/>
        </p:nvSpPr>
        <p:spPr>
          <a:xfrm>
            <a:off x="548640" y="278892"/>
            <a:ext cx="932688" cy="1737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900" b="1" i="0" noProof="0" dirty="0">
                <a:solidFill>
                  <a:srgbClr val="3669BE"/>
                </a:solidFill>
                <a:latin typeface="Aptos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94360"/>
            <a:ext cx="1106424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2600" b="1" i="0" noProof="0" dirty="0">
                <a:solidFill>
                  <a:srgbClr val="132A43"/>
                </a:solidFill>
                <a:latin typeface="Aptos Display"/>
              </a:rPr>
              <a:t>Rozhodovací matice: srovnání variant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088136"/>
            <a:ext cx="110185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150" b="0" i="0" noProof="0" dirty="0">
                <a:solidFill>
                  <a:srgbClr val="667585"/>
                </a:solidFill>
                <a:latin typeface="Aptos"/>
              </a:rPr>
              <a:t>Ilustrativní týmové hodnocení na škále 1–5 (5 = nejpříznivější); nejde o výsledek dotazníku.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1426464"/>
            <a:ext cx="11183112" cy="0"/>
          </a:xfrm>
          <a:prstGeom prst="line">
            <a:avLst/>
          </a:prstGeom>
          <a:ln w="11430">
            <a:solidFill>
              <a:srgbClr val="DAE2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1402568" y="265176"/>
            <a:ext cx="118872" cy="118872"/>
          </a:xfrm>
          <a:prstGeom prst="ellipse">
            <a:avLst/>
          </a:prstGeom>
          <a:solidFill>
            <a:srgbClr val="1F8E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8" name="Oval 7"/>
          <p:cNvSpPr/>
          <p:nvPr/>
        </p:nvSpPr>
        <p:spPr>
          <a:xfrm>
            <a:off x="11548872" y="265176"/>
            <a:ext cx="118872" cy="118872"/>
          </a:xfrm>
          <a:prstGeom prst="ellipse">
            <a:avLst/>
          </a:prstGeom>
          <a:solidFill>
            <a:srgbClr val="3669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9" name="Rectangle 8"/>
          <p:cNvSpPr/>
          <p:nvPr/>
        </p:nvSpPr>
        <p:spPr>
          <a:xfrm>
            <a:off x="640080" y="1847088"/>
            <a:ext cx="2880360" cy="493776"/>
          </a:xfrm>
          <a:prstGeom prst="rect">
            <a:avLst/>
          </a:prstGeom>
          <a:solidFill>
            <a:srgbClr val="3669BE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10" name="TextBox 9"/>
          <p:cNvSpPr txBox="1"/>
          <p:nvPr/>
        </p:nvSpPr>
        <p:spPr>
          <a:xfrm>
            <a:off x="694944" y="1956816"/>
            <a:ext cx="2770632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919" b="1" i="0" noProof="0" dirty="0">
                <a:solidFill>
                  <a:srgbClr val="FFFFFF"/>
                </a:solidFill>
                <a:latin typeface="Aptos"/>
              </a:rPr>
              <a:t>VARIANTA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20439" y="1847088"/>
            <a:ext cx="1463040" cy="493776"/>
          </a:xfrm>
          <a:prstGeom prst="rect">
            <a:avLst/>
          </a:prstGeom>
          <a:solidFill>
            <a:srgbClr val="3669BE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12" name="TextBox 11"/>
          <p:cNvSpPr txBox="1"/>
          <p:nvPr/>
        </p:nvSpPr>
        <p:spPr>
          <a:xfrm>
            <a:off x="3575303" y="1956816"/>
            <a:ext cx="1353312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919" b="1" i="0" noProof="0" dirty="0">
                <a:solidFill>
                  <a:srgbClr val="FFFFFF"/>
                </a:solidFill>
                <a:latin typeface="Aptos"/>
              </a:rPr>
              <a:t>ÚČINNOST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83479" y="1847088"/>
            <a:ext cx="1463040" cy="493776"/>
          </a:xfrm>
          <a:prstGeom prst="rect">
            <a:avLst/>
          </a:prstGeom>
          <a:solidFill>
            <a:srgbClr val="3669BE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14" name="TextBox 13"/>
          <p:cNvSpPr txBox="1"/>
          <p:nvPr/>
        </p:nvSpPr>
        <p:spPr>
          <a:xfrm>
            <a:off x="5038343" y="1956816"/>
            <a:ext cx="1353312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919" b="1" i="0" noProof="0" dirty="0">
                <a:solidFill>
                  <a:srgbClr val="FFFFFF"/>
                </a:solidFill>
                <a:latin typeface="Aptos"/>
              </a:rPr>
              <a:t>PROVEDITELNOST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46519" y="1847088"/>
            <a:ext cx="1463040" cy="493776"/>
          </a:xfrm>
          <a:prstGeom prst="rect">
            <a:avLst/>
          </a:prstGeom>
          <a:solidFill>
            <a:srgbClr val="3669BE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16" name="TextBox 15"/>
          <p:cNvSpPr txBox="1"/>
          <p:nvPr/>
        </p:nvSpPr>
        <p:spPr>
          <a:xfrm>
            <a:off x="6501383" y="1956816"/>
            <a:ext cx="1353312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919" b="1" i="0" noProof="0" dirty="0">
                <a:solidFill>
                  <a:srgbClr val="FFFFFF"/>
                </a:solidFill>
                <a:latin typeface="Aptos"/>
              </a:rPr>
              <a:t>NÁKLADY*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09559" y="1847088"/>
            <a:ext cx="1463040" cy="493776"/>
          </a:xfrm>
          <a:prstGeom prst="rect">
            <a:avLst/>
          </a:prstGeom>
          <a:solidFill>
            <a:srgbClr val="3669BE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18" name="TextBox 17"/>
          <p:cNvSpPr txBox="1"/>
          <p:nvPr/>
        </p:nvSpPr>
        <p:spPr>
          <a:xfrm>
            <a:off x="7964423" y="1956816"/>
            <a:ext cx="1353312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919" b="1" i="0" noProof="0" dirty="0">
                <a:solidFill>
                  <a:srgbClr val="FFFFFF"/>
                </a:solidFill>
                <a:latin typeface="Aptos"/>
              </a:rPr>
              <a:t>ŠKÁLOVATELNOST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2340864"/>
            <a:ext cx="2880360" cy="621792"/>
          </a:xfrm>
          <a:prstGeom prst="rect">
            <a:avLst/>
          </a:prstGeom>
          <a:solidFill>
            <a:srgbClr val="F6F8FB"/>
          </a:solidFill>
          <a:ln w="8255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20" name="TextBox 19"/>
          <p:cNvSpPr txBox="1"/>
          <p:nvPr/>
        </p:nvSpPr>
        <p:spPr>
          <a:xfrm>
            <a:off x="713231" y="2459736"/>
            <a:ext cx="2734056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200" b="1" i="0" noProof="0" dirty="0">
                <a:solidFill>
                  <a:srgbClr val="132A43"/>
                </a:solidFill>
                <a:latin typeface="Aptos"/>
              </a:rPr>
              <a:t>A · Studijní průvodce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20439" y="2340864"/>
            <a:ext cx="1463040" cy="621792"/>
          </a:xfrm>
          <a:prstGeom prst="rect">
            <a:avLst/>
          </a:prstGeom>
          <a:solidFill>
            <a:srgbClr val="F6F8FB"/>
          </a:solidFill>
          <a:ln w="8255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22" name="TextBox 21"/>
          <p:cNvSpPr txBox="1"/>
          <p:nvPr/>
        </p:nvSpPr>
        <p:spPr>
          <a:xfrm>
            <a:off x="3593591" y="2459736"/>
            <a:ext cx="1316736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200" b="1" i="0" noProof="0" dirty="0">
                <a:solidFill>
                  <a:srgbClr val="D08D32"/>
                </a:solidFill>
                <a:latin typeface="Aptos"/>
              </a:rPr>
              <a:t>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983479" y="2340864"/>
            <a:ext cx="1463040" cy="621792"/>
          </a:xfrm>
          <a:prstGeom prst="rect">
            <a:avLst/>
          </a:prstGeom>
          <a:solidFill>
            <a:srgbClr val="F6F8FB"/>
          </a:solidFill>
          <a:ln w="8255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24" name="TextBox 23"/>
          <p:cNvSpPr txBox="1"/>
          <p:nvPr/>
        </p:nvSpPr>
        <p:spPr>
          <a:xfrm>
            <a:off x="5056631" y="2459736"/>
            <a:ext cx="1316736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200" b="1" i="0" noProof="0" dirty="0">
                <a:solidFill>
                  <a:srgbClr val="1F8E89"/>
                </a:solidFill>
                <a:latin typeface="Aptos"/>
              </a:rPr>
              <a:t>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46519" y="2340864"/>
            <a:ext cx="1463040" cy="621792"/>
          </a:xfrm>
          <a:prstGeom prst="rect">
            <a:avLst/>
          </a:prstGeom>
          <a:solidFill>
            <a:srgbClr val="F6F8FB"/>
          </a:solidFill>
          <a:ln w="8255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26" name="TextBox 25"/>
          <p:cNvSpPr txBox="1"/>
          <p:nvPr/>
        </p:nvSpPr>
        <p:spPr>
          <a:xfrm>
            <a:off x="6519671" y="2459736"/>
            <a:ext cx="1316736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200" b="1" i="0" noProof="0" dirty="0">
                <a:solidFill>
                  <a:srgbClr val="1F8E89"/>
                </a:solidFill>
                <a:latin typeface="Aptos"/>
              </a:rPr>
              <a:t>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909559" y="2340864"/>
            <a:ext cx="1463040" cy="621792"/>
          </a:xfrm>
          <a:prstGeom prst="rect">
            <a:avLst/>
          </a:prstGeom>
          <a:solidFill>
            <a:srgbClr val="F6F8FB"/>
          </a:solidFill>
          <a:ln w="8255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28" name="TextBox 27"/>
          <p:cNvSpPr txBox="1"/>
          <p:nvPr/>
        </p:nvSpPr>
        <p:spPr>
          <a:xfrm>
            <a:off x="7982711" y="2459736"/>
            <a:ext cx="1316736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200" b="1" i="0" noProof="0" dirty="0">
                <a:solidFill>
                  <a:srgbClr val="1F8E89"/>
                </a:solidFill>
                <a:latin typeface="Aptos"/>
              </a:rPr>
              <a:t>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2962656"/>
            <a:ext cx="2880360" cy="621792"/>
          </a:xfrm>
          <a:prstGeom prst="rect">
            <a:avLst/>
          </a:prstGeom>
          <a:solidFill>
            <a:srgbClr val="FFFFFF"/>
          </a:solidFill>
          <a:ln w="8255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30" name="TextBox 29"/>
          <p:cNvSpPr txBox="1"/>
          <p:nvPr/>
        </p:nvSpPr>
        <p:spPr>
          <a:xfrm>
            <a:off x="713231" y="3081528"/>
            <a:ext cx="2734056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200" b="1" i="0" noProof="0" dirty="0">
                <a:solidFill>
                  <a:srgbClr val="132A43"/>
                </a:solidFill>
                <a:latin typeface="Aptos"/>
              </a:rPr>
              <a:t>B · Praktický workshop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520439" y="2962656"/>
            <a:ext cx="1463040" cy="621792"/>
          </a:xfrm>
          <a:prstGeom prst="rect">
            <a:avLst/>
          </a:prstGeom>
          <a:solidFill>
            <a:srgbClr val="FFFFFF"/>
          </a:solidFill>
          <a:ln w="8255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32" name="TextBox 31"/>
          <p:cNvSpPr txBox="1"/>
          <p:nvPr/>
        </p:nvSpPr>
        <p:spPr>
          <a:xfrm>
            <a:off x="3593591" y="3081528"/>
            <a:ext cx="1316736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200" b="1" i="0" noProof="0" dirty="0">
                <a:solidFill>
                  <a:srgbClr val="1F8E89"/>
                </a:solidFill>
                <a:latin typeface="Aptos"/>
              </a:rPr>
              <a:t>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983479" y="2962656"/>
            <a:ext cx="1463040" cy="621792"/>
          </a:xfrm>
          <a:prstGeom prst="rect">
            <a:avLst/>
          </a:prstGeom>
          <a:solidFill>
            <a:srgbClr val="FFFFFF"/>
          </a:solidFill>
          <a:ln w="8255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34" name="TextBox 33"/>
          <p:cNvSpPr txBox="1"/>
          <p:nvPr/>
        </p:nvSpPr>
        <p:spPr>
          <a:xfrm>
            <a:off x="5056631" y="3081528"/>
            <a:ext cx="1316736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200" b="1" i="0" noProof="0" dirty="0">
                <a:solidFill>
                  <a:srgbClr val="1F8E89"/>
                </a:solidFill>
                <a:latin typeface="Aptos"/>
              </a:rPr>
              <a:t>4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46519" y="2962656"/>
            <a:ext cx="1463040" cy="621792"/>
          </a:xfrm>
          <a:prstGeom prst="rect">
            <a:avLst/>
          </a:prstGeom>
          <a:solidFill>
            <a:srgbClr val="FFFFFF"/>
          </a:solidFill>
          <a:ln w="8255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36" name="TextBox 35"/>
          <p:cNvSpPr txBox="1"/>
          <p:nvPr/>
        </p:nvSpPr>
        <p:spPr>
          <a:xfrm>
            <a:off x="6519671" y="3081528"/>
            <a:ext cx="1316736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200" b="1" i="0" noProof="0" dirty="0">
                <a:solidFill>
                  <a:srgbClr val="D08D32"/>
                </a:solidFill>
                <a:latin typeface="Aptos"/>
              </a:rPr>
              <a:t>3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909559" y="2962656"/>
            <a:ext cx="1463040" cy="621792"/>
          </a:xfrm>
          <a:prstGeom prst="rect">
            <a:avLst/>
          </a:prstGeom>
          <a:solidFill>
            <a:srgbClr val="FFFFFF"/>
          </a:solidFill>
          <a:ln w="8255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38" name="TextBox 37"/>
          <p:cNvSpPr txBox="1"/>
          <p:nvPr/>
        </p:nvSpPr>
        <p:spPr>
          <a:xfrm>
            <a:off x="7982711" y="3081528"/>
            <a:ext cx="1316736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200" b="1" i="0" noProof="0" dirty="0">
                <a:solidFill>
                  <a:srgbClr val="D08D32"/>
                </a:solidFill>
                <a:latin typeface="Aptos"/>
              </a:rPr>
              <a:t>3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" y="3584448"/>
            <a:ext cx="2880360" cy="621792"/>
          </a:xfrm>
          <a:prstGeom prst="rect">
            <a:avLst/>
          </a:prstGeom>
          <a:solidFill>
            <a:srgbClr val="F6F8FB"/>
          </a:solidFill>
          <a:ln w="8255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40" name="TextBox 39"/>
          <p:cNvSpPr txBox="1"/>
          <p:nvPr/>
        </p:nvSpPr>
        <p:spPr>
          <a:xfrm>
            <a:off x="713231" y="3703320"/>
            <a:ext cx="2734056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200" b="1" i="0" noProof="0" dirty="0">
                <a:solidFill>
                  <a:srgbClr val="132A43"/>
                </a:solidFill>
                <a:latin typeface="Aptos"/>
              </a:rPr>
              <a:t>C · Změna hodnocení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520439" y="3584448"/>
            <a:ext cx="1463040" cy="621792"/>
          </a:xfrm>
          <a:prstGeom prst="rect">
            <a:avLst/>
          </a:prstGeom>
          <a:solidFill>
            <a:srgbClr val="F6F8FB"/>
          </a:solidFill>
          <a:ln w="8255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42" name="TextBox 41"/>
          <p:cNvSpPr txBox="1"/>
          <p:nvPr/>
        </p:nvSpPr>
        <p:spPr>
          <a:xfrm>
            <a:off x="3593591" y="3703320"/>
            <a:ext cx="1316736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200" b="1" i="0" noProof="0" dirty="0">
                <a:solidFill>
                  <a:srgbClr val="1F8E89"/>
                </a:solidFill>
                <a:latin typeface="Aptos"/>
              </a:rPr>
              <a:t>5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983479" y="3584448"/>
            <a:ext cx="1463040" cy="621792"/>
          </a:xfrm>
          <a:prstGeom prst="rect">
            <a:avLst/>
          </a:prstGeom>
          <a:solidFill>
            <a:srgbClr val="F6F8FB"/>
          </a:solidFill>
          <a:ln w="8255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44" name="TextBox 43"/>
          <p:cNvSpPr txBox="1"/>
          <p:nvPr/>
        </p:nvSpPr>
        <p:spPr>
          <a:xfrm>
            <a:off x="5056631" y="3703320"/>
            <a:ext cx="1316736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200" b="1" i="0" noProof="0" dirty="0">
                <a:solidFill>
                  <a:srgbClr val="B84F4F"/>
                </a:solidFill>
                <a:latin typeface="Aptos"/>
              </a:rPr>
              <a:t>2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446519" y="3584448"/>
            <a:ext cx="1463040" cy="621792"/>
          </a:xfrm>
          <a:prstGeom prst="rect">
            <a:avLst/>
          </a:prstGeom>
          <a:solidFill>
            <a:srgbClr val="F6F8FB"/>
          </a:solidFill>
          <a:ln w="8255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46" name="TextBox 45"/>
          <p:cNvSpPr txBox="1"/>
          <p:nvPr/>
        </p:nvSpPr>
        <p:spPr>
          <a:xfrm>
            <a:off x="6519671" y="3703320"/>
            <a:ext cx="1316736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200" b="1" i="0" noProof="0" dirty="0">
                <a:solidFill>
                  <a:srgbClr val="B84F4F"/>
                </a:solidFill>
                <a:latin typeface="Aptos"/>
              </a:rPr>
              <a:t>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909559" y="3584448"/>
            <a:ext cx="1463040" cy="621792"/>
          </a:xfrm>
          <a:prstGeom prst="rect">
            <a:avLst/>
          </a:prstGeom>
          <a:solidFill>
            <a:srgbClr val="F6F8FB"/>
          </a:solidFill>
          <a:ln w="8255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48" name="TextBox 47"/>
          <p:cNvSpPr txBox="1"/>
          <p:nvPr/>
        </p:nvSpPr>
        <p:spPr>
          <a:xfrm>
            <a:off x="7982711" y="3703320"/>
            <a:ext cx="1316736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200" b="1" i="0" noProof="0" dirty="0">
                <a:solidFill>
                  <a:srgbClr val="1F8E89"/>
                </a:solidFill>
                <a:latin typeface="Aptos"/>
              </a:rPr>
              <a:t>4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40080" y="4206240"/>
            <a:ext cx="2880360" cy="621792"/>
          </a:xfrm>
          <a:prstGeom prst="rect">
            <a:avLst/>
          </a:prstGeom>
          <a:solidFill>
            <a:srgbClr val="FFFFFF"/>
          </a:solidFill>
          <a:ln w="8255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50" name="TextBox 49"/>
          <p:cNvSpPr txBox="1"/>
          <p:nvPr/>
        </p:nvSpPr>
        <p:spPr>
          <a:xfrm>
            <a:off x="713231" y="4325112"/>
            <a:ext cx="2734056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200" b="1" i="0" noProof="0" dirty="0">
                <a:solidFill>
                  <a:srgbClr val="132A43"/>
                </a:solidFill>
                <a:latin typeface="Aptos"/>
              </a:rPr>
              <a:t>D · Současný přístup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520439" y="4206240"/>
            <a:ext cx="1463040" cy="621792"/>
          </a:xfrm>
          <a:prstGeom prst="rect">
            <a:avLst/>
          </a:prstGeom>
          <a:solidFill>
            <a:srgbClr val="FFFFFF"/>
          </a:solidFill>
          <a:ln w="8255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52" name="TextBox 51"/>
          <p:cNvSpPr txBox="1"/>
          <p:nvPr/>
        </p:nvSpPr>
        <p:spPr>
          <a:xfrm>
            <a:off x="3593591" y="4325112"/>
            <a:ext cx="1316736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200" b="1" i="0" noProof="0" dirty="0">
                <a:solidFill>
                  <a:srgbClr val="B84F4F"/>
                </a:solidFill>
                <a:latin typeface="Aptos"/>
              </a:rPr>
              <a:t>1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983479" y="4206240"/>
            <a:ext cx="1463040" cy="621792"/>
          </a:xfrm>
          <a:prstGeom prst="rect">
            <a:avLst/>
          </a:prstGeom>
          <a:solidFill>
            <a:srgbClr val="FFFFFF"/>
          </a:solidFill>
          <a:ln w="8255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54" name="TextBox 53"/>
          <p:cNvSpPr txBox="1"/>
          <p:nvPr/>
        </p:nvSpPr>
        <p:spPr>
          <a:xfrm>
            <a:off x="5056631" y="4325112"/>
            <a:ext cx="1316736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200" b="1" i="0" noProof="0" dirty="0">
                <a:solidFill>
                  <a:srgbClr val="1F8E89"/>
                </a:solidFill>
                <a:latin typeface="Aptos"/>
              </a:rPr>
              <a:t>5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446519" y="4206240"/>
            <a:ext cx="1463040" cy="621792"/>
          </a:xfrm>
          <a:prstGeom prst="rect">
            <a:avLst/>
          </a:prstGeom>
          <a:solidFill>
            <a:srgbClr val="FFFFFF"/>
          </a:solidFill>
          <a:ln w="8255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56" name="TextBox 55"/>
          <p:cNvSpPr txBox="1"/>
          <p:nvPr/>
        </p:nvSpPr>
        <p:spPr>
          <a:xfrm>
            <a:off x="6519671" y="4325112"/>
            <a:ext cx="1316736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200" b="1" i="0" noProof="0" dirty="0">
                <a:solidFill>
                  <a:srgbClr val="1F8E89"/>
                </a:solidFill>
                <a:latin typeface="Aptos"/>
              </a:rPr>
              <a:t>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909559" y="4206240"/>
            <a:ext cx="1463040" cy="621792"/>
          </a:xfrm>
          <a:prstGeom prst="rect">
            <a:avLst/>
          </a:prstGeom>
          <a:solidFill>
            <a:srgbClr val="FFFFFF"/>
          </a:solidFill>
          <a:ln w="8255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58" name="TextBox 57"/>
          <p:cNvSpPr txBox="1"/>
          <p:nvPr/>
        </p:nvSpPr>
        <p:spPr>
          <a:xfrm>
            <a:off x="7982711" y="4325112"/>
            <a:ext cx="1316736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200" b="1" i="0" noProof="0" dirty="0">
                <a:solidFill>
                  <a:srgbClr val="B84F4F"/>
                </a:solidFill>
                <a:latin typeface="Aptos"/>
              </a:rPr>
              <a:t>1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58368" y="4983480"/>
            <a:ext cx="10927080" cy="786384"/>
          </a:xfrm>
          <a:prstGeom prst="roundRect">
            <a:avLst/>
          </a:prstGeom>
          <a:solidFill>
            <a:srgbClr val="FCF6EB"/>
          </a:solidFill>
          <a:ln w="8890">
            <a:solidFill>
              <a:srgbClr val="EFDC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60" name="TextBox 59"/>
          <p:cNvSpPr txBox="1"/>
          <p:nvPr/>
        </p:nvSpPr>
        <p:spPr>
          <a:xfrm>
            <a:off x="859536" y="5120640"/>
            <a:ext cx="10515600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080" b="0" i="0" noProof="0" dirty="0">
                <a:solidFill>
                  <a:srgbClr val="132A43"/>
                </a:solidFill>
                <a:latin typeface="Aptos"/>
              </a:rPr>
              <a:t>Interpretace: průvodce je nejsnazší začátek, workshop umožní nácvik a změna hodnocení má potenciál pro dlouhodobý dopad, ale vyžaduje součinnost FIS. Proto je navržena postupná kombinace, nikoli jednorázová volba jedné varianty.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94944" y="5961888"/>
            <a:ext cx="10789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869" b="0" i="0" noProof="0" dirty="0">
                <a:solidFill>
                  <a:srgbClr val="667585"/>
                </a:solidFill>
                <a:latin typeface="Aptos"/>
              </a:rPr>
              <a:t>* U nákladů znamená 5 nízké náklady / malé úsilí. Hodnocení je odborný úsudek týmu, ne objektivní měření.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502920" y="6473952"/>
            <a:ext cx="11183112" cy="0"/>
          </a:xfrm>
          <a:prstGeom prst="line">
            <a:avLst/>
          </a:prstGeom>
          <a:ln w="8890">
            <a:solidFill>
              <a:srgbClr val="DAE2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521207" y="6519672"/>
            <a:ext cx="85039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750" b="1" i="0" noProof="0" dirty="0">
                <a:solidFill>
                  <a:srgbClr val="667585"/>
                </a:solidFill>
                <a:latin typeface="Aptos"/>
              </a:rPr>
              <a:t>TÝM 10  ·  ZÁLOŽNÍ SLIDE  ·  ZOBRAZIT POUZE PŘI DISKUSI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02920" y="246888"/>
            <a:ext cx="1024128" cy="256032"/>
          </a:xfrm>
          <a:prstGeom prst="roundRect">
            <a:avLst/>
          </a:prstGeom>
          <a:solidFill>
            <a:srgbClr val="EFF5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3" name="TextBox 2"/>
          <p:cNvSpPr txBox="1"/>
          <p:nvPr/>
        </p:nvSpPr>
        <p:spPr>
          <a:xfrm>
            <a:off x="548640" y="278892"/>
            <a:ext cx="932688" cy="1737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900" b="1" i="0" noProof="0" dirty="0">
                <a:solidFill>
                  <a:srgbClr val="3669BE"/>
                </a:solidFill>
                <a:latin typeface="Aptos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94360"/>
            <a:ext cx="1106424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2600" b="1" i="0" noProof="0" dirty="0">
                <a:solidFill>
                  <a:srgbClr val="132A43"/>
                </a:solidFill>
                <a:latin typeface="Aptos Display"/>
              </a:rPr>
              <a:t>Co říká externí výzkum?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088136"/>
            <a:ext cx="110185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150" b="0" i="0" noProof="0" dirty="0">
                <a:solidFill>
                  <a:srgbClr val="667585"/>
                </a:solidFill>
                <a:latin typeface="Aptos"/>
              </a:rPr>
              <a:t>Studie podporují principy navrženého řešení, ale nejsou přímým testem intervence na FIS.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1426464"/>
            <a:ext cx="11183112" cy="0"/>
          </a:xfrm>
          <a:prstGeom prst="line">
            <a:avLst/>
          </a:prstGeom>
          <a:ln w="11430">
            <a:solidFill>
              <a:srgbClr val="DAE2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1402568" y="265176"/>
            <a:ext cx="118872" cy="118872"/>
          </a:xfrm>
          <a:prstGeom prst="ellipse">
            <a:avLst/>
          </a:prstGeom>
          <a:solidFill>
            <a:srgbClr val="1F8E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8" name="Oval 7"/>
          <p:cNvSpPr/>
          <p:nvPr/>
        </p:nvSpPr>
        <p:spPr>
          <a:xfrm>
            <a:off x="11548872" y="265176"/>
            <a:ext cx="118872" cy="118872"/>
          </a:xfrm>
          <a:prstGeom prst="ellipse">
            <a:avLst/>
          </a:prstGeom>
          <a:solidFill>
            <a:srgbClr val="3669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9" name="Rounded Rectangle 8"/>
          <p:cNvSpPr/>
          <p:nvPr/>
        </p:nvSpPr>
        <p:spPr>
          <a:xfrm>
            <a:off x="594360" y="1691640"/>
            <a:ext cx="5376672" cy="1828800"/>
          </a:xfrm>
          <a:prstGeom prst="roundRect">
            <a:avLst/>
          </a:prstGeom>
          <a:solidFill>
            <a:srgbClr val="EFF5FC"/>
          </a:solidFill>
          <a:ln w="1016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10" name="Rounded Rectangle 9"/>
          <p:cNvSpPr/>
          <p:nvPr/>
        </p:nvSpPr>
        <p:spPr>
          <a:xfrm>
            <a:off x="594360" y="1691640"/>
            <a:ext cx="68580" cy="1828800"/>
          </a:xfrm>
          <a:prstGeom prst="roundRect">
            <a:avLst/>
          </a:prstGeom>
          <a:solidFill>
            <a:srgbClr val="3669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11" name="TextBox 10"/>
          <p:cNvSpPr txBox="1"/>
          <p:nvPr/>
        </p:nvSpPr>
        <p:spPr>
          <a:xfrm>
            <a:off x="758952" y="1801368"/>
            <a:ext cx="508406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300" b="1" i="0" noProof="0" dirty="0">
                <a:solidFill>
                  <a:srgbClr val="3669BE"/>
                </a:solidFill>
                <a:latin typeface="Aptos"/>
              </a:rPr>
              <a:t>BASTANI ET AL. (2025)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" y="2121408"/>
            <a:ext cx="5084064" cy="1316736"/>
          </a:xfrm>
          <a:prstGeom prst="rect">
            <a:avLst/>
          </a:prstGeom>
          <a:noFill/>
        </p:spPr>
        <p:txBody>
          <a:bodyPr wrap="square" lIns="9144" tIns="9144" r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040" b="0" i="0" noProof="0" dirty="0">
                <a:solidFill>
                  <a:srgbClr val="283442"/>
                </a:solidFill>
                <a:latin typeface="Aptos"/>
              </a:rPr>
              <a:t>Randomizovaný experiment ve středoškolské matematice: standardní AI zlepšila výkon při procvičování, ale skupina dopadla hůře při následném testu bez AI. Tutor s nápovědami nevykázal stejný statisticky významný negativní rozdíl.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9632" y="1691640"/>
            <a:ext cx="5376672" cy="182880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14" name="Rounded Rectangle 13"/>
          <p:cNvSpPr/>
          <p:nvPr/>
        </p:nvSpPr>
        <p:spPr>
          <a:xfrm>
            <a:off x="6199632" y="1691640"/>
            <a:ext cx="68580" cy="1828800"/>
          </a:xfrm>
          <a:prstGeom prst="roundRect">
            <a:avLst/>
          </a:prstGeom>
          <a:solidFill>
            <a:srgbClr val="1F8E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15" name="TextBox 14"/>
          <p:cNvSpPr txBox="1"/>
          <p:nvPr/>
        </p:nvSpPr>
        <p:spPr>
          <a:xfrm>
            <a:off x="6364224" y="1801368"/>
            <a:ext cx="508406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300" b="1" i="0" noProof="0" dirty="0">
                <a:solidFill>
                  <a:srgbClr val="1F8E89"/>
                </a:solidFill>
                <a:latin typeface="Aptos"/>
              </a:rPr>
              <a:t>PARDOS &amp; BHANDARI (2024)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4224" y="2121408"/>
            <a:ext cx="5084064" cy="1316736"/>
          </a:xfrm>
          <a:prstGeom prst="rect">
            <a:avLst/>
          </a:prstGeom>
          <a:noFill/>
        </p:spPr>
        <p:txBody>
          <a:bodyPr wrap="square" lIns="9144" tIns="9144" r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040" b="0" i="0" noProof="0" dirty="0">
                <a:solidFill>
                  <a:srgbClr val="283442"/>
                </a:solidFill>
                <a:latin typeface="Aptos"/>
              </a:rPr>
              <a:t>Nápovědy generované </a:t>
            </a:r>
            <a:r>
              <a:rPr lang="cs-CZ" sz="1040" b="0" i="0" noProof="0" dirty="0" err="1">
                <a:solidFill>
                  <a:srgbClr val="283442"/>
                </a:solidFill>
                <a:latin typeface="Aptos"/>
              </a:rPr>
              <a:t>ChatGPT</a:t>
            </a:r>
            <a:r>
              <a:rPr lang="cs-CZ" sz="1040" b="0" i="0" noProof="0" dirty="0">
                <a:solidFill>
                  <a:srgbClr val="283442"/>
                </a:solidFill>
                <a:latin typeface="Aptos"/>
              </a:rPr>
              <a:t> přinesly učební zisky srovnatelné s nápovědami od lidských tutorů u matematických úloh. Část nápověd však obsahovala chyby, což podporuje potřebu ověřování.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" y="3749039"/>
            <a:ext cx="5376672" cy="1645920"/>
          </a:xfrm>
          <a:prstGeom prst="roundRect">
            <a:avLst/>
          </a:prstGeom>
          <a:solidFill>
            <a:srgbClr val="FCF6EB"/>
          </a:solidFill>
          <a:ln w="1016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18" name="Rounded Rectangle 17"/>
          <p:cNvSpPr/>
          <p:nvPr/>
        </p:nvSpPr>
        <p:spPr>
          <a:xfrm>
            <a:off x="594360" y="3749039"/>
            <a:ext cx="68580" cy="1645920"/>
          </a:xfrm>
          <a:prstGeom prst="roundRect">
            <a:avLst/>
          </a:prstGeom>
          <a:solidFill>
            <a:srgbClr val="D08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19" name="TextBox 18"/>
          <p:cNvSpPr txBox="1"/>
          <p:nvPr/>
        </p:nvSpPr>
        <p:spPr>
          <a:xfrm>
            <a:off x="758952" y="3858768"/>
            <a:ext cx="508406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250" b="1" i="0" noProof="0" dirty="0">
                <a:solidFill>
                  <a:srgbClr val="D08D32"/>
                </a:solidFill>
                <a:latin typeface="Aptos"/>
              </a:rPr>
              <a:t>AN ET AL. (2026)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52" y="4178807"/>
            <a:ext cx="5084064" cy="1133856"/>
          </a:xfrm>
          <a:prstGeom prst="rect">
            <a:avLst/>
          </a:prstGeom>
          <a:noFill/>
        </p:spPr>
        <p:txBody>
          <a:bodyPr wrap="square" lIns="9144" tIns="9144" r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010" b="0" i="0" noProof="0" dirty="0">
                <a:solidFill>
                  <a:srgbClr val="283442"/>
                </a:solidFill>
                <a:latin typeface="Aptos"/>
              </a:rPr>
              <a:t>Systematický přehled shrnuje možné faktory a důsledky nadměrného spoléhání studentů na generativní AI. Jde o širší kontext, nikoli důkaz konkrétních příčin u prváků FIS.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99632" y="3749039"/>
            <a:ext cx="5376672" cy="1645920"/>
          </a:xfrm>
          <a:prstGeom prst="roundRect">
            <a:avLst/>
          </a:prstGeom>
          <a:solidFill>
            <a:srgbClr val="EFF5FC"/>
          </a:solidFill>
          <a:ln w="1016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22" name="Rounded Rectangle 21"/>
          <p:cNvSpPr/>
          <p:nvPr/>
        </p:nvSpPr>
        <p:spPr>
          <a:xfrm>
            <a:off x="6199632" y="3749039"/>
            <a:ext cx="68580" cy="1645920"/>
          </a:xfrm>
          <a:prstGeom prst="roundRect">
            <a:avLst/>
          </a:prstGeom>
          <a:solidFill>
            <a:srgbClr val="3669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23" name="TextBox 22"/>
          <p:cNvSpPr txBox="1"/>
          <p:nvPr/>
        </p:nvSpPr>
        <p:spPr>
          <a:xfrm>
            <a:off x="6364224" y="3858768"/>
            <a:ext cx="508406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250" b="1" i="0" noProof="0" dirty="0">
                <a:solidFill>
                  <a:srgbClr val="3669BE"/>
                </a:solidFill>
                <a:latin typeface="Aptos"/>
              </a:rPr>
              <a:t>ABBAS ET AL. (2024)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64224" y="4178807"/>
            <a:ext cx="5084064" cy="1133856"/>
          </a:xfrm>
          <a:prstGeom prst="rect">
            <a:avLst/>
          </a:prstGeom>
          <a:noFill/>
        </p:spPr>
        <p:txBody>
          <a:bodyPr wrap="square" lIns="9144" tIns="9144" r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010" b="0" i="0" noProof="0" dirty="0">
                <a:solidFill>
                  <a:srgbClr val="283442"/>
                </a:solidFill>
                <a:latin typeface="Aptos"/>
              </a:rPr>
              <a:t>Výzkum univerzitních studentů zkoumal motivace a důsledky používání generativní AI; je relevantní pro témata </a:t>
            </a:r>
            <a:r>
              <a:rPr lang="cs-CZ" sz="1010" b="0" i="0" noProof="0" dirty="0" err="1">
                <a:solidFill>
                  <a:srgbClr val="283442"/>
                </a:solidFill>
                <a:latin typeface="Aptos"/>
              </a:rPr>
              <a:t>workloadu</a:t>
            </a:r>
            <a:r>
              <a:rPr lang="cs-CZ" sz="1010" b="0" i="0" noProof="0" dirty="0">
                <a:solidFill>
                  <a:srgbClr val="283442"/>
                </a:solidFill>
                <a:latin typeface="Aptos"/>
              </a:rPr>
              <a:t> a pohodlnosti, ale jeho výsledky nelze automaticky přenést na FIS.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" y="5705856"/>
            <a:ext cx="108813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950" b="0" i="0" noProof="0" dirty="0">
                <a:solidFill>
                  <a:srgbClr val="667585"/>
                </a:solidFill>
                <a:latin typeface="Aptos"/>
              </a:rPr>
              <a:t>Závěr pro tým: neprohlašujeme, že AI je vždy škodlivá; zaměřujeme se na používání, které zachovává vlastní pokus, nápovědu a ověření.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02920" y="6473952"/>
            <a:ext cx="11183112" cy="0"/>
          </a:xfrm>
          <a:prstGeom prst="line">
            <a:avLst/>
          </a:prstGeom>
          <a:ln w="8890">
            <a:solidFill>
              <a:srgbClr val="DAE2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21207" y="6519672"/>
            <a:ext cx="85039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750" b="1" i="0" noProof="0" dirty="0">
                <a:solidFill>
                  <a:srgbClr val="667585"/>
                </a:solidFill>
                <a:latin typeface="Aptos"/>
              </a:rPr>
              <a:t>TÝM 10  ·  ZÁLOŽNÍ SLIDE  ·  ZOBRAZIT POUZE PŘI DISKUSI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02920" y="246888"/>
            <a:ext cx="1024128" cy="256032"/>
          </a:xfrm>
          <a:prstGeom prst="roundRect">
            <a:avLst/>
          </a:prstGeom>
          <a:solidFill>
            <a:srgbClr val="EFF5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3" name="TextBox 2"/>
          <p:cNvSpPr txBox="1"/>
          <p:nvPr/>
        </p:nvSpPr>
        <p:spPr>
          <a:xfrm>
            <a:off x="548640" y="278892"/>
            <a:ext cx="932688" cy="1737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900" b="1" i="0" noProof="0" dirty="0">
                <a:solidFill>
                  <a:srgbClr val="3669BE"/>
                </a:solidFill>
                <a:latin typeface="Aptos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94360"/>
            <a:ext cx="1106424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2600" b="1" i="0" noProof="0" dirty="0">
                <a:solidFill>
                  <a:srgbClr val="132A43"/>
                </a:solidFill>
                <a:latin typeface="Aptos Display"/>
              </a:rPr>
              <a:t>Ukázka řešení: pravidlo Try → </a:t>
            </a:r>
            <a:r>
              <a:rPr lang="cs-CZ" sz="2600" b="1" i="0" noProof="0" dirty="0" err="1">
                <a:solidFill>
                  <a:srgbClr val="132A43"/>
                </a:solidFill>
                <a:latin typeface="Aptos Display"/>
              </a:rPr>
              <a:t>Hint</a:t>
            </a:r>
            <a:r>
              <a:rPr lang="cs-CZ" sz="2600" b="1" i="0" noProof="0" dirty="0">
                <a:solidFill>
                  <a:srgbClr val="132A43"/>
                </a:solidFill>
                <a:latin typeface="Aptos Display"/>
              </a:rPr>
              <a:t> → </a:t>
            </a:r>
            <a:r>
              <a:rPr lang="cs-CZ" sz="2600" b="1" i="0" noProof="0" dirty="0" err="1">
                <a:solidFill>
                  <a:srgbClr val="132A43"/>
                </a:solidFill>
                <a:latin typeface="Aptos Display"/>
              </a:rPr>
              <a:t>Solve</a:t>
            </a:r>
            <a:r>
              <a:rPr lang="cs-CZ" sz="2600" b="1" i="0" noProof="0" dirty="0">
                <a:solidFill>
                  <a:srgbClr val="132A43"/>
                </a:solidFill>
                <a:latin typeface="Aptos Display"/>
              </a:rPr>
              <a:t> → </a:t>
            </a:r>
            <a:r>
              <a:rPr lang="cs-CZ" sz="2600" b="1" i="0" noProof="0" dirty="0" err="1">
                <a:solidFill>
                  <a:srgbClr val="132A43"/>
                </a:solidFill>
                <a:latin typeface="Aptos Display"/>
              </a:rPr>
              <a:t>Verify</a:t>
            </a:r>
            <a:endParaRPr lang="cs-CZ" sz="2600" b="1" i="0" noProof="0" dirty="0">
              <a:solidFill>
                <a:srgbClr val="132A43"/>
              </a:solidFill>
              <a:latin typeface="Aptos Display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21207" y="1088136"/>
            <a:ext cx="110185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150" b="0" i="0" noProof="0" dirty="0">
                <a:solidFill>
                  <a:srgbClr val="667585"/>
                </a:solidFill>
                <a:latin typeface="Aptos"/>
              </a:rPr>
              <a:t>Konkrétní obsah, který může být součástí jednostránkového průvodce a workshopu.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1426464"/>
            <a:ext cx="11183112" cy="0"/>
          </a:xfrm>
          <a:prstGeom prst="line">
            <a:avLst/>
          </a:prstGeom>
          <a:ln w="11430">
            <a:solidFill>
              <a:srgbClr val="DAE2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1402568" y="265176"/>
            <a:ext cx="118872" cy="118872"/>
          </a:xfrm>
          <a:prstGeom prst="ellipse">
            <a:avLst/>
          </a:prstGeom>
          <a:solidFill>
            <a:srgbClr val="1F8E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8" name="Oval 7"/>
          <p:cNvSpPr/>
          <p:nvPr/>
        </p:nvSpPr>
        <p:spPr>
          <a:xfrm>
            <a:off x="11548872" y="265176"/>
            <a:ext cx="118872" cy="118872"/>
          </a:xfrm>
          <a:prstGeom prst="ellipse">
            <a:avLst/>
          </a:prstGeom>
          <a:solidFill>
            <a:srgbClr val="3669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9" name="Rounded Rectangle 8"/>
          <p:cNvSpPr/>
          <p:nvPr/>
        </p:nvSpPr>
        <p:spPr>
          <a:xfrm>
            <a:off x="612648" y="1719072"/>
            <a:ext cx="5321808" cy="1627632"/>
          </a:xfrm>
          <a:prstGeom prst="roundRect">
            <a:avLst/>
          </a:prstGeom>
          <a:solidFill>
            <a:srgbClr val="EFF5FC"/>
          </a:solidFill>
          <a:ln w="1016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10" name="Rounded Rectangle 9"/>
          <p:cNvSpPr/>
          <p:nvPr/>
        </p:nvSpPr>
        <p:spPr>
          <a:xfrm>
            <a:off x="612648" y="1719072"/>
            <a:ext cx="68580" cy="1627632"/>
          </a:xfrm>
          <a:prstGeom prst="roundRect">
            <a:avLst/>
          </a:prstGeom>
          <a:solidFill>
            <a:srgbClr val="3669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11" name="TextBox 10"/>
          <p:cNvSpPr txBox="1"/>
          <p:nvPr/>
        </p:nvSpPr>
        <p:spPr>
          <a:xfrm>
            <a:off x="777240" y="1828800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300" b="1" i="0" noProof="0" dirty="0">
                <a:solidFill>
                  <a:srgbClr val="3669BE"/>
                </a:solidFill>
                <a:latin typeface="Aptos"/>
              </a:rPr>
              <a:t>1 · TRY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39"/>
            <a:ext cx="5029200" cy="1115568"/>
          </a:xfrm>
          <a:prstGeom prst="rect">
            <a:avLst/>
          </a:prstGeom>
          <a:noFill/>
        </p:spPr>
        <p:txBody>
          <a:bodyPr wrap="square" lIns="9144" tIns="9144" r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030" b="0" i="0" noProof="0" dirty="0">
                <a:solidFill>
                  <a:srgbClr val="283442"/>
                </a:solidFill>
                <a:latin typeface="Aptos"/>
              </a:rPr>
              <a:t>Nejdřív zkus úlohu samostatně. Zapiš, co už víš a kde ses zasekl.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endParaRPr lang="cs-CZ" sz="1030" b="0" i="0" noProof="0" dirty="0">
              <a:solidFill>
                <a:srgbClr val="283442"/>
              </a:solidFill>
              <a:latin typeface="Aptos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030" b="0" i="0" noProof="0" dirty="0">
                <a:solidFill>
                  <a:srgbClr val="283442"/>
                </a:solidFill>
                <a:latin typeface="Aptos"/>
              </a:rPr>
              <a:t>Nezačínej okamžitým požadavkem na kompletní řešení.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719072"/>
            <a:ext cx="5321808" cy="1627632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14" name="Rounded Rectangle 13"/>
          <p:cNvSpPr/>
          <p:nvPr/>
        </p:nvSpPr>
        <p:spPr>
          <a:xfrm>
            <a:off x="6217920" y="1719072"/>
            <a:ext cx="68580" cy="1627632"/>
          </a:xfrm>
          <a:prstGeom prst="roundRect">
            <a:avLst/>
          </a:prstGeom>
          <a:solidFill>
            <a:srgbClr val="1F8E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15" name="TextBox 14"/>
          <p:cNvSpPr txBox="1"/>
          <p:nvPr/>
        </p:nvSpPr>
        <p:spPr>
          <a:xfrm>
            <a:off x="6382512" y="1828800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300" b="1" i="0" noProof="0" dirty="0">
                <a:solidFill>
                  <a:srgbClr val="1F8E89"/>
                </a:solidFill>
                <a:latin typeface="Aptos"/>
              </a:rPr>
              <a:t>2 · HINT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82512" y="2148839"/>
            <a:ext cx="5029200" cy="1115568"/>
          </a:xfrm>
          <a:prstGeom prst="rect">
            <a:avLst/>
          </a:prstGeom>
          <a:noFill/>
        </p:spPr>
        <p:txBody>
          <a:bodyPr wrap="square" lIns="9144" tIns="9144" r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030" b="0" i="0" noProof="0" dirty="0">
                <a:solidFill>
                  <a:srgbClr val="283442"/>
                </a:solidFill>
                <a:latin typeface="Aptos"/>
              </a:rPr>
              <a:t>Požádej o nápovědu, ne o finální odpověď.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endParaRPr lang="cs-CZ" sz="1030" b="0" i="0" noProof="0" dirty="0">
              <a:solidFill>
                <a:srgbClr val="283442"/>
              </a:solidFill>
              <a:latin typeface="Aptos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030" b="0" i="0" noProof="0" dirty="0">
                <a:solidFill>
                  <a:srgbClr val="283442"/>
                </a:solidFill>
                <a:latin typeface="Aptos"/>
              </a:rPr>
              <a:t>Prompt: “</a:t>
            </a:r>
            <a:r>
              <a:rPr lang="cs-CZ" sz="1030" b="0" i="0" noProof="0" dirty="0" err="1">
                <a:solidFill>
                  <a:srgbClr val="283442"/>
                </a:solidFill>
                <a:latin typeface="Aptos"/>
              </a:rPr>
              <a:t>Give</a:t>
            </a:r>
            <a:r>
              <a:rPr lang="cs-CZ" sz="1030" b="0" i="0" noProof="0" dirty="0">
                <a:solidFill>
                  <a:srgbClr val="283442"/>
                </a:solidFill>
                <a:latin typeface="Aptos"/>
              </a:rPr>
              <a:t> </a:t>
            </a:r>
            <a:r>
              <a:rPr lang="cs-CZ" sz="1030" b="0" i="0" noProof="0" dirty="0" err="1">
                <a:solidFill>
                  <a:srgbClr val="283442"/>
                </a:solidFill>
                <a:latin typeface="Aptos"/>
              </a:rPr>
              <a:t>me</a:t>
            </a:r>
            <a:r>
              <a:rPr lang="cs-CZ" sz="1030" b="0" i="0" noProof="0" dirty="0">
                <a:solidFill>
                  <a:srgbClr val="283442"/>
                </a:solidFill>
                <a:latin typeface="Aptos"/>
              </a:rPr>
              <a:t> </a:t>
            </a:r>
            <a:r>
              <a:rPr lang="cs-CZ" sz="1030" b="0" i="0" noProof="0" dirty="0" err="1">
                <a:solidFill>
                  <a:srgbClr val="283442"/>
                </a:solidFill>
                <a:latin typeface="Aptos"/>
              </a:rPr>
              <a:t>one</a:t>
            </a:r>
            <a:r>
              <a:rPr lang="cs-CZ" sz="1030" b="0" i="0" noProof="0" dirty="0">
                <a:solidFill>
                  <a:srgbClr val="283442"/>
                </a:solidFill>
                <a:latin typeface="Aptos"/>
              </a:rPr>
              <a:t> </a:t>
            </a:r>
            <a:r>
              <a:rPr lang="cs-CZ" sz="1030" b="0" i="0" noProof="0" dirty="0" err="1">
                <a:solidFill>
                  <a:srgbClr val="283442"/>
                </a:solidFill>
                <a:latin typeface="Aptos"/>
              </a:rPr>
              <a:t>hint</a:t>
            </a:r>
            <a:r>
              <a:rPr lang="cs-CZ" sz="1030" b="0" i="0" noProof="0" dirty="0">
                <a:solidFill>
                  <a:srgbClr val="283442"/>
                </a:solidFill>
                <a:latin typeface="Aptos"/>
              </a:rPr>
              <a:t> </a:t>
            </a:r>
            <a:r>
              <a:rPr lang="cs-CZ" sz="1030" b="0" i="0" noProof="0" dirty="0" err="1">
                <a:solidFill>
                  <a:srgbClr val="283442"/>
                </a:solidFill>
                <a:latin typeface="Aptos"/>
              </a:rPr>
              <a:t>at</a:t>
            </a:r>
            <a:r>
              <a:rPr lang="cs-CZ" sz="1030" b="0" i="0" noProof="0" dirty="0">
                <a:solidFill>
                  <a:srgbClr val="283442"/>
                </a:solidFill>
                <a:latin typeface="Aptos"/>
              </a:rPr>
              <a:t> a </a:t>
            </a:r>
            <a:r>
              <a:rPr lang="cs-CZ" sz="1030" b="0" i="0" noProof="0" dirty="0" err="1">
                <a:solidFill>
                  <a:srgbClr val="283442"/>
                </a:solidFill>
                <a:latin typeface="Aptos"/>
              </a:rPr>
              <a:t>time</a:t>
            </a:r>
            <a:r>
              <a:rPr lang="cs-CZ" sz="1030" b="0" i="0" noProof="0" dirty="0">
                <a:solidFill>
                  <a:srgbClr val="283442"/>
                </a:solidFill>
                <a:latin typeface="Aptos"/>
              </a:rPr>
              <a:t>. Do not </a:t>
            </a:r>
            <a:r>
              <a:rPr lang="cs-CZ" sz="1030" b="0" i="0" noProof="0" dirty="0" err="1">
                <a:solidFill>
                  <a:srgbClr val="283442"/>
                </a:solidFill>
                <a:latin typeface="Aptos"/>
              </a:rPr>
              <a:t>reveal</a:t>
            </a:r>
            <a:r>
              <a:rPr lang="cs-CZ" sz="1030" b="0" i="0" noProof="0" dirty="0">
                <a:solidFill>
                  <a:srgbClr val="283442"/>
                </a:solidFill>
                <a:latin typeface="Aptos"/>
              </a:rPr>
              <a:t> </a:t>
            </a:r>
            <a:r>
              <a:rPr lang="cs-CZ" sz="1030" b="0" i="0" noProof="0" dirty="0" err="1">
                <a:solidFill>
                  <a:srgbClr val="283442"/>
                </a:solidFill>
                <a:latin typeface="Aptos"/>
              </a:rPr>
              <a:t>the</a:t>
            </a:r>
            <a:r>
              <a:rPr lang="cs-CZ" sz="1030" b="0" i="0" noProof="0" dirty="0">
                <a:solidFill>
                  <a:srgbClr val="283442"/>
                </a:solidFill>
                <a:latin typeface="Aptos"/>
              </a:rPr>
              <a:t> full </a:t>
            </a:r>
            <a:r>
              <a:rPr lang="cs-CZ" sz="1030" b="0" i="0" noProof="0" dirty="0" err="1">
                <a:solidFill>
                  <a:srgbClr val="283442"/>
                </a:solidFill>
                <a:latin typeface="Aptos"/>
              </a:rPr>
              <a:t>solution</a:t>
            </a:r>
            <a:r>
              <a:rPr lang="cs-CZ" sz="1030" b="0" i="0" noProof="0" dirty="0">
                <a:solidFill>
                  <a:srgbClr val="283442"/>
                </a:solidFill>
                <a:latin typeface="Aptos"/>
              </a:rPr>
              <a:t>.”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8" y="3657600"/>
            <a:ext cx="5321808" cy="1627632"/>
          </a:xfrm>
          <a:prstGeom prst="roundRect">
            <a:avLst/>
          </a:prstGeom>
          <a:solidFill>
            <a:srgbClr val="FCF6EB"/>
          </a:solidFill>
          <a:ln w="1016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18" name="Rounded Rectangle 17"/>
          <p:cNvSpPr/>
          <p:nvPr/>
        </p:nvSpPr>
        <p:spPr>
          <a:xfrm>
            <a:off x="612648" y="3657600"/>
            <a:ext cx="68580" cy="1627632"/>
          </a:xfrm>
          <a:prstGeom prst="roundRect">
            <a:avLst/>
          </a:prstGeom>
          <a:solidFill>
            <a:srgbClr val="D08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19" name="TextBox 18"/>
          <p:cNvSpPr txBox="1"/>
          <p:nvPr/>
        </p:nvSpPr>
        <p:spPr>
          <a:xfrm>
            <a:off x="777240" y="3767328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300" b="1" i="0" noProof="0" dirty="0">
                <a:solidFill>
                  <a:srgbClr val="D08D32"/>
                </a:solidFill>
                <a:latin typeface="Aptos"/>
              </a:rPr>
              <a:t>3 · SOLVE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087368"/>
            <a:ext cx="5029200" cy="1115568"/>
          </a:xfrm>
          <a:prstGeom prst="rect">
            <a:avLst/>
          </a:prstGeom>
          <a:noFill/>
        </p:spPr>
        <p:txBody>
          <a:bodyPr wrap="square" lIns="9144" tIns="9144" r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030" b="0" i="0" noProof="0" dirty="0">
                <a:solidFill>
                  <a:srgbClr val="283442"/>
                </a:solidFill>
                <a:latin typeface="Aptos"/>
              </a:rPr>
              <a:t>Vyřeš úlohu vlastními slovy nebo kódem a vysvětli svůj postup.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endParaRPr lang="cs-CZ" sz="1030" b="0" i="0" noProof="0" dirty="0">
              <a:solidFill>
                <a:srgbClr val="283442"/>
              </a:solidFill>
              <a:latin typeface="Aptos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030" b="0" i="0" noProof="0" dirty="0">
                <a:solidFill>
                  <a:srgbClr val="283442"/>
                </a:solidFill>
                <a:latin typeface="Aptos"/>
              </a:rPr>
              <a:t>Prompt: “</a:t>
            </a:r>
            <a:r>
              <a:rPr lang="cs-CZ" sz="1030" b="0" i="0" noProof="0" dirty="0" err="1">
                <a:solidFill>
                  <a:srgbClr val="283442"/>
                </a:solidFill>
                <a:latin typeface="Aptos"/>
              </a:rPr>
              <a:t>Ask</a:t>
            </a:r>
            <a:r>
              <a:rPr lang="cs-CZ" sz="1030" b="0" i="0" noProof="0" dirty="0">
                <a:solidFill>
                  <a:srgbClr val="283442"/>
                </a:solidFill>
                <a:latin typeface="Aptos"/>
              </a:rPr>
              <a:t> </a:t>
            </a:r>
            <a:r>
              <a:rPr lang="cs-CZ" sz="1030" b="0" i="0" noProof="0" dirty="0" err="1">
                <a:solidFill>
                  <a:srgbClr val="283442"/>
                </a:solidFill>
                <a:latin typeface="Aptos"/>
              </a:rPr>
              <a:t>me</a:t>
            </a:r>
            <a:r>
              <a:rPr lang="cs-CZ" sz="1030" b="0" i="0" noProof="0" dirty="0">
                <a:solidFill>
                  <a:srgbClr val="283442"/>
                </a:solidFill>
                <a:latin typeface="Aptos"/>
              </a:rPr>
              <a:t> </a:t>
            </a:r>
            <a:r>
              <a:rPr lang="cs-CZ" sz="1030" b="0" i="0" noProof="0" dirty="0" err="1">
                <a:solidFill>
                  <a:srgbClr val="283442"/>
                </a:solidFill>
                <a:latin typeface="Aptos"/>
              </a:rPr>
              <a:t>questions</a:t>
            </a:r>
            <a:r>
              <a:rPr lang="cs-CZ" sz="1030" b="0" i="0" noProof="0" dirty="0">
                <a:solidFill>
                  <a:srgbClr val="283442"/>
                </a:solidFill>
                <a:latin typeface="Aptos"/>
              </a:rPr>
              <a:t> </a:t>
            </a:r>
            <a:r>
              <a:rPr lang="cs-CZ" sz="1030" b="0" i="0" noProof="0" dirty="0" err="1">
                <a:solidFill>
                  <a:srgbClr val="283442"/>
                </a:solidFill>
                <a:latin typeface="Aptos"/>
              </a:rPr>
              <a:t>that</a:t>
            </a:r>
            <a:r>
              <a:rPr lang="cs-CZ" sz="1030" b="0" i="0" noProof="0" dirty="0">
                <a:solidFill>
                  <a:srgbClr val="283442"/>
                </a:solidFill>
                <a:latin typeface="Aptos"/>
              </a:rPr>
              <a:t> </a:t>
            </a:r>
            <a:r>
              <a:rPr lang="cs-CZ" sz="1030" b="0" i="0" noProof="0" dirty="0" err="1">
                <a:solidFill>
                  <a:srgbClr val="283442"/>
                </a:solidFill>
                <a:latin typeface="Aptos"/>
              </a:rPr>
              <a:t>help</a:t>
            </a:r>
            <a:r>
              <a:rPr lang="cs-CZ" sz="1030" b="0" i="0" noProof="0" dirty="0">
                <a:solidFill>
                  <a:srgbClr val="283442"/>
                </a:solidFill>
                <a:latin typeface="Aptos"/>
              </a:rPr>
              <a:t> </a:t>
            </a:r>
            <a:r>
              <a:rPr lang="cs-CZ" sz="1030" b="0" i="0" noProof="0" dirty="0" err="1">
                <a:solidFill>
                  <a:srgbClr val="283442"/>
                </a:solidFill>
                <a:latin typeface="Aptos"/>
              </a:rPr>
              <a:t>me</a:t>
            </a:r>
            <a:r>
              <a:rPr lang="cs-CZ" sz="1030" b="0" i="0" noProof="0" dirty="0">
                <a:solidFill>
                  <a:srgbClr val="283442"/>
                </a:solidFill>
                <a:latin typeface="Aptos"/>
              </a:rPr>
              <a:t> </a:t>
            </a:r>
            <a:r>
              <a:rPr lang="cs-CZ" sz="1030" b="0" i="0" noProof="0" dirty="0" err="1">
                <a:solidFill>
                  <a:srgbClr val="283442"/>
                </a:solidFill>
                <a:latin typeface="Aptos"/>
              </a:rPr>
              <a:t>solve</a:t>
            </a:r>
            <a:r>
              <a:rPr lang="cs-CZ" sz="1030" b="0" i="0" noProof="0" dirty="0">
                <a:solidFill>
                  <a:srgbClr val="283442"/>
                </a:solidFill>
                <a:latin typeface="Aptos"/>
              </a:rPr>
              <a:t> </a:t>
            </a:r>
            <a:r>
              <a:rPr lang="cs-CZ" sz="1030" b="0" i="0" noProof="0" dirty="0" err="1">
                <a:solidFill>
                  <a:srgbClr val="283442"/>
                </a:solidFill>
                <a:latin typeface="Aptos"/>
              </a:rPr>
              <a:t>it</a:t>
            </a:r>
            <a:r>
              <a:rPr lang="cs-CZ" sz="1030" b="0" i="0" noProof="0" dirty="0">
                <a:solidFill>
                  <a:srgbClr val="283442"/>
                </a:solidFill>
                <a:latin typeface="Aptos"/>
              </a:rPr>
              <a:t> </a:t>
            </a:r>
            <a:r>
              <a:rPr lang="cs-CZ" sz="1030" b="0" i="0" noProof="0" dirty="0" err="1">
                <a:solidFill>
                  <a:srgbClr val="283442"/>
                </a:solidFill>
                <a:latin typeface="Aptos"/>
              </a:rPr>
              <a:t>independently</a:t>
            </a:r>
            <a:r>
              <a:rPr lang="cs-CZ" sz="1030" b="0" i="0" noProof="0" dirty="0">
                <a:solidFill>
                  <a:srgbClr val="283442"/>
                </a:solidFill>
                <a:latin typeface="Aptos"/>
              </a:rPr>
              <a:t>.”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657600"/>
            <a:ext cx="5321808" cy="1627632"/>
          </a:xfrm>
          <a:prstGeom prst="roundRect">
            <a:avLst/>
          </a:prstGeom>
          <a:solidFill>
            <a:srgbClr val="EFF5FC"/>
          </a:solidFill>
          <a:ln w="1016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22" name="Rounded Rectangle 21"/>
          <p:cNvSpPr/>
          <p:nvPr/>
        </p:nvSpPr>
        <p:spPr>
          <a:xfrm>
            <a:off x="6217920" y="3657600"/>
            <a:ext cx="68580" cy="1627632"/>
          </a:xfrm>
          <a:prstGeom prst="roundRect">
            <a:avLst/>
          </a:prstGeom>
          <a:solidFill>
            <a:srgbClr val="3669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23" name="TextBox 22"/>
          <p:cNvSpPr txBox="1"/>
          <p:nvPr/>
        </p:nvSpPr>
        <p:spPr>
          <a:xfrm>
            <a:off x="6382512" y="3767328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300" b="1" i="0" noProof="0" dirty="0">
                <a:solidFill>
                  <a:srgbClr val="3669BE"/>
                </a:solidFill>
                <a:latin typeface="Aptos"/>
              </a:rPr>
              <a:t>4 · VERIFY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82512" y="4087368"/>
            <a:ext cx="5029200" cy="1115568"/>
          </a:xfrm>
          <a:prstGeom prst="rect">
            <a:avLst/>
          </a:prstGeom>
          <a:noFill/>
        </p:spPr>
        <p:txBody>
          <a:bodyPr wrap="square" lIns="9144" tIns="9144" r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030" b="0" i="0" noProof="0" dirty="0">
                <a:solidFill>
                  <a:srgbClr val="283442"/>
                </a:solidFill>
                <a:latin typeface="Aptos"/>
              </a:rPr>
              <a:t>Ověř výsledek proti materiálům, výpočtu, testům nebo důvěryhodnému zdroji.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endParaRPr lang="cs-CZ" sz="1030" b="0" i="0" noProof="0" dirty="0">
              <a:solidFill>
                <a:srgbClr val="283442"/>
              </a:solidFill>
              <a:latin typeface="Aptos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030" b="0" i="0" noProof="0" dirty="0">
                <a:solidFill>
                  <a:srgbClr val="283442"/>
                </a:solidFill>
                <a:latin typeface="Aptos"/>
              </a:rPr>
              <a:t>Prompt: “</a:t>
            </a:r>
            <a:r>
              <a:rPr lang="cs-CZ" sz="1030" b="0" i="0" noProof="0" dirty="0" err="1">
                <a:solidFill>
                  <a:srgbClr val="283442"/>
                </a:solidFill>
                <a:latin typeface="Aptos"/>
              </a:rPr>
              <a:t>Review</a:t>
            </a:r>
            <a:r>
              <a:rPr lang="cs-CZ" sz="1030" b="0" i="0" noProof="0" dirty="0">
                <a:solidFill>
                  <a:srgbClr val="283442"/>
                </a:solidFill>
                <a:latin typeface="Aptos"/>
              </a:rPr>
              <a:t> my </a:t>
            </a:r>
            <a:r>
              <a:rPr lang="cs-CZ" sz="1030" b="0" i="0" noProof="0" dirty="0" err="1">
                <a:solidFill>
                  <a:srgbClr val="283442"/>
                </a:solidFill>
                <a:latin typeface="Aptos"/>
              </a:rPr>
              <a:t>attempt</a:t>
            </a:r>
            <a:r>
              <a:rPr lang="cs-CZ" sz="1030" b="0" i="0" noProof="0" dirty="0">
                <a:solidFill>
                  <a:srgbClr val="283442"/>
                </a:solidFill>
                <a:latin typeface="Aptos"/>
              </a:rPr>
              <a:t>, </a:t>
            </a:r>
            <a:r>
              <a:rPr lang="cs-CZ" sz="1030" b="0" i="0" noProof="0" dirty="0" err="1">
                <a:solidFill>
                  <a:srgbClr val="283442"/>
                </a:solidFill>
                <a:latin typeface="Aptos"/>
              </a:rPr>
              <a:t>identify</a:t>
            </a:r>
            <a:r>
              <a:rPr lang="cs-CZ" sz="1030" b="0" i="0" noProof="0" dirty="0">
                <a:solidFill>
                  <a:srgbClr val="283442"/>
                </a:solidFill>
                <a:latin typeface="Aptos"/>
              </a:rPr>
              <a:t> </a:t>
            </a:r>
            <a:r>
              <a:rPr lang="cs-CZ" sz="1030" b="0" i="0" noProof="0" dirty="0" err="1">
                <a:solidFill>
                  <a:srgbClr val="283442"/>
                </a:solidFill>
                <a:latin typeface="Aptos"/>
              </a:rPr>
              <a:t>possible</a:t>
            </a:r>
            <a:r>
              <a:rPr lang="cs-CZ" sz="1030" b="0" i="0" noProof="0" dirty="0">
                <a:solidFill>
                  <a:srgbClr val="283442"/>
                </a:solidFill>
                <a:latin typeface="Aptos"/>
              </a:rPr>
              <a:t> </a:t>
            </a:r>
            <a:r>
              <a:rPr lang="cs-CZ" sz="1030" b="0" i="0" noProof="0" dirty="0" err="1">
                <a:solidFill>
                  <a:srgbClr val="283442"/>
                </a:solidFill>
                <a:latin typeface="Aptos"/>
              </a:rPr>
              <a:t>errors</a:t>
            </a:r>
            <a:r>
              <a:rPr lang="cs-CZ" sz="1030" b="0" i="0" noProof="0" dirty="0">
                <a:solidFill>
                  <a:srgbClr val="283442"/>
                </a:solidFill>
                <a:latin typeface="Aptos"/>
              </a:rPr>
              <a:t>, and </a:t>
            </a:r>
            <a:r>
              <a:rPr lang="cs-CZ" sz="1030" b="0" i="0" noProof="0" dirty="0" err="1">
                <a:solidFill>
                  <a:srgbClr val="283442"/>
                </a:solidFill>
                <a:latin typeface="Aptos"/>
              </a:rPr>
              <a:t>explain</a:t>
            </a:r>
            <a:r>
              <a:rPr lang="cs-CZ" sz="1030" b="0" i="0" noProof="0" dirty="0">
                <a:solidFill>
                  <a:srgbClr val="283442"/>
                </a:solidFill>
                <a:latin typeface="Aptos"/>
              </a:rPr>
              <a:t> </a:t>
            </a:r>
            <a:r>
              <a:rPr lang="cs-CZ" sz="1030" b="0" i="0" noProof="0" dirty="0" err="1">
                <a:solidFill>
                  <a:srgbClr val="283442"/>
                </a:solidFill>
                <a:latin typeface="Aptos"/>
              </a:rPr>
              <a:t>how</a:t>
            </a:r>
            <a:r>
              <a:rPr lang="cs-CZ" sz="1030" b="0" i="0" noProof="0" dirty="0">
                <a:solidFill>
                  <a:srgbClr val="283442"/>
                </a:solidFill>
                <a:latin typeface="Aptos"/>
              </a:rPr>
              <a:t> I </a:t>
            </a:r>
            <a:r>
              <a:rPr lang="cs-CZ" sz="1030" b="0" i="0" noProof="0" dirty="0" err="1">
                <a:solidFill>
                  <a:srgbClr val="283442"/>
                </a:solidFill>
                <a:latin typeface="Aptos"/>
              </a:rPr>
              <a:t>can</a:t>
            </a:r>
            <a:r>
              <a:rPr lang="cs-CZ" sz="1030" b="0" i="0" noProof="0" dirty="0">
                <a:solidFill>
                  <a:srgbClr val="283442"/>
                </a:solidFill>
                <a:latin typeface="Aptos"/>
              </a:rPr>
              <a:t> </a:t>
            </a:r>
            <a:r>
              <a:rPr lang="cs-CZ" sz="1030" b="0" i="0" noProof="0" dirty="0" err="1">
                <a:solidFill>
                  <a:srgbClr val="283442"/>
                </a:solidFill>
                <a:latin typeface="Aptos"/>
              </a:rPr>
              <a:t>verify</a:t>
            </a:r>
            <a:r>
              <a:rPr lang="cs-CZ" sz="1030" b="0" i="0" noProof="0" dirty="0">
                <a:solidFill>
                  <a:srgbClr val="283442"/>
                </a:solidFill>
                <a:latin typeface="Aptos"/>
              </a:rPr>
              <a:t> </a:t>
            </a:r>
            <a:r>
              <a:rPr lang="cs-CZ" sz="1030" b="0" i="0" noProof="0" dirty="0" err="1">
                <a:solidFill>
                  <a:srgbClr val="283442"/>
                </a:solidFill>
                <a:latin typeface="Aptos"/>
              </a:rPr>
              <a:t>them</a:t>
            </a:r>
            <a:r>
              <a:rPr lang="cs-CZ" sz="1030" b="0" i="0" noProof="0" dirty="0">
                <a:solidFill>
                  <a:srgbClr val="283442"/>
                </a:solidFill>
                <a:latin typeface="Aptos"/>
              </a:rPr>
              <a:t>.”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779008"/>
            <a:ext cx="10881360" cy="393192"/>
          </a:xfrm>
          <a:prstGeom prst="roundRect">
            <a:avLst/>
          </a:prstGeom>
          <a:solidFill>
            <a:srgbClr val="F6F8FB"/>
          </a:solidFill>
          <a:ln w="762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26" name="TextBox 25"/>
          <p:cNvSpPr txBox="1"/>
          <p:nvPr/>
        </p:nvSpPr>
        <p:spPr>
          <a:xfrm>
            <a:off x="804672" y="5861304"/>
            <a:ext cx="1053388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969" b="1" i="0" noProof="0" dirty="0">
                <a:solidFill>
                  <a:srgbClr val="132A43"/>
                </a:solidFill>
                <a:latin typeface="Aptos"/>
              </a:rPr>
              <a:t>Smysl: AI má zvýšit porozumění a kvalitu samostatného řešení, nikoli jen urychlit získání odpovědi.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02920" y="6473952"/>
            <a:ext cx="11183112" cy="0"/>
          </a:xfrm>
          <a:prstGeom prst="line">
            <a:avLst/>
          </a:prstGeom>
          <a:ln w="8890">
            <a:solidFill>
              <a:srgbClr val="DAE2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21207" y="6519672"/>
            <a:ext cx="85039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750" b="1" i="0" noProof="0" dirty="0">
                <a:solidFill>
                  <a:srgbClr val="667585"/>
                </a:solidFill>
                <a:latin typeface="Aptos"/>
              </a:rPr>
              <a:t>TÝM 10  ·  ZÁLOŽNÍ SLIDE  ·  ZOBRAZIT POUZE PŘI DISKUSI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02920" y="246888"/>
            <a:ext cx="1024128" cy="256032"/>
          </a:xfrm>
          <a:prstGeom prst="roundRect">
            <a:avLst/>
          </a:prstGeom>
          <a:solidFill>
            <a:srgbClr val="EFF5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3" name="TextBox 2"/>
          <p:cNvSpPr txBox="1"/>
          <p:nvPr/>
        </p:nvSpPr>
        <p:spPr>
          <a:xfrm>
            <a:off x="548640" y="278892"/>
            <a:ext cx="932688" cy="1737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900" b="1" i="0" noProof="0" dirty="0">
                <a:solidFill>
                  <a:srgbClr val="3669BE"/>
                </a:solidFill>
                <a:latin typeface="Aptos"/>
              </a:rPr>
              <a:t>ZDROJE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94360"/>
            <a:ext cx="1106424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2600" b="1" i="0" noProof="0" dirty="0">
                <a:solidFill>
                  <a:srgbClr val="132A43"/>
                </a:solidFill>
                <a:latin typeface="Aptos Display"/>
              </a:rPr>
              <a:t>Použité zdroje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088136"/>
            <a:ext cx="110185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150" b="0" i="0" noProof="0" dirty="0">
                <a:solidFill>
                  <a:srgbClr val="667585"/>
                </a:solidFill>
                <a:latin typeface="Aptos"/>
              </a:rPr>
              <a:t>Čísla v hranatých závorkách na slidech odkazují na tyto zdroje.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1426464"/>
            <a:ext cx="11183112" cy="0"/>
          </a:xfrm>
          <a:prstGeom prst="line">
            <a:avLst/>
          </a:prstGeom>
          <a:ln w="11430">
            <a:solidFill>
              <a:srgbClr val="DAE2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1402568" y="265176"/>
            <a:ext cx="118872" cy="118872"/>
          </a:xfrm>
          <a:prstGeom prst="ellipse">
            <a:avLst/>
          </a:prstGeom>
          <a:solidFill>
            <a:srgbClr val="1F8E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8" name="Oval 7"/>
          <p:cNvSpPr/>
          <p:nvPr/>
        </p:nvSpPr>
        <p:spPr>
          <a:xfrm>
            <a:off x="11548872" y="265176"/>
            <a:ext cx="118872" cy="118872"/>
          </a:xfrm>
          <a:prstGeom prst="ellipse">
            <a:avLst/>
          </a:prstGeom>
          <a:solidFill>
            <a:srgbClr val="3669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9" name="Rounded Rectangle 8"/>
          <p:cNvSpPr/>
          <p:nvPr/>
        </p:nvSpPr>
        <p:spPr>
          <a:xfrm>
            <a:off x="566928" y="1664208"/>
            <a:ext cx="5376672" cy="713232"/>
          </a:xfrm>
          <a:prstGeom prst="roundRect">
            <a:avLst/>
          </a:prstGeom>
          <a:solidFill>
            <a:srgbClr val="F6F8FB"/>
          </a:solidFill>
          <a:ln w="889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10" name="TextBox 9"/>
          <p:cNvSpPr txBox="1"/>
          <p:nvPr/>
        </p:nvSpPr>
        <p:spPr>
          <a:xfrm>
            <a:off x="713232" y="1755648"/>
            <a:ext cx="508406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050" b="1" i="0" noProof="0" dirty="0">
                <a:solidFill>
                  <a:srgbClr val="3669BE"/>
                </a:solidFill>
                <a:latin typeface="Aptos"/>
              </a:rPr>
              <a:t>[1] Dotazník týmu 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2002536"/>
            <a:ext cx="5084064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880" b="0" i="0" noProof="0" dirty="0">
                <a:solidFill>
                  <a:srgbClr val="283442"/>
                </a:solidFill>
                <a:latin typeface="Aptos"/>
              </a:rPr>
              <a:t>Team 10. (2026, 14.–15. října). Anonymous </a:t>
            </a:r>
            <a:r>
              <a:rPr lang="cs-CZ" sz="880" b="0" i="0" noProof="0" dirty="0" err="1">
                <a:solidFill>
                  <a:srgbClr val="283442"/>
                </a:solidFill>
                <a:latin typeface="Aptos"/>
              </a:rPr>
              <a:t>questionnaire</a:t>
            </a:r>
            <a:r>
              <a:rPr lang="cs-CZ" sz="880" b="0" i="0" noProof="0" dirty="0">
                <a:solidFill>
                  <a:srgbClr val="283442"/>
                </a:solidFill>
                <a:latin typeface="Aptos"/>
              </a:rPr>
              <a:t> on AI use </a:t>
            </a:r>
            <a:r>
              <a:rPr lang="cs-CZ" sz="880" b="0" i="0" noProof="0" dirty="0" err="1">
                <a:solidFill>
                  <a:srgbClr val="283442"/>
                </a:solidFill>
                <a:latin typeface="Aptos"/>
              </a:rPr>
              <a:t>among</a:t>
            </a:r>
            <a:r>
              <a:rPr lang="cs-CZ" sz="880" b="0" i="0" noProof="0" dirty="0">
                <a:solidFill>
                  <a:srgbClr val="283442"/>
                </a:solidFill>
                <a:latin typeface="Aptos"/>
              </a:rPr>
              <a:t> </a:t>
            </a:r>
            <a:r>
              <a:rPr lang="cs-CZ" sz="880" b="0" i="0" noProof="0" dirty="0" err="1">
                <a:solidFill>
                  <a:srgbClr val="283442"/>
                </a:solidFill>
                <a:latin typeface="Aptos"/>
              </a:rPr>
              <a:t>first-year</a:t>
            </a:r>
            <a:r>
              <a:rPr lang="cs-CZ" sz="880" b="0" i="0" noProof="0" dirty="0">
                <a:solidFill>
                  <a:srgbClr val="283442"/>
                </a:solidFill>
                <a:latin typeface="Aptos"/>
              </a:rPr>
              <a:t> FIS </a:t>
            </a:r>
            <a:r>
              <a:rPr lang="cs-CZ" sz="880" b="0" i="0" noProof="0" dirty="0" err="1">
                <a:solidFill>
                  <a:srgbClr val="283442"/>
                </a:solidFill>
                <a:latin typeface="Aptos"/>
              </a:rPr>
              <a:t>students</a:t>
            </a:r>
            <a:r>
              <a:rPr lang="cs-CZ" sz="880" b="0" i="0" noProof="0" dirty="0">
                <a:solidFill>
                  <a:srgbClr val="283442"/>
                </a:solidFill>
                <a:latin typeface="Aptos"/>
              </a:rPr>
              <a:t> [</a:t>
            </a:r>
            <a:r>
              <a:rPr lang="cs-CZ" sz="880" b="0" i="0" noProof="0" dirty="0" err="1">
                <a:solidFill>
                  <a:srgbClr val="283442"/>
                </a:solidFill>
                <a:latin typeface="Aptos"/>
              </a:rPr>
              <a:t>unpublished</a:t>
            </a:r>
            <a:r>
              <a:rPr lang="cs-CZ" sz="880" b="0" i="0" noProof="0" dirty="0">
                <a:solidFill>
                  <a:srgbClr val="283442"/>
                </a:solidFill>
                <a:latin typeface="Aptos"/>
              </a:rPr>
              <a:t> </a:t>
            </a:r>
            <a:r>
              <a:rPr lang="cs-CZ" sz="880" b="0" i="0" noProof="0" dirty="0" err="1">
                <a:solidFill>
                  <a:srgbClr val="283442"/>
                </a:solidFill>
                <a:latin typeface="Aptos"/>
              </a:rPr>
              <a:t>survey</a:t>
            </a:r>
            <a:r>
              <a:rPr lang="cs-CZ" sz="880" b="0" i="0" noProof="0" dirty="0">
                <a:solidFill>
                  <a:srgbClr val="283442"/>
                </a:solidFill>
                <a:latin typeface="Aptos"/>
              </a:rPr>
              <a:t> data, n = 23].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514600"/>
            <a:ext cx="5376672" cy="1417320"/>
          </a:xfrm>
          <a:prstGeom prst="roundRect">
            <a:avLst/>
          </a:prstGeom>
          <a:solidFill>
            <a:srgbClr val="F6F8FB"/>
          </a:solidFill>
          <a:ln w="889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13" name="TextBox 12"/>
          <p:cNvSpPr txBox="1"/>
          <p:nvPr/>
        </p:nvSpPr>
        <p:spPr>
          <a:xfrm>
            <a:off x="713232" y="2606040"/>
            <a:ext cx="508406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050" b="1" i="0" noProof="0" dirty="0">
                <a:solidFill>
                  <a:srgbClr val="3669BE"/>
                </a:solidFill>
                <a:latin typeface="Aptos"/>
              </a:rPr>
              <a:t>[2] </a:t>
            </a:r>
            <a:r>
              <a:rPr lang="cs-CZ" sz="1050" b="1" i="0" noProof="0" dirty="0" err="1">
                <a:solidFill>
                  <a:srgbClr val="3669BE"/>
                </a:solidFill>
                <a:latin typeface="Aptos"/>
              </a:rPr>
              <a:t>Bastani</a:t>
            </a:r>
            <a:r>
              <a:rPr lang="cs-CZ" sz="1050" b="1" i="0" noProof="0" dirty="0">
                <a:solidFill>
                  <a:srgbClr val="3669BE"/>
                </a:solidFill>
                <a:latin typeface="Aptos"/>
              </a:rPr>
              <a:t> et al. (2025)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2852928"/>
            <a:ext cx="5084064" cy="10241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880" b="0" i="0" noProof="0" dirty="0" err="1">
                <a:solidFill>
                  <a:srgbClr val="283442"/>
                </a:solidFill>
                <a:latin typeface="Aptos"/>
              </a:rPr>
              <a:t>Bastani</a:t>
            </a:r>
            <a:r>
              <a:rPr lang="cs-CZ" sz="880" b="0" i="0" noProof="0" dirty="0">
                <a:solidFill>
                  <a:srgbClr val="283442"/>
                </a:solidFill>
                <a:latin typeface="Aptos"/>
              </a:rPr>
              <a:t>, H., </a:t>
            </a:r>
            <a:r>
              <a:rPr lang="cs-CZ" sz="880" b="0" i="0" noProof="0" dirty="0" err="1">
                <a:solidFill>
                  <a:srgbClr val="283442"/>
                </a:solidFill>
                <a:latin typeface="Aptos"/>
              </a:rPr>
              <a:t>Bastani</a:t>
            </a:r>
            <a:r>
              <a:rPr lang="cs-CZ" sz="880" b="0" i="0" noProof="0" dirty="0">
                <a:solidFill>
                  <a:srgbClr val="283442"/>
                </a:solidFill>
                <a:latin typeface="Aptos"/>
              </a:rPr>
              <a:t>, O., </a:t>
            </a:r>
            <a:r>
              <a:rPr lang="cs-CZ" sz="880" b="0" i="0" noProof="0" dirty="0" err="1">
                <a:solidFill>
                  <a:srgbClr val="283442"/>
                </a:solidFill>
                <a:latin typeface="Aptos"/>
              </a:rPr>
              <a:t>Sungu</a:t>
            </a:r>
            <a:r>
              <a:rPr lang="cs-CZ" sz="880" b="0" i="0" noProof="0" dirty="0">
                <a:solidFill>
                  <a:srgbClr val="283442"/>
                </a:solidFill>
                <a:latin typeface="Aptos"/>
              </a:rPr>
              <a:t>, A., </a:t>
            </a:r>
            <a:r>
              <a:rPr lang="cs-CZ" sz="880" b="0" i="0" noProof="0" dirty="0" err="1">
                <a:solidFill>
                  <a:srgbClr val="283442"/>
                </a:solidFill>
                <a:latin typeface="Aptos"/>
              </a:rPr>
              <a:t>Ge</a:t>
            </a:r>
            <a:r>
              <a:rPr lang="cs-CZ" sz="880" b="0" i="0" noProof="0" dirty="0">
                <a:solidFill>
                  <a:srgbClr val="283442"/>
                </a:solidFill>
                <a:latin typeface="Aptos"/>
              </a:rPr>
              <a:t>, H., </a:t>
            </a:r>
            <a:r>
              <a:rPr lang="cs-CZ" sz="880" b="0" i="0" noProof="0" dirty="0" err="1">
                <a:solidFill>
                  <a:srgbClr val="283442"/>
                </a:solidFill>
                <a:latin typeface="Aptos"/>
              </a:rPr>
              <a:t>Kabakcı</a:t>
            </a:r>
            <a:r>
              <a:rPr lang="cs-CZ" sz="880" b="0" i="0" noProof="0" dirty="0">
                <a:solidFill>
                  <a:srgbClr val="283442"/>
                </a:solidFill>
                <a:latin typeface="Aptos"/>
              </a:rPr>
              <a:t>, Ö., &amp; </a:t>
            </a:r>
            <a:r>
              <a:rPr lang="cs-CZ" sz="880" b="0" i="0" noProof="0" dirty="0" err="1">
                <a:solidFill>
                  <a:srgbClr val="283442"/>
                </a:solidFill>
                <a:latin typeface="Aptos"/>
              </a:rPr>
              <a:t>Mariman</a:t>
            </a:r>
            <a:r>
              <a:rPr lang="cs-CZ" sz="880" b="0" i="0" noProof="0" dirty="0">
                <a:solidFill>
                  <a:srgbClr val="283442"/>
                </a:solidFill>
                <a:latin typeface="Aptos"/>
              </a:rPr>
              <a:t>, R. (2025). </a:t>
            </a:r>
            <a:r>
              <a:rPr lang="cs-CZ" sz="880" b="0" i="0" noProof="0" dirty="0" err="1">
                <a:solidFill>
                  <a:srgbClr val="283442"/>
                </a:solidFill>
                <a:latin typeface="Aptos"/>
              </a:rPr>
              <a:t>Generative</a:t>
            </a:r>
            <a:r>
              <a:rPr lang="cs-CZ" sz="880" b="0" i="0" noProof="0" dirty="0">
                <a:solidFill>
                  <a:srgbClr val="283442"/>
                </a:solidFill>
                <a:latin typeface="Aptos"/>
              </a:rPr>
              <a:t> AI </a:t>
            </a:r>
            <a:r>
              <a:rPr lang="cs-CZ" sz="880" b="0" i="0" noProof="0" dirty="0" err="1">
                <a:solidFill>
                  <a:srgbClr val="283442"/>
                </a:solidFill>
                <a:latin typeface="Aptos"/>
              </a:rPr>
              <a:t>without</a:t>
            </a:r>
            <a:r>
              <a:rPr lang="cs-CZ" sz="880" b="0" i="0" noProof="0" dirty="0">
                <a:solidFill>
                  <a:srgbClr val="283442"/>
                </a:solidFill>
                <a:latin typeface="Aptos"/>
              </a:rPr>
              <a:t> </a:t>
            </a:r>
            <a:r>
              <a:rPr lang="cs-CZ" sz="880" b="0" i="0" noProof="0" dirty="0" err="1">
                <a:solidFill>
                  <a:srgbClr val="283442"/>
                </a:solidFill>
                <a:latin typeface="Aptos"/>
              </a:rPr>
              <a:t>guardrails</a:t>
            </a:r>
            <a:r>
              <a:rPr lang="cs-CZ" sz="880" b="0" i="0" noProof="0" dirty="0">
                <a:solidFill>
                  <a:srgbClr val="283442"/>
                </a:solidFill>
                <a:latin typeface="Aptos"/>
              </a:rPr>
              <a:t> </a:t>
            </a:r>
            <a:r>
              <a:rPr lang="cs-CZ" sz="880" b="0" i="0" noProof="0" dirty="0" err="1">
                <a:solidFill>
                  <a:srgbClr val="283442"/>
                </a:solidFill>
                <a:latin typeface="Aptos"/>
              </a:rPr>
              <a:t>can</a:t>
            </a:r>
            <a:r>
              <a:rPr lang="cs-CZ" sz="880" b="0" i="0" noProof="0" dirty="0">
                <a:solidFill>
                  <a:srgbClr val="283442"/>
                </a:solidFill>
                <a:latin typeface="Aptos"/>
              </a:rPr>
              <a:t> </a:t>
            </a:r>
            <a:r>
              <a:rPr lang="cs-CZ" sz="880" b="0" i="0" noProof="0" dirty="0" err="1">
                <a:solidFill>
                  <a:srgbClr val="283442"/>
                </a:solidFill>
                <a:latin typeface="Aptos"/>
              </a:rPr>
              <a:t>harm</a:t>
            </a:r>
            <a:r>
              <a:rPr lang="cs-CZ" sz="880" b="0" i="0" noProof="0" dirty="0">
                <a:solidFill>
                  <a:srgbClr val="283442"/>
                </a:solidFill>
                <a:latin typeface="Aptos"/>
              </a:rPr>
              <a:t> learning: Evidence </a:t>
            </a:r>
            <a:r>
              <a:rPr lang="cs-CZ" sz="880" b="0" i="0" noProof="0" dirty="0" err="1">
                <a:solidFill>
                  <a:srgbClr val="283442"/>
                </a:solidFill>
                <a:latin typeface="Aptos"/>
              </a:rPr>
              <a:t>from</a:t>
            </a:r>
            <a:r>
              <a:rPr lang="cs-CZ" sz="880" b="0" i="0" noProof="0" dirty="0">
                <a:solidFill>
                  <a:srgbClr val="283442"/>
                </a:solidFill>
                <a:latin typeface="Aptos"/>
              </a:rPr>
              <a:t> </a:t>
            </a:r>
            <a:r>
              <a:rPr lang="cs-CZ" sz="880" b="0" i="0" noProof="0" dirty="0" err="1">
                <a:solidFill>
                  <a:srgbClr val="283442"/>
                </a:solidFill>
                <a:latin typeface="Aptos"/>
              </a:rPr>
              <a:t>high</a:t>
            </a:r>
            <a:r>
              <a:rPr lang="cs-CZ" sz="880" b="0" i="0" noProof="0" dirty="0">
                <a:solidFill>
                  <a:srgbClr val="283442"/>
                </a:solidFill>
                <a:latin typeface="Aptos"/>
              </a:rPr>
              <a:t> </a:t>
            </a:r>
            <a:r>
              <a:rPr lang="cs-CZ" sz="880" b="0" i="0" noProof="0" dirty="0" err="1">
                <a:solidFill>
                  <a:srgbClr val="283442"/>
                </a:solidFill>
                <a:latin typeface="Aptos"/>
              </a:rPr>
              <a:t>school</a:t>
            </a:r>
            <a:r>
              <a:rPr lang="cs-CZ" sz="880" b="0" i="0" noProof="0" dirty="0">
                <a:solidFill>
                  <a:srgbClr val="283442"/>
                </a:solidFill>
                <a:latin typeface="Aptos"/>
              </a:rPr>
              <a:t> </a:t>
            </a:r>
            <a:r>
              <a:rPr lang="cs-CZ" sz="880" b="0" i="0" noProof="0" dirty="0" err="1">
                <a:solidFill>
                  <a:srgbClr val="283442"/>
                </a:solidFill>
                <a:latin typeface="Aptos"/>
              </a:rPr>
              <a:t>mathematics</a:t>
            </a:r>
            <a:r>
              <a:rPr lang="cs-CZ" sz="880" b="0" i="0" noProof="0" dirty="0">
                <a:solidFill>
                  <a:srgbClr val="283442"/>
                </a:solidFill>
                <a:latin typeface="Aptos"/>
              </a:rPr>
              <a:t>. </a:t>
            </a:r>
            <a:r>
              <a:rPr lang="cs-CZ" sz="880" b="0" i="0" noProof="0" dirty="0" err="1">
                <a:solidFill>
                  <a:srgbClr val="283442"/>
                </a:solidFill>
                <a:latin typeface="Aptos"/>
              </a:rPr>
              <a:t>Proceedings</a:t>
            </a:r>
            <a:r>
              <a:rPr lang="cs-CZ" sz="880" b="0" i="0" noProof="0" dirty="0">
                <a:solidFill>
                  <a:srgbClr val="283442"/>
                </a:solidFill>
                <a:latin typeface="Aptos"/>
              </a:rPr>
              <a:t> </a:t>
            </a:r>
            <a:r>
              <a:rPr lang="cs-CZ" sz="880" b="0" i="0" noProof="0" dirty="0" err="1">
                <a:solidFill>
                  <a:srgbClr val="283442"/>
                </a:solidFill>
                <a:latin typeface="Aptos"/>
              </a:rPr>
              <a:t>of</a:t>
            </a:r>
            <a:r>
              <a:rPr lang="cs-CZ" sz="880" b="0" i="0" noProof="0" dirty="0">
                <a:solidFill>
                  <a:srgbClr val="283442"/>
                </a:solidFill>
                <a:latin typeface="Aptos"/>
              </a:rPr>
              <a:t> </a:t>
            </a:r>
            <a:r>
              <a:rPr lang="cs-CZ" sz="880" b="0" i="0" noProof="0" dirty="0" err="1">
                <a:solidFill>
                  <a:srgbClr val="283442"/>
                </a:solidFill>
                <a:latin typeface="Aptos"/>
              </a:rPr>
              <a:t>the</a:t>
            </a:r>
            <a:r>
              <a:rPr lang="cs-CZ" sz="880" b="0" i="0" noProof="0" dirty="0">
                <a:solidFill>
                  <a:srgbClr val="283442"/>
                </a:solidFill>
                <a:latin typeface="Aptos"/>
              </a:rPr>
              <a:t> </a:t>
            </a:r>
            <a:r>
              <a:rPr lang="cs-CZ" sz="880" b="0" i="0" noProof="0" dirty="0" err="1">
                <a:solidFill>
                  <a:srgbClr val="283442"/>
                </a:solidFill>
                <a:latin typeface="Aptos"/>
              </a:rPr>
              <a:t>National</a:t>
            </a:r>
            <a:r>
              <a:rPr lang="cs-CZ" sz="880" b="0" i="0" noProof="0" dirty="0">
                <a:solidFill>
                  <a:srgbClr val="283442"/>
                </a:solidFill>
                <a:latin typeface="Aptos"/>
              </a:rPr>
              <a:t> Academy </a:t>
            </a:r>
            <a:r>
              <a:rPr lang="cs-CZ" sz="880" b="0" i="0" noProof="0" dirty="0" err="1">
                <a:solidFill>
                  <a:srgbClr val="283442"/>
                </a:solidFill>
                <a:latin typeface="Aptos"/>
              </a:rPr>
              <a:t>of</a:t>
            </a:r>
            <a:r>
              <a:rPr lang="cs-CZ" sz="880" b="0" i="0" noProof="0" dirty="0">
                <a:solidFill>
                  <a:srgbClr val="283442"/>
                </a:solidFill>
                <a:latin typeface="Aptos"/>
              </a:rPr>
              <a:t> </a:t>
            </a:r>
            <a:r>
              <a:rPr lang="cs-CZ" sz="880" b="0" i="0" noProof="0" dirty="0" err="1">
                <a:solidFill>
                  <a:srgbClr val="283442"/>
                </a:solidFill>
                <a:latin typeface="Aptos"/>
              </a:rPr>
              <a:t>Sciences</a:t>
            </a:r>
            <a:r>
              <a:rPr lang="cs-CZ" sz="880" b="0" i="0" noProof="0" dirty="0">
                <a:solidFill>
                  <a:srgbClr val="283442"/>
                </a:solidFill>
                <a:latin typeface="Aptos"/>
              </a:rPr>
              <a:t>, 122(26), e2422633122. https://doi.org/10.1073/pnas.2422633122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4050791"/>
            <a:ext cx="5376672" cy="1417320"/>
          </a:xfrm>
          <a:prstGeom prst="roundRect">
            <a:avLst/>
          </a:prstGeom>
          <a:solidFill>
            <a:srgbClr val="F6F8FB"/>
          </a:solidFill>
          <a:ln w="889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16" name="TextBox 15"/>
          <p:cNvSpPr txBox="1"/>
          <p:nvPr/>
        </p:nvSpPr>
        <p:spPr>
          <a:xfrm>
            <a:off x="713232" y="4142231"/>
            <a:ext cx="508406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050" b="1" i="0" noProof="0" dirty="0">
                <a:solidFill>
                  <a:srgbClr val="3669BE"/>
                </a:solidFill>
                <a:latin typeface="Aptos"/>
              </a:rPr>
              <a:t>[3] </a:t>
            </a:r>
            <a:r>
              <a:rPr lang="cs-CZ" sz="1050" b="1" i="0" noProof="0" dirty="0" err="1">
                <a:solidFill>
                  <a:srgbClr val="3669BE"/>
                </a:solidFill>
                <a:latin typeface="Aptos"/>
              </a:rPr>
              <a:t>Pardos</a:t>
            </a:r>
            <a:r>
              <a:rPr lang="cs-CZ" sz="1050" b="1" i="0" noProof="0" dirty="0">
                <a:solidFill>
                  <a:srgbClr val="3669BE"/>
                </a:solidFill>
                <a:latin typeface="Aptos"/>
              </a:rPr>
              <a:t> &amp; </a:t>
            </a:r>
            <a:r>
              <a:rPr lang="cs-CZ" sz="1050" b="1" i="0" noProof="0" dirty="0" err="1">
                <a:solidFill>
                  <a:srgbClr val="3669BE"/>
                </a:solidFill>
                <a:latin typeface="Aptos"/>
              </a:rPr>
              <a:t>Bhandari</a:t>
            </a:r>
            <a:r>
              <a:rPr lang="cs-CZ" sz="1050" b="1" i="0" noProof="0" dirty="0">
                <a:solidFill>
                  <a:srgbClr val="3669BE"/>
                </a:solidFill>
                <a:latin typeface="Aptos"/>
              </a:rPr>
              <a:t> (2024)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4389120"/>
            <a:ext cx="5084064" cy="10241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880" b="0" i="0" noProof="0" dirty="0" err="1">
                <a:solidFill>
                  <a:srgbClr val="283442"/>
                </a:solidFill>
                <a:latin typeface="Aptos"/>
              </a:rPr>
              <a:t>Pardos</a:t>
            </a:r>
            <a:r>
              <a:rPr lang="cs-CZ" sz="880" b="0" i="0" noProof="0" dirty="0">
                <a:solidFill>
                  <a:srgbClr val="283442"/>
                </a:solidFill>
                <a:latin typeface="Aptos"/>
              </a:rPr>
              <a:t>, Z. A., &amp; </a:t>
            </a:r>
            <a:r>
              <a:rPr lang="cs-CZ" sz="880" b="0" i="0" noProof="0" dirty="0" err="1">
                <a:solidFill>
                  <a:srgbClr val="283442"/>
                </a:solidFill>
                <a:latin typeface="Aptos"/>
              </a:rPr>
              <a:t>Bhandari</a:t>
            </a:r>
            <a:r>
              <a:rPr lang="cs-CZ" sz="880" b="0" i="0" noProof="0" dirty="0">
                <a:solidFill>
                  <a:srgbClr val="283442"/>
                </a:solidFill>
                <a:latin typeface="Aptos"/>
              </a:rPr>
              <a:t>, S. (2024). </a:t>
            </a:r>
            <a:r>
              <a:rPr lang="cs-CZ" sz="880" b="0" i="0" noProof="0" dirty="0" err="1">
                <a:solidFill>
                  <a:srgbClr val="283442"/>
                </a:solidFill>
                <a:latin typeface="Aptos"/>
              </a:rPr>
              <a:t>ChatGPT-generated</a:t>
            </a:r>
            <a:r>
              <a:rPr lang="cs-CZ" sz="880" b="0" i="0" noProof="0" dirty="0">
                <a:solidFill>
                  <a:srgbClr val="283442"/>
                </a:solidFill>
                <a:latin typeface="Aptos"/>
              </a:rPr>
              <a:t> </a:t>
            </a:r>
            <a:r>
              <a:rPr lang="cs-CZ" sz="880" b="0" i="0" noProof="0" dirty="0" err="1">
                <a:solidFill>
                  <a:srgbClr val="283442"/>
                </a:solidFill>
                <a:latin typeface="Aptos"/>
              </a:rPr>
              <a:t>help</a:t>
            </a:r>
            <a:r>
              <a:rPr lang="cs-CZ" sz="880" b="0" i="0" noProof="0" dirty="0">
                <a:solidFill>
                  <a:srgbClr val="283442"/>
                </a:solidFill>
                <a:latin typeface="Aptos"/>
              </a:rPr>
              <a:t> </a:t>
            </a:r>
            <a:r>
              <a:rPr lang="cs-CZ" sz="880" b="0" i="0" noProof="0" dirty="0" err="1">
                <a:solidFill>
                  <a:srgbClr val="283442"/>
                </a:solidFill>
                <a:latin typeface="Aptos"/>
              </a:rPr>
              <a:t>produces</a:t>
            </a:r>
            <a:r>
              <a:rPr lang="cs-CZ" sz="880" b="0" i="0" noProof="0" dirty="0">
                <a:solidFill>
                  <a:srgbClr val="283442"/>
                </a:solidFill>
                <a:latin typeface="Aptos"/>
              </a:rPr>
              <a:t> learning </a:t>
            </a:r>
            <a:r>
              <a:rPr lang="cs-CZ" sz="880" b="0" i="0" noProof="0" dirty="0" err="1">
                <a:solidFill>
                  <a:srgbClr val="283442"/>
                </a:solidFill>
                <a:latin typeface="Aptos"/>
              </a:rPr>
              <a:t>gains</a:t>
            </a:r>
            <a:r>
              <a:rPr lang="cs-CZ" sz="880" b="0" i="0" noProof="0" dirty="0">
                <a:solidFill>
                  <a:srgbClr val="283442"/>
                </a:solidFill>
                <a:latin typeface="Aptos"/>
              </a:rPr>
              <a:t> </a:t>
            </a:r>
            <a:r>
              <a:rPr lang="cs-CZ" sz="880" b="0" i="0" noProof="0" dirty="0" err="1">
                <a:solidFill>
                  <a:srgbClr val="283442"/>
                </a:solidFill>
                <a:latin typeface="Aptos"/>
              </a:rPr>
              <a:t>equivalent</a:t>
            </a:r>
            <a:r>
              <a:rPr lang="cs-CZ" sz="880" b="0" i="0" noProof="0" dirty="0">
                <a:solidFill>
                  <a:srgbClr val="283442"/>
                </a:solidFill>
                <a:latin typeface="Aptos"/>
              </a:rPr>
              <a:t> to </a:t>
            </a:r>
            <a:r>
              <a:rPr lang="cs-CZ" sz="880" b="0" i="0" noProof="0" dirty="0" err="1">
                <a:solidFill>
                  <a:srgbClr val="283442"/>
                </a:solidFill>
                <a:latin typeface="Aptos"/>
              </a:rPr>
              <a:t>human</a:t>
            </a:r>
            <a:r>
              <a:rPr lang="cs-CZ" sz="880" b="0" i="0" noProof="0" dirty="0">
                <a:solidFill>
                  <a:srgbClr val="283442"/>
                </a:solidFill>
                <a:latin typeface="Aptos"/>
              </a:rPr>
              <a:t> tutor-</a:t>
            </a:r>
            <a:r>
              <a:rPr lang="cs-CZ" sz="880" b="0" i="0" noProof="0" dirty="0" err="1">
                <a:solidFill>
                  <a:srgbClr val="283442"/>
                </a:solidFill>
                <a:latin typeface="Aptos"/>
              </a:rPr>
              <a:t>authored</a:t>
            </a:r>
            <a:r>
              <a:rPr lang="cs-CZ" sz="880" b="0" i="0" noProof="0" dirty="0">
                <a:solidFill>
                  <a:srgbClr val="283442"/>
                </a:solidFill>
                <a:latin typeface="Aptos"/>
              </a:rPr>
              <a:t> </a:t>
            </a:r>
            <a:r>
              <a:rPr lang="cs-CZ" sz="880" b="0" i="0" noProof="0" dirty="0" err="1">
                <a:solidFill>
                  <a:srgbClr val="283442"/>
                </a:solidFill>
                <a:latin typeface="Aptos"/>
              </a:rPr>
              <a:t>help</a:t>
            </a:r>
            <a:r>
              <a:rPr lang="cs-CZ" sz="880" b="0" i="0" noProof="0" dirty="0">
                <a:solidFill>
                  <a:srgbClr val="283442"/>
                </a:solidFill>
                <a:latin typeface="Aptos"/>
              </a:rPr>
              <a:t> on </a:t>
            </a:r>
            <a:r>
              <a:rPr lang="cs-CZ" sz="880" b="0" i="0" noProof="0" dirty="0" err="1">
                <a:solidFill>
                  <a:srgbClr val="283442"/>
                </a:solidFill>
                <a:latin typeface="Aptos"/>
              </a:rPr>
              <a:t>mathematics</a:t>
            </a:r>
            <a:r>
              <a:rPr lang="cs-CZ" sz="880" b="0" i="0" noProof="0" dirty="0">
                <a:solidFill>
                  <a:srgbClr val="283442"/>
                </a:solidFill>
                <a:latin typeface="Aptos"/>
              </a:rPr>
              <a:t> </a:t>
            </a:r>
            <a:r>
              <a:rPr lang="cs-CZ" sz="880" b="0" i="0" noProof="0" dirty="0" err="1">
                <a:solidFill>
                  <a:srgbClr val="283442"/>
                </a:solidFill>
                <a:latin typeface="Aptos"/>
              </a:rPr>
              <a:t>skills</a:t>
            </a:r>
            <a:r>
              <a:rPr lang="cs-CZ" sz="880" b="0" i="0" noProof="0" dirty="0">
                <a:solidFill>
                  <a:srgbClr val="283442"/>
                </a:solidFill>
                <a:latin typeface="Aptos"/>
              </a:rPr>
              <a:t>. PLOS ONE, 19(5), e0304013. https://doi.org/10.1371/journal.pone.0304013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6208" y="1664208"/>
            <a:ext cx="5376672" cy="1371600"/>
          </a:xfrm>
          <a:prstGeom prst="roundRect">
            <a:avLst/>
          </a:prstGeom>
          <a:solidFill>
            <a:srgbClr val="F6F8FB"/>
          </a:solidFill>
          <a:ln w="889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19" name="TextBox 18"/>
          <p:cNvSpPr txBox="1"/>
          <p:nvPr/>
        </p:nvSpPr>
        <p:spPr>
          <a:xfrm>
            <a:off x="6382512" y="1755648"/>
            <a:ext cx="508406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050" b="1" i="0" noProof="0" dirty="0">
                <a:solidFill>
                  <a:srgbClr val="1F8E89"/>
                </a:solidFill>
                <a:latin typeface="Aptos"/>
              </a:rPr>
              <a:t>[4] An et al. (2026)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82512" y="2002536"/>
            <a:ext cx="5084064" cy="9784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880" b="0" i="0" noProof="0" dirty="0">
                <a:solidFill>
                  <a:srgbClr val="283442"/>
                </a:solidFill>
                <a:latin typeface="Aptos"/>
              </a:rPr>
              <a:t>An, C., </a:t>
            </a:r>
            <a:r>
              <a:rPr lang="cs-CZ" sz="880" b="0" i="0" noProof="0" dirty="0" err="1">
                <a:solidFill>
                  <a:srgbClr val="283442"/>
                </a:solidFill>
                <a:latin typeface="Aptos"/>
              </a:rPr>
              <a:t>Lu</a:t>
            </a:r>
            <a:r>
              <a:rPr lang="cs-CZ" sz="880" b="0" i="0" noProof="0" dirty="0">
                <a:solidFill>
                  <a:srgbClr val="283442"/>
                </a:solidFill>
                <a:latin typeface="Aptos"/>
              </a:rPr>
              <a:t>, K., &amp; </a:t>
            </a:r>
            <a:r>
              <a:rPr lang="cs-CZ" sz="880" b="0" i="0" noProof="0" dirty="0" err="1">
                <a:solidFill>
                  <a:srgbClr val="283442"/>
                </a:solidFill>
                <a:latin typeface="Aptos"/>
              </a:rPr>
              <a:t>Yang</a:t>
            </a:r>
            <a:r>
              <a:rPr lang="cs-CZ" sz="880" b="0" i="0" noProof="0" dirty="0">
                <a:solidFill>
                  <a:srgbClr val="283442"/>
                </a:solidFill>
                <a:latin typeface="Aptos"/>
              </a:rPr>
              <a:t>, J. (2026). </a:t>
            </a:r>
            <a:r>
              <a:rPr lang="cs-CZ" sz="880" b="0" i="0" noProof="0" dirty="0" err="1">
                <a:solidFill>
                  <a:srgbClr val="283442"/>
                </a:solidFill>
                <a:latin typeface="Aptos"/>
              </a:rPr>
              <a:t>The</a:t>
            </a:r>
            <a:r>
              <a:rPr lang="cs-CZ" sz="880" b="0" i="0" noProof="0" dirty="0">
                <a:solidFill>
                  <a:srgbClr val="283442"/>
                </a:solidFill>
                <a:latin typeface="Aptos"/>
              </a:rPr>
              <a:t> </a:t>
            </a:r>
            <a:r>
              <a:rPr lang="cs-CZ" sz="880" b="0" i="0" noProof="0" dirty="0" err="1">
                <a:solidFill>
                  <a:srgbClr val="283442"/>
                </a:solidFill>
                <a:latin typeface="Aptos"/>
              </a:rPr>
              <a:t>dependency</a:t>
            </a:r>
            <a:r>
              <a:rPr lang="cs-CZ" sz="880" b="0" i="0" noProof="0" dirty="0">
                <a:solidFill>
                  <a:srgbClr val="283442"/>
                </a:solidFill>
                <a:latin typeface="Aptos"/>
              </a:rPr>
              <a:t> trap: A </a:t>
            </a:r>
            <a:r>
              <a:rPr lang="cs-CZ" sz="880" b="0" i="0" noProof="0" dirty="0" err="1">
                <a:solidFill>
                  <a:srgbClr val="283442"/>
                </a:solidFill>
                <a:latin typeface="Aptos"/>
              </a:rPr>
              <a:t>systematic</a:t>
            </a:r>
            <a:r>
              <a:rPr lang="cs-CZ" sz="880" b="0" i="0" noProof="0" dirty="0">
                <a:solidFill>
                  <a:srgbClr val="283442"/>
                </a:solidFill>
                <a:latin typeface="Aptos"/>
              </a:rPr>
              <a:t> </a:t>
            </a:r>
            <a:r>
              <a:rPr lang="cs-CZ" sz="880" b="0" i="0" noProof="0" dirty="0" err="1">
                <a:solidFill>
                  <a:srgbClr val="283442"/>
                </a:solidFill>
                <a:latin typeface="Aptos"/>
              </a:rPr>
              <a:t>review</a:t>
            </a:r>
            <a:r>
              <a:rPr lang="cs-CZ" sz="880" b="0" i="0" noProof="0" dirty="0">
                <a:solidFill>
                  <a:srgbClr val="283442"/>
                </a:solidFill>
                <a:latin typeface="Aptos"/>
              </a:rPr>
              <a:t> </a:t>
            </a:r>
            <a:r>
              <a:rPr lang="cs-CZ" sz="880" b="0" i="0" noProof="0" dirty="0" err="1">
                <a:solidFill>
                  <a:srgbClr val="283442"/>
                </a:solidFill>
                <a:latin typeface="Aptos"/>
              </a:rPr>
              <a:t>of</a:t>
            </a:r>
            <a:r>
              <a:rPr lang="cs-CZ" sz="880" b="0" i="0" noProof="0" dirty="0">
                <a:solidFill>
                  <a:srgbClr val="283442"/>
                </a:solidFill>
                <a:latin typeface="Aptos"/>
              </a:rPr>
              <a:t> </a:t>
            </a:r>
            <a:r>
              <a:rPr lang="cs-CZ" sz="880" b="0" i="0" noProof="0" dirty="0" err="1">
                <a:solidFill>
                  <a:srgbClr val="283442"/>
                </a:solidFill>
                <a:latin typeface="Aptos"/>
              </a:rPr>
              <a:t>the</a:t>
            </a:r>
            <a:r>
              <a:rPr lang="cs-CZ" sz="880" b="0" i="0" noProof="0" dirty="0">
                <a:solidFill>
                  <a:srgbClr val="283442"/>
                </a:solidFill>
                <a:latin typeface="Aptos"/>
              </a:rPr>
              <a:t> </a:t>
            </a:r>
            <a:r>
              <a:rPr lang="cs-CZ" sz="880" b="0" i="0" noProof="0" dirty="0" err="1">
                <a:solidFill>
                  <a:srgbClr val="283442"/>
                </a:solidFill>
                <a:latin typeface="Aptos"/>
              </a:rPr>
              <a:t>contributing</a:t>
            </a:r>
            <a:r>
              <a:rPr lang="cs-CZ" sz="880" b="0" i="0" noProof="0" dirty="0">
                <a:solidFill>
                  <a:srgbClr val="283442"/>
                </a:solidFill>
                <a:latin typeface="Aptos"/>
              </a:rPr>
              <a:t> </a:t>
            </a:r>
            <a:r>
              <a:rPr lang="cs-CZ" sz="880" b="0" i="0" noProof="0" dirty="0" err="1">
                <a:solidFill>
                  <a:srgbClr val="283442"/>
                </a:solidFill>
                <a:latin typeface="Aptos"/>
              </a:rPr>
              <a:t>factors</a:t>
            </a:r>
            <a:r>
              <a:rPr lang="cs-CZ" sz="880" b="0" i="0" noProof="0" dirty="0">
                <a:solidFill>
                  <a:srgbClr val="283442"/>
                </a:solidFill>
                <a:latin typeface="Aptos"/>
              </a:rPr>
              <a:t> and </a:t>
            </a:r>
            <a:r>
              <a:rPr lang="cs-CZ" sz="880" b="0" i="0" noProof="0" dirty="0" err="1">
                <a:solidFill>
                  <a:srgbClr val="283442"/>
                </a:solidFill>
                <a:latin typeface="Aptos"/>
              </a:rPr>
              <a:t>consequences</a:t>
            </a:r>
            <a:r>
              <a:rPr lang="cs-CZ" sz="880" b="0" i="0" noProof="0" dirty="0">
                <a:solidFill>
                  <a:srgbClr val="283442"/>
                </a:solidFill>
                <a:latin typeface="Aptos"/>
              </a:rPr>
              <a:t> </a:t>
            </a:r>
            <a:r>
              <a:rPr lang="cs-CZ" sz="880" b="0" i="0" noProof="0" dirty="0" err="1">
                <a:solidFill>
                  <a:srgbClr val="283442"/>
                </a:solidFill>
                <a:latin typeface="Aptos"/>
              </a:rPr>
              <a:t>of</a:t>
            </a:r>
            <a:r>
              <a:rPr lang="cs-CZ" sz="880" b="0" i="0" noProof="0" dirty="0">
                <a:solidFill>
                  <a:srgbClr val="283442"/>
                </a:solidFill>
                <a:latin typeface="Aptos"/>
              </a:rPr>
              <a:t> student </a:t>
            </a:r>
            <a:r>
              <a:rPr lang="cs-CZ" sz="880" b="0" i="0" noProof="0" dirty="0" err="1">
                <a:solidFill>
                  <a:srgbClr val="283442"/>
                </a:solidFill>
                <a:latin typeface="Aptos"/>
              </a:rPr>
              <a:t>over-reliance</a:t>
            </a:r>
            <a:r>
              <a:rPr lang="cs-CZ" sz="880" b="0" i="0" noProof="0" dirty="0">
                <a:solidFill>
                  <a:srgbClr val="283442"/>
                </a:solidFill>
                <a:latin typeface="Aptos"/>
              </a:rPr>
              <a:t> on </a:t>
            </a:r>
            <a:r>
              <a:rPr lang="cs-CZ" sz="880" b="0" i="0" noProof="0" dirty="0" err="1">
                <a:solidFill>
                  <a:srgbClr val="283442"/>
                </a:solidFill>
                <a:latin typeface="Aptos"/>
              </a:rPr>
              <a:t>generative</a:t>
            </a:r>
            <a:r>
              <a:rPr lang="cs-CZ" sz="880" b="0" i="0" noProof="0" dirty="0">
                <a:solidFill>
                  <a:srgbClr val="283442"/>
                </a:solidFill>
                <a:latin typeface="Aptos"/>
              </a:rPr>
              <a:t> AI in </a:t>
            </a:r>
            <a:r>
              <a:rPr lang="cs-CZ" sz="880" b="0" i="0" noProof="0" dirty="0" err="1">
                <a:solidFill>
                  <a:srgbClr val="283442"/>
                </a:solidFill>
                <a:latin typeface="Aptos"/>
              </a:rPr>
              <a:t>higher</a:t>
            </a:r>
            <a:r>
              <a:rPr lang="cs-CZ" sz="880" b="0" i="0" noProof="0" dirty="0">
                <a:solidFill>
                  <a:srgbClr val="283442"/>
                </a:solidFill>
                <a:latin typeface="Aptos"/>
              </a:rPr>
              <a:t> </a:t>
            </a:r>
            <a:r>
              <a:rPr lang="cs-CZ" sz="880" b="0" i="0" noProof="0" dirty="0" err="1">
                <a:solidFill>
                  <a:srgbClr val="283442"/>
                </a:solidFill>
                <a:latin typeface="Aptos"/>
              </a:rPr>
              <a:t>education</a:t>
            </a:r>
            <a:r>
              <a:rPr lang="cs-CZ" sz="880" b="0" i="0" noProof="0" dirty="0">
                <a:solidFill>
                  <a:srgbClr val="283442"/>
                </a:solidFill>
                <a:latin typeface="Aptos"/>
              </a:rPr>
              <a:t>. </a:t>
            </a:r>
            <a:r>
              <a:rPr lang="cs-CZ" sz="880" b="0" i="0" noProof="0" dirty="0" err="1">
                <a:solidFill>
                  <a:srgbClr val="283442"/>
                </a:solidFill>
                <a:latin typeface="Aptos"/>
              </a:rPr>
              <a:t>Humanities</a:t>
            </a:r>
            <a:r>
              <a:rPr lang="cs-CZ" sz="880" b="0" i="0" noProof="0" dirty="0">
                <a:solidFill>
                  <a:srgbClr val="283442"/>
                </a:solidFill>
                <a:latin typeface="Aptos"/>
              </a:rPr>
              <a:t> and </a:t>
            </a:r>
            <a:r>
              <a:rPr lang="cs-CZ" sz="880" b="0" i="0" noProof="0" dirty="0" err="1">
                <a:solidFill>
                  <a:srgbClr val="283442"/>
                </a:solidFill>
                <a:latin typeface="Aptos"/>
              </a:rPr>
              <a:t>Social</a:t>
            </a:r>
            <a:r>
              <a:rPr lang="cs-CZ" sz="880" b="0" i="0" noProof="0" dirty="0">
                <a:solidFill>
                  <a:srgbClr val="283442"/>
                </a:solidFill>
                <a:latin typeface="Aptos"/>
              </a:rPr>
              <a:t> </a:t>
            </a:r>
            <a:r>
              <a:rPr lang="cs-CZ" sz="880" b="0" i="0" noProof="0" dirty="0" err="1">
                <a:solidFill>
                  <a:srgbClr val="283442"/>
                </a:solidFill>
                <a:latin typeface="Aptos"/>
              </a:rPr>
              <a:t>Sciences</a:t>
            </a:r>
            <a:r>
              <a:rPr lang="cs-CZ" sz="880" b="0" i="0" noProof="0" dirty="0">
                <a:solidFill>
                  <a:srgbClr val="283442"/>
                </a:solidFill>
                <a:latin typeface="Aptos"/>
              </a:rPr>
              <a:t> Communications, 13, </a:t>
            </a:r>
            <a:r>
              <a:rPr lang="cs-CZ" sz="880" b="0" i="0" noProof="0" dirty="0" err="1">
                <a:solidFill>
                  <a:srgbClr val="283442"/>
                </a:solidFill>
                <a:latin typeface="Aptos"/>
              </a:rPr>
              <a:t>Article</a:t>
            </a:r>
            <a:r>
              <a:rPr lang="cs-CZ" sz="880" b="0" i="0" noProof="0" dirty="0">
                <a:solidFill>
                  <a:srgbClr val="283442"/>
                </a:solidFill>
                <a:latin typeface="Aptos"/>
              </a:rPr>
              <a:t> 1604. https://doi.org/10.1057/s41599-026-08959-2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36208" y="3172968"/>
            <a:ext cx="5376672" cy="1371600"/>
          </a:xfrm>
          <a:prstGeom prst="roundRect">
            <a:avLst/>
          </a:prstGeom>
          <a:solidFill>
            <a:srgbClr val="F6F8FB"/>
          </a:solidFill>
          <a:ln w="889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22" name="TextBox 21"/>
          <p:cNvSpPr txBox="1"/>
          <p:nvPr/>
        </p:nvSpPr>
        <p:spPr>
          <a:xfrm>
            <a:off x="6382512" y="3264408"/>
            <a:ext cx="508406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050" b="1" i="0" noProof="0" dirty="0">
                <a:solidFill>
                  <a:srgbClr val="1F8E89"/>
                </a:solidFill>
                <a:latin typeface="Aptos"/>
              </a:rPr>
              <a:t>[5] </a:t>
            </a:r>
            <a:r>
              <a:rPr lang="cs-CZ" sz="1050" b="1" i="0" noProof="0" dirty="0" err="1">
                <a:solidFill>
                  <a:srgbClr val="1F8E89"/>
                </a:solidFill>
                <a:latin typeface="Aptos"/>
              </a:rPr>
              <a:t>Abbas</a:t>
            </a:r>
            <a:r>
              <a:rPr lang="cs-CZ" sz="1050" b="1" i="0" noProof="0" dirty="0">
                <a:solidFill>
                  <a:srgbClr val="1F8E89"/>
                </a:solidFill>
                <a:latin typeface="Aptos"/>
              </a:rPr>
              <a:t> et al. (2024)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82512" y="3511296"/>
            <a:ext cx="5084064" cy="9784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880" b="0" i="0" noProof="0" dirty="0" err="1">
                <a:solidFill>
                  <a:srgbClr val="283442"/>
                </a:solidFill>
                <a:latin typeface="Aptos"/>
              </a:rPr>
              <a:t>Abbas</a:t>
            </a:r>
            <a:r>
              <a:rPr lang="cs-CZ" sz="880" b="0" i="0" noProof="0" dirty="0">
                <a:solidFill>
                  <a:srgbClr val="283442"/>
                </a:solidFill>
                <a:latin typeface="Aptos"/>
              </a:rPr>
              <a:t>, M., Jam, F. A., &amp; </a:t>
            </a:r>
            <a:r>
              <a:rPr lang="cs-CZ" sz="880" b="0" i="0" noProof="0" dirty="0" err="1">
                <a:solidFill>
                  <a:srgbClr val="283442"/>
                </a:solidFill>
                <a:latin typeface="Aptos"/>
              </a:rPr>
              <a:t>Khan</a:t>
            </a:r>
            <a:r>
              <a:rPr lang="cs-CZ" sz="880" b="0" i="0" noProof="0" dirty="0">
                <a:solidFill>
                  <a:srgbClr val="283442"/>
                </a:solidFill>
                <a:latin typeface="Aptos"/>
              </a:rPr>
              <a:t>, T. I. (2024). </a:t>
            </a:r>
            <a:r>
              <a:rPr lang="cs-CZ" sz="880" b="0" i="0" noProof="0" dirty="0" err="1">
                <a:solidFill>
                  <a:srgbClr val="283442"/>
                </a:solidFill>
                <a:latin typeface="Aptos"/>
              </a:rPr>
              <a:t>Is</a:t>
            </a:r>
            <a:r>
              <a:rPr lang="cs-CZ" sz="880" b="0" i="0" noProof="0" dirty="0">
                <a:solidFill>
                  <a:srgbClr val="283442"/>
                </a:solidFill>
                <a:latin typeface="Aptos"/>
              </a:rPr>
              <a:t> </a:t>
            </a:r>
            <a:r>
              <a:rPr lang="cs-CZ" sz="880" b="0" i="0" noProof="0" dirty="0" err="1">
                <a:solidFill>
                  <a:srgbClr val="283442"/>
                </a:solidFill>
                <a:latin typeface="Aptos"/>
              </a:rPr>
              <a:t>it</a:t>
            </a:r>
            <a:r>
              <a:rPr lang="cs-CZ" sz="880" b="0" i="0" noProof="0" dirty="0">
                <a:solidFill>
                  <a:srgbClr val="283442"/>
                </a:solidFill>
                <a:latin typeface="Aptos"/>
              </a:rPr>
              <a:t> </a:t>
            </a:r>
            <a:r>
              <a:rPr lang="cs-CZ" sz="880" b="0" i="0" noProof="0" dirty="0" err="1">
                <a:solidFill>
                  <a:srgbClr val="283442"/>
                </a:solidFill>
                <a:latin typeface="Aptos"/>
              </a:rPr>
              <a:t>harmful</a:t>
            </a:r>
            <a:r>
              <a:rPr lang="cs-CZ" sz="880" b="0" i="0" noProof="0" dirty="0">
                <a:solidFill>
                  <a:srgbClr val="283442"/>
                </a:solidFill>
                <a:latin typeface="Aptos"/>
              </a:rPr>
              <a:t> </a:t>
            </a:r>
            <a:r>
              <a:rPr lang="cs-CZ" sz="880" b="0" i="0" noProof="0" dirty="0" err="1">
                <a:solidFill>
                  <a:srgbClr val="283442"/>
                </a:solidFill>
                <a:latin typeface="Aptos"/>
              </a:rPr>
              <a:t>or</a:t>
            </a:r>
            <a:r>
              <a:rPr lang="cs-CZ" sz="880" b="0" i="0" noProof="0" dirty="0">
                <a:solidFill>
                  <a:srgbClr val="283442"/>
                </a:solidFill>
                <a:latin typeface="Aptos"/>
              </a:rPr>
              <a:t> </a:t>
            </a:r>
            <a:r>
              <a:rPr lang="cs-CZ" sz="880" b="0" i="0" noProof="0" dirty="0" err="1">
                <a:solidFill>
                  <a:srgbClr val="283442"/>
                </a:solidFill>
                <a:latin typeface="Aptos"/>
              </a:rPr>
              <a:t>helpful</a:t>
            </a:r>
            <a:r>
              <a:rPr lang="cs-CZ" sz="880" b="0" i="0" noProof="0" dirty="0">
                <a:solidFill>
                  <a:srgbClr val="283442"/>
                </a:solidFill>
                <a:latin typeface="Aptos"/>
              </a:rPr>
              <a:t>? </a:t>
            </a:r>
            <a:r>
              <a:rPr lang="cs-CZ" sz="880" b="0" i="0" noProof="0" dirty="0" err="1">
                <a:solidFill>
                  <a:srgbClr val="283442"/>
                </a:solidFill>
                <a:latin typeface="Aptos"/>
              </a:rPr>
              <a:t>Examining</a:t>
            </a:r>
            <a:r>
              <a:rPr lang="cs-CZ" sz="880" b="0" i="0" noProof="0" dirty="0">
                <a:solidFill>
                  <a:srgbClr val="283442"/>
                </a:solidFill>
                <a:latin typeface="Aptos"/>
              </a:rPr>
              <a:t> </a:t>
            </a:r>
            <a:r>
              <a:rPr lang="cs-CZ" sz="880" b="0" i="0" noProof="0" dirty="0" err="1">
                <a:solidFill>
                  <a:srgbClr val="283442"/>
                </a:solidFill>
                <a:latin typeface="Aptos"/>
              </a:rPr>
              <a:t>the</a:t>
            </a:r>
            <a:r>
              <a:rPr lang="cs-CZ" sz="880" b="0" i="0" noProof="0" dirty="0">
                <a:solidFill>
                  <a:srgbClr val="283442"/>
                </a:solidFill>
                <a:latin typeface="Aptos"/>
              </a:rPr>
              <a:t> </a:t>
            </a:r>
            <a:r>
              <a:rPr lang="cs-CZ" sz="880" b="0" i="0" noProof="0" dirty="0" err="1">
                <a:solidFill>
                  <a:srgbClr val="283442"/>
                </a:solidFill>
                <a:latin typeface="Aptos"/>
              </a:rPr>
              <a:t>causes</a:t>
            </a:r>
            <a:r>
              <a:rPr lang="cs-CZ" sz="880" b="0" i="0" noProof="0" dirty="0">
                <a:solidFill>
                  <a:srgbClr val="283442"/>
                </a:solidFill>
                <a:latin typeface="Aptos"/>
              </a:rPr>
              <a:t> and </a:t>
            </a:r>
            <a:r>
              <a:rPr lang="cs-CZ" sz="880" b="0" i="0" noProof="0" dirty="0" err="1">
                <a:solidFill>
                  <a:srgbClr val="283442"/>
                </a:solidFill>
                <a:latin typeface="Aptos"/>
              </a:rPr>
              <a:t>consequences</a:t>
            </a:r>
            <a:r>
              <a:rPr lang="cs-CZ" sz="880" b="0" i="0" noProof="0" dirty="0">
                <a:solidFill>
                  <a:srgbClr val="283442"/>
                </a:solidFill>
                <a:latin typeface="Aptos"/>
              </a:rPr>
              <a:t> </a:t>
            </a:r>
            <a:r>
              <a:rPr lang="cs-CZ" sz="880" b="0" i="0" noProof="0" dirty="0" err="1">
                <a:solidFill>
                  <a:srgbClr val="283442"/>
                </a:solidFill>
                <a:latin typeface="Aptos"/>
              </a:rPr>
              <a:t>of</a:t>
            </a:r>
            <a:r>
              <a:rPr lang="cs-CZ" sz="880" b="0" i="0" noProof="0" dirty="0">
                <a:solidFill>
                  <a:srgbClr val="283442"/>
                </a:solidFill>
                <a:latin typeface="Aptos"/>
              </a:rPr>
              <a:t> </a:t>
            </a:r>
            <a:r>
              <a:rPr lang="cs-CZ" sz="880" b="0" i="0" noProof="0" dirty="0" err="1">
                <a:solidFill>
                  <a:srgbClr val="283442"/>
                </a:solidFill>
                <a:latin typeface="Aptos"/>
              </a:rPr>
              <a:t>generative</a:t>
            </a:r>
            <a:r>
              <a:rPr lang="cs-CZ" sz="880" b="0" i="0" noProof="0" dirty="0">
                <a:solidFill>
                  <a:srgbClr val="283442"/>
                </a:solidFill>
                <a:latin typeface="Aptos"/>
              </a:rPr>
              <a:t> AI </a:t>
            </a:r>
            <a:r>
              <a:rPr lang="cs-CZ" sz="880" b="0" i="0" noProof="0" dirty="0" err="1">
                <a:solidFill>
                  <a:srgbClr val="283442"/>
                </a:solidFill>
                <a:latin typeface="Aptos"/>
              </a:rPr>
              <a:t>usage</a:t>
            </a:r>
            <a:r>
              <a:rPr lang="cs-CZ" sz="880" b="0" i="0" noProof="0" dirty="0">
                <a:solidFill>
                  <a:srgbClr val="283442"/>
                </a:solidFill>
                <a:latin typeface="Aptos"/>
              </a:rPr>
              <a:t> </a:t>
            </a:r>
            <a:r>
              <a:rPr lang="cs-CZ" sz="880" b="0" i="0" noProof="0" dirty="0" err="1">
                <a:solidFill>
                  <a:srgbClr val="283442"/>
                </a:solidFill>
                <a:latin typeface="Aptos"/>
              </a:rPr>
              <a:t>among</a:t>
            </a:r>
            <a:r>
              <a:rPr lang="cs-CZ" sz="880" b="0" i="0" noProof="0" dirty="0">
                <a:solidFill>
                  <a:srgbClr val="283442"/>
                </a:solidFill>
                <a:latin typeface="Aptos"/>
              </a:rPr>
              <a:t> university </a:t>
            </a:r>
            <a:r>
              <a:rPr lang="cs-CZ" sz="880" b="0" i="0" noProof="0" dirty="0" err="1">
                <a:solidFill>
                  <a:srgbClr val="283442"/>
                </a:solidFill>
                <a:latin typeface="Aptos"/>
              </a:rPr>
              <a:t>students</a:t>
            </a:r>
            <a:r>
              <a:rPr lang="cs-CZ" sz="880" b="0" i="0" noProof="0" dirty="0">
                <a:solidFill>
                  <a:srgbClr val="283442"/>
                </a:solidFill>
                <a:latin typeface="Aptos"/>
              </a:rPr>
              <a:t>. International </a:t>
            </a:r>
            <a:r>
              <a:rPr lang="cs-CZ" sz="880" b="0" i="0" noProof="0" dirty="0" err="1">
                <a:solidFill>
                  <a:srgbClr val="283442"/>
                </a:solidFill>
                <a:latin typeface="Aptos"/>
              </a:rPr>
              <a:t>Journal</a:t>
            </a:r>
            <a:r>
              <a:rPr lang="cs-CZ" sz="880" b="0" i="0" noProof="0" dirty="0">
                <a:solidFill>
                  <a:srgbClr val="283442"/>
                </a:solidFill>
                <a:latin typeface="Aptos"/>
              </a:rPr>
              <a:t> </a:t>
            </a:r>
            <a:r>
              <a:rPr lang="cs-CZ" sz="880" b="0" i="0" noProof="0" dirty="0" err="1">
                <a:solidFill>
                  <a:srgbClr val="283442"/>
                </a:solidFill>
                <a:latin typeface="Aptos"/>
              </a:rPr>
              <a:t>of</a:t>
            </a:r>
            <a:r>
              <a:rPr lang="cs-CZ" sz="880" b="0" i="0" noProof="0" dirty="0">
                <a:solidFill>
                  <a:srgbClr val="283442"/>
                </a:solidFill>
                <a:latin typeface="Aptos"/>
              </a:rPr>
              <a:t> </a:t>
            </a:r>
            <a:r>
              <a:rPr lang="cs-CZ" sz="880" b="0" i="0" noProof="0" dirty="0" err="1">
                <a:solidFill>
                  <a:srgbClr val="283442"/>
                </a:solidFill>
                <a:latin typeface="Aptos"/>
              </a:rPr>
              <a:t>Educational</a:t>
            </a:r>
            <a:r>
              <a:rPr lang="cs-CZ" sz="880" b="0" i="0" noProof="0" dirty="0">
                <a:solidFill>
                  <a:srgbClr val="283442"/>
                </a:solidFill>
                <a:latin typeface="Aptos"/>
              </a:rPr>
              <a:t> Technology in </a:t>
            </a:r>
            <a:r>
              <a:rPr lang="cs-CZ" sz="880" b="0" i="0" noProof="0" dirty="0" err="1">
                <a:solidFill>
                  <a:srgbClr val="283442"/>
                </a:solidFill>
                <a:latin typeface="Aptos"/>
              </a:rPr>
              <a:t>Higher</a:t>
            </a:r>
            <a:r>
              <a:rPr lang="cs-CZ" sz="880" b="0" i="0" noProof="0" dirty="0">
                <a:solidFill>
                  <a:srgbClr val="283442"/>
                </a:solidFill>
                <a:latin typeface="Aptos"/>
              </a:rPr>
              <a:t> </a:t>
            </a:r>
            <a:r>
              <a:rPr lang="cs-CZ" sz="880" b="0" i="0" noProof="0" dirty="0" err="1">
                <a:solidFill>
                  <a:srgbClr val="283442"/>
                </a:solidFill>
                <a:latin typeface="Aptos"/>
              </a:rPr>
              <a:t>Education</a:t>
            </a:r>
            <a:r>
              <a:rPr lang="cs-CZ" sz="880" b="0" i="0" noProof="0" dirty="0">
                <a:solidFill>
                  <a:srgbClr val="283442"/>
                </a:solidFill>
                <a:latin typeface="Aptos"/>
              </a:rPr>
              <a:t>, 21, </a:t>
            </a:r>
            <a:r>
              <a:rPr lang="cs-CZ" sz="880" b="0" i="0" noProof="0" dirty="0" err="1">
                <a:solidFill>
                  <a:srgbClr val="283442"/>
                </a:solidFill>
                <a:latin typeface="Aptos"/>
              </a:rPr>
              <a:t>Article</a:t>
            </a:r>
            <a:r>
              <a:rPr lang="cs-CZ" sz="880" b="0" i="0" noProof="0" dirty="0">
                <a:solidFill>
                  <a:srgbClr val="283442"/>
                </a:solidFill>
                <a:latin typeface="Aptos"/>
              </a:rPr>
              <a:t> 10. https://doi.org/10.1186/s41239-024-00444-7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6208" y="4663440"/>
            <a:ext cx="5376672" cy="960120"/>
          </a:xfrm>
          <a:prstGeom prst="roundRect">
            <a:avLst/>
          </a:prstGeom>
          <a:solidFill>
            <a:srgbClr val="FCF6EB"/>
          </a:solidFill>
          <a:ln w="889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25" name="TextBox 24"/>
          <p:cNvSpPr txBox="1"/>
          <p:nvPr/>
        </p:nvSpPr>
        <p:spPr>
          <a:xfrm>
            <a:off x="6382512" y="4754879"/>
            <a:ext cx="508406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1050" b="1" i="0" noProof="0" dirty="0">
                <a:solidFill>
                  <a:srgbClr val="D08D32"/>
                </a:solidFill>
                <a:latin typeface="Aptos"/>
              </a:rPr>
              <a:t>Poznámka k metodě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82512" y="5001768"/>
            <a:ext cx="5084064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880" b="0" i="0" noProof="0" dirty="0" err="1">
                <a:solidFill>
                  <a:srgbClr val="283442"/>
                </a:solidFill>
                <a:latin typeface="Aptos"/>
              </a:rPr>
              <a:t>Fishbone</a:t>
            </a:r>
            <a:r>
              <a:rPr lang="cs-CZ" sz="880" b="0" i="0" noProof="0" dirty="0">
                <a:solidFill>
                  <a:srgbClr val="283442"/>
                </a:solidFill>
                <a:latin typeface="Aptos"/>
              </a:rPr>
              <a:t> a 5 </a:t>
            </a:r>
            <a:r>
              <a:rPr lang="cs-CZ" sz="880" b="0" i="0" noProof="0" dirty="0" err="1">
                <a:solidFill>
                  <a:srgbClr val="283442"/>
                </a:solidFill>
                <a:latin typeface="Aptos"/>
              </a:rPr>
              <a:t>Whys</a:t>
            </a:r>
            <a:r>
              <a:rPr lang="cs-CZ" sz="880" b="0" i="0" noProof="0" dirty="0">
                <a:solidFill>
                  <a:srgbClr val="283442"/>
                </a:solidFill>
                <a:latin typeface="Aptos"/>
              </a:rPr>
              <a:t> slouží k uspořádání a prozkoumání možných příčin; diagram sám o sobě příčinné vztahy neprokazuje. Kořenová příčina v této práci je hypotéza odvozená z dostupných dat.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02920" y="6473952"/>
            <a:ext cx="11183112" cy="0"/>
          </a:xfrm>
          <a:prstGeom prst="line">
            <a:avLst/>
          </a:prstGeom>
          <a:ln w="8890">
            <a:solidFill>
              <a:srgbClr val="DAE2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21207" y="6519672"/>
            <a:ext cx="722376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750" b="0" i="0" noProof="0" dirty="0">
                <a:solidFill>
                  <a:srgbClr val="667585"/>
                </a:solidFill>
                <a:latin typeface="Aptos"/>
              </a:rPr>
              <a:t>TÝM 10  ·  ŘEŠENÍ PROBLÉMŮ  ·  FIS VŠE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06640" y="6510528"/>
            <a:ext cx="4251960" cy="1737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cs-CZ" sz="720" b="0" i="0" noProof="0" dirty="0">
                <a:solidFill>
                  <a:srgbClr val="667585"/>
                </a:solidFill>
                <a:latin typeface="Aptos"/>
              </a:rPr>
              <a:t>Tým 10 · FIS VŠE ·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40</TotalTime>
  <Words>3293</Words>
  <Application>Microsoft Office PowerPoint</Application>
  <PresentationFormat>Širokoúhlá obrazovka</PresentationFormat>
  <Paragraphs>464</Paragraphs>
  <Slides>20</Slides>
  <Notes>0</Notes>
  <HiddenSlides>6</HiddenSlides>
  <MMClips>0</MMClips>
  <ScaleCrop>false</ScaleCrop>
  <HeadingPairs>
    <vt:vector size="6" baseType="variant">
      <vt:variant>
        <vt:lpstr>Použitá písma</vt:lpstr>
      </vt:variant>
      <vt:variant>
        <vt:i4>4</vt:i4>
      </vt:variant>
      <vt:variant>
        <vt:lpstr>Motiv</vt:lpstr>
      </vt:variant>
      <vt:variant>
        <vt:i4>1</vt:i4>
      </vt:variant>
      <vt:variant>
        <vt:lpstr>Nadpisy snímků</vt:lpstr>
      </vt:variant>
      <vt:variant>
        <vt:i4>20</vt:i4>
      </vt:variant>
    </vt:vector>
  </HeadingPairs>
  <TitlesOfParts>
    <vt:vector size="25" baseType="lpstr">
      <vt:lpstr>Aptos</vt:lpstr>
      <vt:lpstr>Aptos Display</vt:lpstr>
      <vt:lpstr>Arial</vt:lpstr>
      <vt:lpstr>Calibri</vt:lpstr>
      <vt:lpstr>Office Theme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Nadměrné spoléhání na AI při studiu – Tým 10</dc:title>
  <dc:subject>Semestrální projekt Řešení problémů, FIS VŠE</dc:subject>
  <dc:creator>Tým 10</dc:creator>
  <cp:keywords>AI, overreliance, FIS, FrED, study skills</cp:keywords>
  <dc:description>generated using python-pptx</dc:description>
  <cp:lastModifiedBy>Jan Michel</cp:lastModifiedBy>
  <cp:revision>3</cp:revision>
  <dcterms:created xsi:type="dcterms:W3CDTF">2013-01-27T09:14:16Z</dcterms:created>
  <dcterms:modified xsi:type="dcterms:W3CDTF">2026-10-25T22:02:38Z</dcterms:modified>
  <cp:category/>
</cp:coreProperties>
</file>