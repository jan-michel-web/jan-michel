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5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5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63" autoAdjust="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302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909560" y="713232"/>
            <a:ext cx="3246120" cy="3246120"/>
          </a:xfrm>
          <a:prstGeom prst="ellipse">
            <a:avLst/>
          </a:prstGeom>
          <a:solidFill>
            <a:srgbClr val="1B3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3" name="Oval 2"/>
          <p:cNvSpPr/>
          <p:nvPr/>
        </p:nvSpPr>
        <p:spPr>
          <a:xfrm>
            <a:off x="8732520" y="1481328"/>
            <a:ext cx="1874519" cy="1874519"/>
          </a:xfrm>
          <a:prstGeom prst="ellipse">
            <a:avLst/>
          </a:prstGeom>
          <a:solidFill>
            <a:srgbClr val="3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4" name="Oval 3"/>
          <p:cNvSpPr/>
          <p:nvPr/>
        </p:nvSpPr>
        <p:spPr>
          <a:xfrm>
            <a:off x="9253728" y="2011680"/>
            <a:ext cx="841248" cy="841248"/>
          </a:xfrm>
          <a:prstGeom prst="ellipse">
            <a:avLst/>
          </a:prstGeom>
          <a:solidFill>
            <a:srgbClr val="1F8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cxnSp>
        <p:nvCxnSpPr>
          <p:cNvPr id="5" name="Connector 4"/>
          <p:cNvCxnSpPr/>
          <p:nvPr/>
        </p:nvCxnSpPr>
        <p:spPr>
          <a:xfrm>
            <a:off x="7818120" y="1097280"/>
            <a:ext cx="2880360" cy="0"/>
          </a:xfrm>
          <a:prstGeom prst="line">
            <a:avLst/>
          </a:prstGeom>
          <a:ln w="15240">
            <a:solidFill>
              <a:srgbClr val="4C70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818120" y="1097280"/>
            <a:ext cx="365759" cy="2743200"/>
          </a:xfrm>
          <a:prstGeom prst="line">
            <a:avLst/>
          </a:prstGeom>
          <a:ln w="15240">
            <a:solidFill>
              <a:srgbClr val="4C70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1097280"/>
            <a:ext cx="274320" cy="3017520"/>
          </a:xfrm>
          <a:prstGeom prst="line">
            <a:avLst/>
          </a:prstGeom>
          <a:ln w="15240">
            <a:solidFill>
              <a:srgbClr val="4C70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183879" y="3840480"/>
            <a:ext cx="960121" cy="914400"/>
          </a:xfrm>
          <a:prstGeom prst="line">
            <a:avLst/>
          </a:prstGeom>
          <a:ln w="15240">
            <a:solidFill>
              <a:srgbClr val="4C70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0287000" y="4114800"/>
            <a:ext cx="685800" cy="960120"/>
          </a:xfrm>
          <a:prstGeom prst="line">
            <a:avLst/>
          </a:prstGeom>
          <a:ln w="15240">
            <a:solidFill>
              <a:srgbClr val="4C70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144000" y="4754880"/>
            <a:ext cx="1143000" cy="320040"/>
          </a:xfrm>
          <a:prstGeom prst="line">
            <a:avLst/>
          </a:prstGeom>
          <a:ln w="15240">
            <a:solidFill>
              <a:srgbClr val="4C70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7818120" y="502920"/>
            <a:ext cx="1234440" cy="594360"/>
          </a:xfrm>
          <a:prstGeom prst="line">
            <a:avLst/>
          </a:prstGeom>
          <a:ln w="15240">
            <a:solidFill>
              <a:srgbClr val="4C70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052560" y="502920"/>
            <a:ext cx="1645920" cy="594360"/>
          </a:xfrm>
          <a:prstGeom prst="line">
            <a:avLst/>
          </a:prstGeom>
          <a:ln w="15240">
            <a:solidFill>
              <a:srgbClr val="4C70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763256" y="1042415"/>
            <a:ext cx="109728" cy="109728"/>
          </a:xfrm>
          <a:prstGeom prst="ellipse">
            <a:avLst/>
          </a:prstGeom>
          <a:solidFill>
            <a:srgbClr val="B1C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4" name="Oval 13"/>
          <p:cNvSpPr/>
          <p:nvPr/>
        </p:nvSpPr>
        <p:spPr>
          <a:xfrm>
            <a:off x="10643615" y="1042415"/>
            <a:ext cx="109728" cy="109728"/>
          </a:xfrm>
          <a:prstGeom prst="ellipse">
            <a:avLst/>
          </a:prstGeom>
          <a:solidFill>
            <a:srgbClr val="B1C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5" name="Oval 14"/>
          <p:cNvSpPr/>
          <p:nvPr/>
        </p:nvSpPr>
        <p:spPr>
          <a:xfrm>
            <a:off x="8129015" y="3785616"/>
            <a:ext cx="109728" cy="109728"/>
          </a:xfrm>
          <a:prstGeom prst="ellipse">
            <a:avLst/>
          </a:prstGeom>
          <a:solidFill>
            <a:srgbClr val="B1C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6" name="Oval 15"/>
          <p:cNvSpPr/>
          <p:nvPr/>
        </p:nvSpPr>
        <p:spPr>
          <a:xfrm>
            <a:off x="10917936" y="4059936"/>
            <a:ext cx="109728" cy="109728"/>
          </a:xfrm>
          <a:prstGeom prst="ellipse">
            <a:avLst/>
          </a:prstGeom>
          <a:solidFill>
            <a:srgbClr val="B1C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7" name="Oval 16"/>
          <p:cNvSpPr/>
          <p:nvPr/>
        </p:nvSpPr>
        <p:spPr>
          <a:xfrm>
            <a:off x="9089136" y="4700016"/>
            <a:ext cx="109728" cy="109728"/>
          </a:xfrm>
          <a:prstGeom prst="ellipse">
            <a:avLst/>
          </a:prstGeom>
          <a:solidFill>
            <a:srgbClr val="B1C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8" name="Oval 17"/>
          <p:cNvSpPr/>
          <p:nvPr/>
        </p:nvSpPr>
        <p:spPr>
          <a:xfrm>
            <a:off x="10232136" y="5020056"/>
            <a:ext cx="109728" cy="109728"/>
          </a:xfrm>
          <a:prstGeom prst="ellipse">
            <a:avLst/>
          </a:prstGeom>
          <a:solidFill>
            <a:srgbClr val="B1C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9" name="Oval 18"/>
          <p:cNvSpPr/>
          <p:nvPr/>
        </p:nvSpPr>
        <p:spPr>
          <a:xfrm>
            <a:off x="8997696" y="448056"/>
            <a:ext cx="109728" cy="109728"/>
          </a:xfrm>
          <a:prstGeom prst="ellipse">
            <a:avLst/>
          </a:prstGeom>
          <a:solidFill>
            <a:srgbClr val="B1C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0" name="Rounded Rectangle 19"/>
          <p:cNvSpPr/>
          <p:nvPr/>
        </p:nvSpPr>
        <p:spPr>
          <a:xfrm>
            <a:off x="713232" y="786384"/>
            <a:ext cx="1143000" cy="256032"/>
          </a:xfrm>
          <a:prstGeom prst="roundRect">
            <a:avLst/>
          </a:prstGeom>
          <a:solidFill>
            <a:srgbClr val="294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758952" y="818388"/>
            <a:ext cx="1051560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00" b="1" i="0" noProof="0" dirty="0">
                <a:solidFill>
                  <a:srgbClr val="C4E0FF"/>
                </a:solidFill>
                <a:latin typeface="Aptos"/>
              </a:rPr>
              <a:t>TEAM 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1490472"/>
            <a:ext cx="6720840" cy="1316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3100" b="1" i="0" noProof="0" dirty="0">
                <a:solidFill>
                  <a:srgbClr val="FFFFFF"/>
                </a:solidFill>
                <a:latin typeface="Aptos Display"/>
              </a:rPr>
              <a:t>Overreliance on AI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3100" b="1" i="0" noProof="0" dirty="0">
                <a:solidFill>
                  <a:srgbClr val="FFFFFF"/>
                </a:solidFill>
                <a:latin typeface="Aptos Display"/>
              </a:rPr>
              <a:t>in Learning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" y="3063240"/>
            <a:ext cx="612648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700" b="0" i="0" noProof="0" dirty="0">
                <a:solidFill>
                  <a:srgbClr val="CFDEEE"/>
                </a:solidFill>
                <a:latin typeface="Aptos"/>
              </a:rPr>
              <a:t>When does AI help — and when does it replace independent thinking?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9808" y="3886200"/>
            <a:ext cx="1170432" cy="0"/>
          </a:xfrm>
          <a:prstGeom prst="line">
            <a:avLst/>
          </a:prstGeom>
          <a:ln w="38100">
            <a:solidFill>
              <a:srgbClr val="1F8E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49808" y="4187952"/>
            <a:ext cx="6309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250" b="0" i="0" noProof="0" dirty="0">
                <a:solidFill>
                  <a:srgbClr val="BED1E5"/>
                </a:solidFill>
                <a:latin typeface="Aptos"/>
              </a:rPr>
              <a:t>Semester project  ·  Problem Solving  ·  FIS, Prague University of Economics and Business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773168"/>
            <a:ext cx="612648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lang="cs-CZ" sz="1150" b="0" i="0" noProof="0" dirty="0">
                <a:solidFill>
                  <a:srgbClr val="A6BED7"/>
                </a:solidFill>
                <a:latin typeface="Aptos"/>
              </a:rPr>
              <a:t>Adrian  ·  Juraj  ·  Jan  ·  Martin  ·  Adriana ·  Simona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6263640"/>
            <a:ext cx="5212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850" b="1" i="0" noProof="0" dirty="0">
                <a:solidFill>
                  <a:srgbClr val="8EA6C1"/>
                </a:solidFill>
                <a:latin typeface="Aptos"/>
              </a:rPr>
              <a:t>2026  /  TEAM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46888"/>
            <a:ext cx="1024128" cy="256032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8892"/>
            <a:ext cx="932688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3669BE"/>
                </a:solidFill>
                <a:latin typeface="Aptos"/>
              </a:rPr>
              <a:t>FRAME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0642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132A43"/>
                </a:solidFill>
                <a:latin typeface="Aptos Display"/>
              </a:rPr>
              <a:t>The problem: when AI replaces independent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88136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667585"/>
                </a:solidFill>
                <a:latin typeface="Aptos"/>
              </a:rPr>
              <a:t>We focus on overreliance on AI, not clinical addiction.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426464"/>
            <a:ext cx="11183112" cy="0"/>
          </a:xfrm>
          <a:prstGeom prst="line">
            <a:avLst/>
          </a:prstGeom>
          <a:ln w="11430">
            <a:solidFill>
              <a:srgbClr val="DA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1402568" y="265176"/>
            <a:ext cx="118872" cy="118872"/>
          </a:xfrm>
          <a:prstGeom prst="ellipse">
            <a:avLst/>
          </a:prstGeom>
          <a:solidFill>
            <a:srgbClr val="1F8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548872" y="265176"/>
            <a:ext cx="118872" cy="118872"/>
          </a:xfrm>
          <a:prstGeom prst="ellipse">
            <a:avLst/>
          </a:prstGeom>
          <a:solidFill>
            <a:srgbClr val="3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30352" y="1682496"/>
            <a:ext cx="11137392" cy="868680"/>
          </a:xfrm>
          <a:prstGeom prst="roundRect">
            <a:avLst/>
          </a:prstGeom>
          <a:solidFill>
            <a:srgbClr val="13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1865376"/>
            <a:ext cx="10607040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The core issue: AI can make tasks so easy that students skip part of the learning process.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80360"/>
            <a:ext cx="5394960" cy="233172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66928" y="2880360"/>
            <a:ext cx="68580" cy="2331720"/>
          </a:xfrm>
          <a:prstGeom prst="roundRect">
            <a:avLst/>
          </a:prstGeom>
          <a:solidFill>
            <a:srgbClr val="1F8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7522" y="2990088"/>
            <a:ext cx="5102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 dirty="0">
                <a:solidFill>
                  <a:srgbClr val="1F8E89"/>
                </a:solidFill>
                <a:latin typeface="Aptos"/>
              </a:rPr>
              <a:t>AI AS A LEARNING PARTNER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10128"/>
            <a:ext cx="5102352" cy="1819655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83442"/>
                </a:solidFill>
                <a:latin typeface="Aptos"/>
              </a:rPr>
              <a:t>• Explains complex concepts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83442"/>
                </a:solidFill>
                <a:latin typeface="Aptos"/>
              </a:rPr>
              <a:t>• Provides hints and practice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83442"/>
                </a:solidFill>
                <a:latin typeface="Aptos"/>
              </a:rPr>
              <a:t>• Helps students check their own approach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880360"/>
            <a:ext cx="5394960" cy="2331720"/>
          </a:xfrm>
          <a:prstGeom prst="roundRect">
            <a:avLst/>
          </a:prstGeom>
          <a:solidFill>
            <a:srgbClr val="FCF6EB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17920" y="2880360"/>
            <a:ext cx="68580" cy="2331720"/>
          </a:xfrm>
          <a:prstGeom prst="roundRect">
            <a:avLst/>
          </a:prstGeom>
          <a:solidFill>
            <a:srgbClr val="D08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98514" y="2994661"/>
            <a:ext cx="5102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 dirty="0">
                <a:solidFill>
                  <a:srgbClr val="D08D32"/>
                </a:solidFill>
                <a:latin typeface="Aptos"/>
              </a:rPr>
              <a:t>AI AS A SHORTCUT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3310128"/>
            <a:ext cx="5102352" cy="1819655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83442"/>
                </a:solidFill>
                <a:latin typeface="Aptos"/>
              </a:rPr>
              <a:t>• Provides finished solutions without an independent attempt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83442"/>
                </a:solidFill>
                <a:latin typeface="Aptos"/>
              </a:rPr>
              <a:t>• Is used even for simple tasks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83442"/>
                </a:solidFill>
                <a:latin typeface="Aptos"/>
              </a:rPr>
              <a:t>• Its output may be accepted without sufficient verification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5577840"/>
            <a:ext cx="1092708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32A43"/>
                </a:solidFill>
                <a:latin typeface="Aptos"/>
              </a:rPr>
              <a:t>Our goal is not to ban AI, but to encourage its use in ways that build understanding and independent problem-solving skills.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A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21207" y="6519672"/>
            <a:ext cx="72237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667585"/>
                </a:solidFill>
                <a:latin typeface="Aptos"/>
              </a:rPr>
              <a:t>TEAM 10  ·  PROBLEM SOLVING  ·  FIS, VŠE  ·  CONTENT 1/10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46888"/>
            <a:ext cx="1024128" cy="256032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8892"/>
            <a:ext cx="932688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3669BE"/>
                </a:solidFill>
                <a:latin typeface="Aptos"/>
              </a:rPr>
              <a:t>FRAME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0642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132A43"/>
                </a:solidFill>
                <a:latin typeface="Aptos Display"/>
              </a:rPr>
              <a:t>Why does this matter at FIS?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88136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667585"/>
                </a:solidFill>
                <a:latin typeface="Aptos"/>
              </a:rPr>
              <a:t>These are risks that may arise when AI replaces understanding — not a claim that they affect every student.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426464"/>
            <a:ext cx="11183112" cy="0"/>
          </a:xfrm>
          <a:prstGeom prst="line">
            <a:avLst/>
          </a:prstGeom>
          <a:ln w="11430">
            <a:solidFill>
              <a:srgbClr val="DA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1402568" y="265176"/>
            <a:ext cx="118872" cy="118872"/>
          </a:xfrm>
          <a:prstGeom prst="ellipse">
            <a:avLst/>
          </a:prstGeom>
          <a:solidFill>
            <a:srgbClr val="1F8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548872" y="265176"/>
            <a:ext cx="118872" cy="118872"/>
          </a:xfrm>
          <a:prstGeom prst="ellipse">
            <a:avLst/>
          </a:prstGeom>
          <a:solidFill>
            <a:srgbClr val="3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94360" y="1783080"/>
            <a:ext cx="3547872" cy="3429000"/>
          </a:xfrm>
          <a:prstGeom prst="roundRect">
            <a:avLst/>
          </a:prstGeom>
          <a:solidFill>
            <a:srgbClr val="EFF5FC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94360" y="1783080"/>
            <a:ext cx="68580" cy="3429000"/>
          </a:xfrm>
          <a:prstGeom prst="roundRect">
            <a:avLst/>
          </a:prstGeom>
          <a:solidFill>
            <a:srgbClr val="3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6675" y="1917953"/>
            <a:ext cx="32552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 dirty="0">
                <a:solidFill>
                  <a:srgbClr val="3669BE"/>
                </a:solidFill>
                <a:latin typeface="Aptos"/>
              </a:rPr>
              <a:t>INDEPENDENT THINKING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212848"/>
            <a:ext cx="3255264" cy="291693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83442"/>
                </a:solidFill>
                <a:latin typeface="Aptos"/>
              </a:rPr>
              <a:t>Without making their own attempts, students get less practice developing an approach, finding errors, and evaluating information.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783080"/>
            <a:ext cx="3547872" cy="342900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315968" y="1783080"/>
            <a:ext cx="68580" cy="3429000"/>
          </a:xfrm>
          <a:prstGeom prst="roundRect">
            <a:avLst/>
          </a:prstGeom>
          <a:solidFill>
            <a:srgbClr val="1F8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08576" y="1912110"/>
            <a:ext cx="32552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 dirty="0">
                <a:solidFill>
                  <a:srgbClr val="1F8E89"/>
                </a:solidFill>
                <a:latin typeface="Aptos"/>
              </a:rPr>
              <a:t>EXAMS WITHOUT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2212848"/>
            <a:ext cx="3255264" cy="291693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83442"/>
                </a:solidFill>
                <a:latin typeface="Aptos"/>
              </a:rPr>
              <a:t>Successfully completing a task with AI does not necessarily mean a student can solve a similar task independently in a test or exam.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37575" y="1783080"/>
            <a:ext cx="3547872" cy="3429000"/>
          </a:xfrm>
          <a:prstGeom prst="roundRect">
            <a:avLst/>
          </a:prstGeom>
          <a:solidFill>
            <a:srgbClr val="FCF6EB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037575" y="1783080"/>
            <a:ext cx="68580" cy="3429000"/>
          </a:xfrm>
          <a:prstGeom prst="roundRect">
            <a:avLst/>
          </a:prstGeom>
          <a:solidFill>
            <a:srgbClr val="D08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84463" y="1917953"/>
            <a:ext cx="32552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 dirty="0">
                <a:solidFill>
                  <a:srgbClr val="D08D32"/>
                </a:solidFill>
                <a:latin typeface="Aptos"/>
              </a:rPr>
              <a:t>FUTURE IT 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2167" y="2212848"/>
            <a:ext cx="3255264" cy="291693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83442"/>
                </a:solidFill>
                <a:latin typeface="Aptos"/>
              </a:rPr>
              <a:t>In IT and analytics, people need to understand solutions, verify outputs, and fix errors — not just generate results.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650992"/>
            <a:ext cx="10561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32A43"/>
                </a:solidFill>
                <a:latin typeface="Aptos"/>
              </a:rPr>
              <a:t>FIS is a good place to learn how to use AI responsibly and effectively while still at university.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A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21207" y="6519672"/>
            <a:ext cx="72237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667585"/>
                </a:solidFill>
                <a:latin typeface="Aptos"/>
              </a:rPr>
              <a:t>TEAM 10  ·  PROBLEM SOLVING  ·  FIS, VŠE  ·  CONTENT 2/10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6510528"/>
            <a:ext cx="425196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20" b="0" i="0">
                <a:solidFill>
                  <a:srgbClr val="667585"/>
                </a:solidFill>
                <a:latin typeface="Aptos"/>
              </a:rPr>
              <a:t>Risks are supported by research [2, 3]; statements are deliberately qualified.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46888"/>
            <a:ext cx="1024128" cy="256032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278892"/>
            <a:ext cx="932688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00" b="1" i="0" noProof="0" dirty="0">
                <a:solidFill>
                  <a:srgbClr val="3669BE"/>
                </a:solidFill>
                <a:latin typeface="Aptos"/>
              </a:rPr>
              <a:t>FRAME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0642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2600" b="1" i="0" noProof="0" dirty="0">
                <a:solidFill>
                  <a:srgbClr val="132A43"/>
                </a:solidFill>
                <a:latin typeface="Aptos Display"/>
              </a:rPr>
              <a:t>Framing the challenge: Hero – Treasure – Dragon – Quest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88136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150" b="0" i="0" noProof="0" dirty="0">
                <a:solidFill>
                  <a:srgbClr val="667585"/>
                </a:solidFill>
                <a:latin typeface="Aptos"/>
              </a:rPr>
              <a:t>Moving from describing the problem to defining the goal the proposed solution should achieve.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426464"/>
            <a:ext cx="11183112" cy="0"/>
          </a:xfrm>
          <a:prstGeom prst="line">
            <a:avLst/>
          </a:prstGeom>
          <a:ln w="11430">
            <a:solidFill>
              <a:srgbClr val="DA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1402568" y="265176"/>
            <a:ext cx="118872" cy="118872"/>
          </a:xfrm>
          <a:prstGeom prst="ellipse">
            <a:avLst/>
          </a:prstGeom>
          <a:solidFill>
            <a:srgbClr val="1F8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8" name="Oval 7"/>
          <p:cNvSpPr/>
          <p:nvPr/>
        </p:nvSpPr>
        <p:spPr>
          <a:xfrm>
            <a:off x="11548872" y="265176"/>
            <a:ext cx="118872" cy="118872"/>
          </a:xfrm>
          <a:prstGeom prst="ellipse">
            <a:avLst/>
          </a:prstGeom>
          <a:solidFill>
            <a:srgbClr val="3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9" name="Rounded Rectangle 8"/>
          <p:cNvSpPr/>
          <p:nvPr/>
        </p:nvSpPr>
        <p:spPr>
          <a:xfrm>
            <a:off x="594360" y="1737360"/>
            <a:ext cx="5376672" cy="1600200"/>
          </a:xfrm>
          <a:prstGeom prst="roundRect">
            <a:avLst/>
          </a:prstGeom>
          <a:solidFill>
            <a:srgbClr val="EFF5FC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0" name="Rounded Rectangle 9"/>
          <p:cNvSpPr/>
          <p:nvPr/>
        </p:nvSpPr>
        <p:spPr>
          <a:xfrm>
            <a:off x="594360" y="1737360"/>
            <a:ext cx="68580" cy="1600200"/>
          </a:xfrm>
          <a:prstGeom prst="roundRect">
            <a:avLst/>
          </a:prstGeom>
          <a:solidFill>
            <a:srgbClr val="3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758952" y="1847088"/>
            <a:ext cx="50840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350" b="1" i="0" noProof="0" dirty="0">
                <a:solidFill>
                  <a:srgbClr val="3669BE"/>
                </a:solidFill>
                <a:latin typeface="Aptos"/>
              </a:rPr>
              <a:t>HERO  ·  WHO NEEDS A SOLUTION?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167128"/>
            <a:ext cx="5084064" cy="108813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200" b="0" i="0" noProof="0" dirty="0">
                <a:solidFill>
                  <a:srgbClr val="283442"/>
                </a:solidFill>
                <a:latin typeface="Aptos"/>
              </a:rPr>
              <a:t>First-year FIS students who are developing university study habits and the ability to solve problems independently.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737360"/>
            <a:ext cx="5376672" cy="160020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4" name="Rounded Rectangle 13"/>
          <p:cNvSpPr/>
          <p:nvPr/>
        </p:nvSpPr>
        <p:spPr>
          <a:xfrm>
            <a:off x="6199632" y="1737360"/>
            <a:ext cx="68580" cy="1600200"/>
          </a:xfrm>
          <a:prstGeom prst="roundRect">
            <a:avLst/>
          </a:prstGeom>
          <a:solidFill>
            <a:srgbClr val="1F8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6364224" y="1847088"/>
            <a:ext cx="50840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350" b="1" i="0" noProof="0" dirty="0">
                <a:solidFill>
                  <a:srgbClr val="1F8E89"/>
                </a:solidFill>
                <a:latin typeface="Aptos"/>
              </a:rPr>
              <a:t>TREASURE  ·  WHAT DOES SUCCESS LOOK LIKE?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2167128"/>
            <a:ext cx="5084064" cy="108813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200" b="0" i="0" noProof="0" dirty="0">
                <a:solidFill>
                  <a:srgbClr val="283442"/>
                </a:solidFill>
                <a:latin typeface="Aptos"/>
              </a:rPr>
              <a:t>Students use AI for explanations, practice, and verification, while still being able to complete tasks independently.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611880"/>
            <a:ext cx="5376672" cy="1600200"/>
          </a:xfrm>
          <a:prstGeom prst="roundRect">
            <a:avLst/>
          </a:prstGeom>
          <a:solidFill>
            <a:srgbClr val="FCF6EB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8" name="Rounded Rectangle 17"/>
          <p:cNvSpPr/>
          <p:nvPr/>
        </p:nvSpPr>
        <p:spPr>
          <a:xfrm>
            <a:off x="594360" y="3611880"/>
            <a:ext cx="68580" cy="1600200"/>
          </a:xfrm>
          <a:prstGeom prst="roundRect">
            <a:avLst/>
          </a:prstGeom>
          <a:solidFill>
            <a:srgbClr val="D08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758952" y="3721608"/>
            <a:ext cx="50840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350" b="1" i="0" noProof="0" dirty="0">
                <a:solidFill>
                  <a:srgbClr val="D08D32"/>
                </a:solidFill>
                <a:latin typeface="Aptos"/>
              </a:rPr>
              <a:t>DRAGON  ·  WHAT STANDS IN THE WAY?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041648"/>
            <a:ext cx="5084064" cy="108813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200" b="0" i="0" noProof="0" dirty="0">
                <a:solidFill>
                  <a:srgbClr val="283442"/>
                </a:solidFill>
                <a:latin typeface="Aptos"/>
              </a:rPr>
              <a:t>Instant finished answers, time pressure, difficult tasks, and uncertainty about how to get started.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3611880"/>
            <a:ext cx="5376672" cy="1600200"/>
          </a:xfrm>
          <a:prstGeom prst="roundRect">
            <a:avLst/>
          </a:prstGeom>
          <a:solidFill>
            <a:srgbClr val="EFF5FC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2" name="Rounded Rectangle 21"/>
          <p:cNvSpPr/>
          <p:nvPr/>
        </p:nvSpPr>
        <p:spPr>
          <a:xfrm>
            <a:off x="6199632" y="3611880"/>
            <a:ext cx="68580" cy="1600200"/>
          </a:xfrm>
          <a:prstGeom prst="roundRect">
            <a:avLst/>
          </a:prstGeom>
          <a:solidFill>
            <a:srgbClr val="3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3" name="TextBox 22"/>
          <p:cNvSpPr txBox="1"/>
          <p:nvPr/>
        </p:nvSpPr>
        <p:spPr>
          <a:xfrm>
            <a:off x="6364224" y="3721608"/>
            <a:ext cx="50840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350" b="1" i="0" noProof="0" dirty="0">
                <a:solidFill>
                  <a:srgbClr val="3669BE"/>
                </a:solidFill>
                <a:latin typeface="Aptos"/>
              </a:rPr>
              <a:t>QUEST  ·  WHAT DO WE WANT TO SOLVE?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4041648"/>
            <a:ext cx="5084064" cy="108813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200" b="0" i="0" noProof="0" dirty="0">
                <a:solidFill>
                  <a:srgbClr val="283442"/>
                </a:solidFill>
                <a:latin typeface="Aptos"/>
              </a:rPr>
              <a:t>How can we help first-year FIS students use AI as a learning partner without letting it replace their own thinking?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A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21207" y="6519672"/>
            <a:ext cx="72237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750" b="0" i="0" noProof="0" dirty="0">
                <a:solidFill>
                  <a:srgbClr val="667585"/>
                </a:solidFill>
                <a:latin typeface="Aptos"/>
              </a:rPr>
              <a:t>TEAM 10  ·  PROBLEM SOLVING  ·  FIS, VŠE  ·  CONTENT 3/10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46888"/>
            <a:ext cx="1024128" cy="256032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278892"/>
            <a:ext cx="932688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00" b="1" i="0" noProof="0" dirty="0">
                <a:solidFill>
                  <a:srgbClr val="3669BE"/>
                </a:solidFill>
                <a:latin typeface="Aptos"/>
              </a:rPr>
              <a:t>EXPLORE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0642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2600" b="1" i="0" noProof="0" dirty="0">
                <a:solidFill>
                  <a:srgbClr val="132A43"/>
                </a:solidFill>
                <a:latin typeface="Aptos Display"/>
              </a:rPr>
              <a:t>Analysis of possible causes: Fishbone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88136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150" b="0" i="0" noProof="0" dirty="0">
                <a:solidFill>
                  <a:srgbClr val="667585"/>
                </a:solidFill>
                <a:latin typeface="Aptos"/>
              </a:rPr>
              <a:t>We combine causes suggested by the questionnaire with factors supported by external research.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426464"/>
            <a:ext cx="11183112" cy="0"/>
          </a:xfrm>
          <a:prstGeom prst="line">
            <a:avLst/>
          </a:prstGeom>
          <a:ln w="11430">
            <a:solidFill>
              <a:srgbClr val="DA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1402568" y="265176"/>
            <a:ext cx="118872" cy="118872"/>
          </a:xfrm>
          <a:prstGeom prst="ellipse">
            <a:avLst/>
          </a:prstGeom>
          <a:solidFill>
            <a:srgbClr val="1F8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8" name="Oval 7"/>
          <p:cNvSpPr/>
          <p:nvPr/>
        </p:nvSpPr>
        <p:spPr>
          <a:xfrm>
            <a:off x="11548872" y="265176"/>
            <a:ext cx="118872" cy="118872"/>
          </a:xfrm>
          <a:prstGeom prst="ellipse">
            <a:avLst/>
          </a:prstGeom>
          <a:solidFill>
            <a:srgbClr val="3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cxnSp>
        <p:nvCxnSpPr>
          <p:cNvPr id="9" name="Connector 8"/>
          <p:cNvCxnSpPr/>
          <p:nvPr/>
        </p:nvCxnSpPr>
        <p:spPr>
          <a:xfrm>
            <a:off x="713232" y="3730752"/>
            <a:ext cx="9116568" cy="0"/>
          </a:xfrm>
          <a:prstGeom prst="line">
            <a:avLst/>
          </a:prstGeom>
          <a:ln w="40640">
            <a:solidFill>
              <a:srgbClr val="13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hevron 9"/>
          <p:cNvSpPr/>
          <p:nvPr/>
        </p:nvSpPr>
        <p:spPr>
          <a:xfrm>
            <a:off x="9546336" y="3547872"/>
            <a:ext cx="402336" cy="365760"/>
          </a:xfrm>
          <a:prstGeom prst="chevron">
            <a:avLst/>
          </a:prstGeom>
          <a:solidFill>
            <a:srgbClr val="13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1" name="Rounded Rectangle 10"/>
          <p:cNvSpPr/>
          <p:nvPr/>
        </p:nvSpPr>
        <p:spPr>
          <a:xfrm>
            <a:off x="9985248" y="3172968"/>
            <a:ext cx="1645920" cy="1097280"/>
          </a:xfrm>
          <a:prstGeom prst="roundRect">
            <a:avLst/>
          </a:prstGeom>
          <a:solidFill>
            <a:srgbClr val="13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10104120" y="3383280"/>
            <a:ext cx="1408176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100" b="1" i="0" noProof="0" dirty="0">
                <a:solidFill>
                  <a:srgbClr val="FFFFFF"/>
                </a:solidFill>
                <a:latin typeface="Aptos"/>
              </a:rPr>
              <a:t>OVER-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100" b="1" i="0" noProof="0" dirty="0">
                <a:solidFill>
                  <a:srgbClr val="FFFFFF"/>
                </a:solidFill>
                <a:latin typeface="Aptos"/>
              </a:rPr>
              <a:t>RELIANCE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100" b="1" i="0" noProof="0" dirty="0">
                <a:solidFill>
                  <a:srgbClr val="FFFFFF"/>
                </a:solidFill>
                <a:latin typeface="Aptos"/>
              </a:rPr>
              <a:t>ON 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1700784"/>
            <a:ext cx="2560320" cy="1371600"/>
          </a:xfrm>
          <a:prstGeom prst="roundRect">
            <a:avLst/>
          </a:prstGeom>
          <a:solidFill>
            <a:srgbClr val="EFF5FC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4" name="Rounded Rectangle 13"/>
          <p:cNvSpPr/>
          <p:nvPr/>
        </p:nvSpPr>
        <p:spPr>
          <a:xfrm>
            <a:off x="566928" y="1700784"/>
            <a:ext cx="68580" cy="1371600"/>
          </a:xfrm>
          <a:prstGeom prst="roundRect">
            <a:avLst/>
          </a:prstGeom>
          <a:solidFill>
            <a:srgbClr val="3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731520" y="1810512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200" b="1" i="0" noProof="0" dirty="0">
                <a:solidFill>
                  <a:srgbClr val="3669BE"/>
                </a:solidFill>
                <a:latin typeface="Aptos"/>
              </a:rPr>
              <a:t>TASK DIFFICULTY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130552"/>
            <a:ext cx="2267712" cy="85953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10" b="0" i="0" noProof="0" dirty="0">
                <a:solidFill>
                  <a:srgbClr val="283442"/>
                </a:solidFill>
                <a:latin typeface="Aptos"/>
              </a:rPr>
              <a:t>9/23 do not know where to start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10" b="0" i="0" noProof="0" dirty="0">
                <a:solidFill>
                  <a:srgbClr val="283442"/>
                </a:solidFill>
                <a:latin typeface="Aptos"/>
              </a:rPr>
              <a:t>* Low confidence / limited knowledge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7560" y="1700784"/>
            <a:ext cx="2560320" cy="137160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8" name="Rounded Rectangle 17"/>
          <p:cNvSpPr/>
          <p:nvPr/>
        </p:nvSpPr>
        <p:spPr>
          <a:xfrm>
            <a:off x="3337560" y="1700784"/>
            <a:ext cx="68580" cy="1371600"/>
          </a:xfrm>
          <a:prstGeom prst="roundRect">
            <a:avLst/>
          </a:prstGeom>
          <a:solidFill>
            <a:srgbClr val="1F8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3502152" y="1810512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180" b="1" i="0" noProof="0" dirty="0">
                <a:solidFill>
                  <a:srgbClr val="1F8E89"/>
                </a:solidFill>
                <a:latin typeface="Aptos"/>
              </a:rPr>
              <a:t>STUDY HABITS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2152" y="2130552"/>
            <a:ext cx="2267712" cy="85953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80" b="0" i="0" noProof="0" dirty="0">
                <a:solidFill>
                  <a:srgbClr val="283442"/>
                </a:solidFill>
                <a:latin typeface="Aptos"/>
              </a:rPr>
              <a:t>12/23 use AI for trivial tasks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80" b="0" i="0" noProof="0" dirty="0">
                <a:solidFill>
                  <a:srgbClr val="283442"/>
                </a:solidFill>
                <a:latin typeface="Aptos"/>
              </a:rPr>
              <a:t>4/23 out of habit or convenience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08192" y="1700784"/>
            <a:ext cx="3017520" cy="1371600"/>
          </a:xfrm>
          <a:prstGeom prst="roundRect">
            <a:avLst/>
          </a:prstGeom>
          <a:solidFill>
            <a:srgbClr val="FCF6EB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2" name="Rounded Rectangle 21"/>
          <p:cNvSpPr/>
          <p:nvPr/>
        </p:nvSpPr>
        <p:spPr>
          <a:xfrm>
            <a:off x="6108192" y="1700784"/>
            <a:ext cx="68580" cy="1371600"/>
          </a:xfrm>
          <a:prstGeom prst="roundRect">
            <a:avLst/>
          </a:prstGeom>
          <a:solidFill>
            <a:srgbClr val="D08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3" name="TextBox 22"/>
          <p:cNvSpPr txBox="1"/>
          <p:nvPr/>
        </p:nvSpPr>
        <p:spPr>
          <a:xfrm>
            <a:off x="6272783" y="1810512"/>
            <a:ext cx="27249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180" b="1" i="0" noProof="0" dirty="0">
                <a:solidFill>
                  <a:srgbClr val="D08D32"/>
                </a:solidFill>
                <a:latin typeface="Aptos"/>
              </a:rPr>
              <a:t>WORKLOAD &amp; DEADLINES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2783" y="2130552"/>
            <a:ext cx="2724912" cy="85953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00" b="0" i="0" noProof="0" dirty="0">
                <a:solidFill>
                  <a:srgbClr val="283442"/>
                </a:solidFill>
                <a:latin typeface="Aptos"/>
              </a:rPr>
              <a:t>6/23 want to manage many tasks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00" b="0" i="0" noProof="0" dirty="0">
                <a:solidFill>
                  <a:srgbClr val="283442"/>
                </a:solidFill>
                <a:latin typeface="Aptos"/>
              </a:rPr>
              <a:t>* Pressure to finish efficiently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80160" y="4498848"/>
            <a:ext cx="3337560" cy="1344168"/>
          </a:xfrm>
          <a:prstGeom prst="roundRect">
            <a:avLst/>
          </a:prstGeom>
          <a:solidFill>
            <a:srgbClr val="EFF5FC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6" name="Rounded Rectangle 25"/>
          <p:cNvSpPr/>
          <p:nvPr/>
        </p:nvSpPr>
        <p:spPr>
          <a:xfrm>
            <a:off x="1280160" y="4498848"/>
            <a:ext cx="68580" cy="1344168"/>
          </a:xfrm>
          <a:prstGeom prst="roundRect">
            <a:avLst/>
          </a:prstGeom>
          <a:solidFill>
            <a:srgbClr val="3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7" name="TextBox 26"/>
          <p:cNvSpPr txBox="1"/>
          <p:nvPr/>
        </p:nvSpPr>
        <p:spPr>
          <a:xfrm>
            <a:off x="1444751" y="4608576"/>
            <a:ext cx="3044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200" b="1" i="0" noProof="0" dirty="0">
                <a:solidFill>
                  <a:srgbClr val="3669BE"/>
                </a:solidFill>
                <a:latin typeface="Aptos"/>
              </a:rPr>
              <a:t>LEARNING STRATEGIES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4751" y="4928616"/>
            <a:ext cx="3044952" cy="832103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30" b="0" i="0" noProof="0" dirty="0">
                <a:solidFill>
                  <a:srgbClr val="283442"/>
                </a:solidFill>
                <a:latin typeface="Aptos"/>
              </a:rPr>
              <a:t>12/23: both support and replacement of their own work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30" b="0" i="0" noProof="0" dirty="0">
                <a:solidFill>
                  <a:srgbClr val="283442"/>
                </a:solidFill>
                <a:latin typeface="Aptos"/>
              </a:rPr>
              <a:t>4/23: a ready-made answer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10328" y="4498848"/>
            <a:ext cx="3337560" cy="1344168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30" name="Rounded Rectangle 29"/>
          <p:cNvSpPr/>
          <p:nvPr/>
        </p:nvSpPr>
        <p:spPr>
          <a:xfrm>
            <a:off x="4910328" y="4498848"/>
            <a:ext cx="68580" cy="1344168"/>
          </a:xfrm>
          <a:prstGeom prst="roundRect">
            <a:avLst/>
          </a:prstGeom>
          <a:solidFill>
            <a:srgbClr val="1F8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31" name="TextBox 30"/>
          <p:cNvSpPr txBox="1"/>
          <p:nvPr/>
        </p:nvSpPr>
        <p:spPr>
          <a:xfrm>
            <a:off x="5074920" y="4608576"/>
            <a:ext cx="3044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200" b="1" i="0" noProof="0" dirty="0">
                <a:solidFill>
                  <a:srgbClr val="1F8E89"/>
                </a:solidFill>
                <a:latin typeface="Aptos"/>
              </a:rPr>
              <a:t>TIME &amp; CONVENIENCE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74920" y="4928616"/>
            <a:ext cx="3044952" cy="832103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30" b="0" i="0" noProof="0" dirty="0">
                <a:solidFill>
                  <a:srgbClr val="283442"/>
                </a:solidFill>
                <a:latin typeface="Aptos"/>
              </a:rPr>
              <a:t>16/23 cite time savings and easier work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30" b="0" i="0" noProof="0" dirty="0">
                <a:solidFill>
                  <a:srgbClr val="283442"/>
                </a:solidFill>
                <a:latin typeface="Aptos"/>
              </a:rPr>
              <a:t>* Quick access to answers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847088" y="3072384"/>
            <a:ext cx="393192" cy="658368"/>
          </a:xfrm>
          <a:prstGeom prst="line">
            <a:avLst/>
          </a:prstGeom>
          <a:ln w="22860">
            <a:solidFill>
              <a:srgbClr val="36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599432" y="3072384"/>
            <a:ext cx="109728" cy="658368"/>
          </a:xfrm>
          <a:prstGeom prst="line">
            <a:avLst/>
          </a:prstGeom>
          <a:ln w="22860">
            <a:solidFill>
              <a:srgbClr val="1F8E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7452360" y="3072384"/>
            <a:ext cx="109728" cy="658368"/>
          </a:xfrm>
          <a:prstGeom prst="line">
            <a:avLst/>
          </a:prstGeom>
          <a:ln w="22860">
            <a:solidFill>
              <a:srgbClr val="D08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944368" y="3730752"/>
            <a:ext cx="0" cy="640080"/>
          </a:xfrm>
          <a:prstGeom prst="line">
            <a:avLst/>
          </a:prstGeom>
          <a:ln w="22860">
            <a:solidFill>
              <a:srgbClr val="36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6574536" y="3730752"/>
            <a:ext cx="0" cy="640080"/>
          </a:xfrm>
          <a:prstGeom prst="line">
            <a:avLst/>
          </a:prstGeom>
          <a:ln w="22860">
            <a:solidFill>
              <a:srgbClr val="1F8E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21792" y="6007608"/>
            <a:ext cx="108813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880" b="0" i="0" noProof="0" dirty="0">
                <a:solidFill>
                  <a:srgbClr val="667585"/>
                </a:solidFill>
                <a:latin typeface="Aptos"/>
              </a:rPr>
              <a:t>* This factor is supported by external studies [4, 5]. A fishbone diagram shows possible causes; it does not prove causation.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A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21207" y="6519672"/>
            <a:ext cx="72237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750" b="0" i="0" noProof="0" dirty="0">
                <a:solidFill>
                  <a:srgbClr val="667585"/>
                </a:solidFill>
                <a:latin typeface="Aptos"/>
              </a:rPr>
              <a:t>TEAM 10  ·  PROBLEM SOLVING  ·  FIS, VŠE  ·  CONTENT 4/10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06640" y="6510528"/>
            <a:ext cx="425196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720" b="0" i="0" noProof="0" dirty="0">
                <a:solidFill>
                  <a:srgbClr val="667585"/>
                </a:solidFill>
                <a:latin typeface="Aptos"/>
              </a:rPr>
              <a:t>Local data: [1] · External research: [4, 5]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46888"/>
            <a:ext cx="1024128" cy="256032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278892"/>
            <a:ext cx="932688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00" b="1" i="0" noProof="0" dirty="0">
                <a:solidFill>
                  <a:srgbClr val="3669BE"/>
                </a:solidFill>
                <a:latin typeface="Aptos"/>
              </a:rPr>
              <a:t>EXPLORE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0642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2600" b="1" i="0" noProof="0" dirty="0">
                <a:solidFill>
                  <a:srgbClr val="132A43"/>
                </a:solidFill>
                <a:latin typeface="Aptos Display"/>
              </a:rPr>
              <a:t>5 Whys: From observed behaviour to a root cause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88136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150" b="0" i="0" noProof="0" dirty="0">
                <a:solidFill>
                  <a:srgbClr val="667585"/>
                </a:solidFill>
                <a:latin typeface="Aptos"/>
              </a:rPr>
              <a:t>The chain combines local data and external research; the final cause is a hypothesis.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426464"/>
            <a:ext cx="11183112" cy="0"/>
          </a:xfrm>
          <a:prstGeom prst="line">
            <a:avLst/>
          </a:prstGeom>
          <a:ln w="11430">
            <a:solidFill>
              <a:srgbClr val="DA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1402568" y="265176"/>
            <a:ext cx="118872" cy="118872"/>
          </a:xfrm>
          <a:prstGeom prst="ellipse">
            <a:avLst/>
          </a:prstGeom>
          <a:solidFill>
            <a:srgbClr val="1F8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8" name="Oval 7"/>
          <p:cNvSpPr/>
          <p:nvPr/>
        </p:nvSpPr>
        <p:spPr>
          <a:xfrm>
            <a:off x="11548872" y="265176"/>
            <a:ext cx="118872" cy="118872"/>
          </a:xfrm>
          <a:prstGeom prst="ellipse">
            <a:avLst/>
          </a:prstGeom>
          <a:solidFill>
            <a:srgbClr val="3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9" name="Rounded Rectangle 8"/>
          <p:cNvSpPr/>
          <p:nvPr/>
        </p:nvSpPr>
        <p:spPr>
          <a:xfrm>
            <a:off x="585216" y="1627632"/>
            <a:ext cx="11009376" cy="804672"/>
          </a:xfrm>
          <a:prstGeom prst="roundRect">
            <a:avLst/>
          </a:prstGeom>
          <a:solidFill>
            <a:srgbClr val="F6F8FB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0" name="Oval 9"/>
          <p:cNvSpPr/>
          <p:nvPr/>
        </p:nvSpPr>
        <p:spPr>
          <a:xfrm>
            <a:off x="731520" y="1810512"/>
            <a:ext cx="384048" cy="384048"/>
          </a:xfrm>
          <a:prstGeom prst="ellipse">
            <a:avLst/>
          </a:prstGeom>
          <a:solidFill>
            <a:srgbClr val="3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731520" y="1828800"/>
            <a:ext cx="38404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300" b="1" i="0" noProof="0" dirty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71016" y="1746504"/>
            <a:ext cx="309067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40" b="1" i="0" noProof="0" dirty="0">
                <a:solidFill>
                  <a:srgbClr val="132A43"/>
                </a:solidFill>
                <a:latin typeface="Aptos"/>
              </a:rPr>
              <a:t>Why do some students use AI even for simple tasks?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737360"/>
            <a:ext cx="3730752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40" b="0" i="0" noProof="0" dirty="0">
                <a:solidFill>
                  <a:srgbClr val="283442"/>
                </a:solidFill>
                <a:latin typeface="Aptos"/>
              </a:rPr>
              <a:t>Because it is fast and convenient.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7" y="1737360"/>
            <a:ext cx="30175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10" b="0" i="0" noProof="0" dirty="0">
                <a:solidFill>
                  <a:srgbClr val="667585"/>
                </a:solidFill>
                <a:latin typeface="Aptos"/>
              </a:rPr>
              <a:t>16/23: time savings [1]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" y="2505456"/>
            <a:ext cx="11009376" cy="804672"/>
          </a:xfrm>
          <a:prstGeom prst="roundRect">
            <a:avLst/>
          </a:prstGeom>
          <a:solidFill>
            <a:srgbClr val="F6F8FB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6" name="Oval 15"/>
          <p:cNvSpPr/>
          <p:nvPr/>
        </p:nvSpPr>
        <p:spPr>
          <a:xfrm>
            <a:off x="731520" y="2688336"/>
            <a:ext cx="384048" cy="384048"/>
          </a:xfrm>
          <a:prstGeom prst="ellipse">
            <a:avLst/>
          </a:prstGeom>
          <a:solidFill>
            <a:srgbClr val="1F8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731520" y="2706624"/>
            <a:ext cx="38404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300" b="1" i="0" noProof="0" dirty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71016" y="2624328"/>
            <a:ext cx="309067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40" b="1" i="0" noProof="0" dirty="0">
                <a:solidFill>
                  <a:srgbClr val="132A43"/>
                </a:solidFill>
                <a:latin typeface="Aptos"/>
              </a:rPr>
              <a:t>Why do they prefer a quick answer?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615184"/>
            <a:ext cx="3730752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40" b="0" i="0" noProof="0" dirty="0">
                <a:solidFill>
                  <a:srgbClr val="283442"/>
                </a:solidFill>
                <a:latin typeface="Aptos"/>
              </a:rPr>
              <a:t>Time pressure and uncertainty about how to start can make AI more appealing.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7" y="2615184"/>
            <a:ext cx="30175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10" b="0" i="0" noProof="0" dirty="0">
                <a:solidFill>
                  <a:srgbClr val="667585"/>
                </a:solidFill>
                <a:latin typeface="Aptos"/>
              </a:rPr>
              <a:t>9/23: do not know where to start; 6/23: workload and deadlines [1]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" y="3383280"/>
            <a:ext cx="11009376" cy="804672"/>
          </a:xfrm>
          <a:prstGeom prst="roundRect">
            <a:avLst/>
          </a:prstGeom>
          <a:solidFill>
            <a:srgbClr val="F6F8FB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2" name="Oval 21"/>
          <p:cNvSpPr/>
          <p:nvPr/>
        </p:nvSpPr>
        <p:spPr>
          <a:xfrm>
            <a:off x="731520" y="3566160"/>
            <a:ext cx="384048" cy="384048"/>
          </a:xfrm>
          <a:prstGeom prst="ellipse">
            <a:avLst/>
          </a:prstGeom>
          <a:solidFill>
            <a:srgbClr val="D08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3" name="TextBox 22"/>
          <p:cNvSpPr txBox="1"/>
          <p:nvPr/>
        </p:nvSpPr>
        <p:spPr>
          <a:xfrm>
            <a:off x="731520" y="3584448"/>
            <a:ext cx="38404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300" b="1" i="0" noProof="0" dirty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71016" y="3502152"/>
            <a:ext cx="309067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40" b="1" i="0" noProof="0" dirty="0">
                <a:solidFill>
                  <a:srgbClr val="132A43"/>
                </a:solidFill>
                <a:latin typeface="Aptos"/>
              </a:rPr>
              <a:t>Why can AI replace learning?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3493008"/>
            <a:ext cx="3730752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40" b="0" i="0" noProof="0" dirty="0">
                <a:solidFill>
                  <a:srgbClr val="283442"/>
                </a:solidFill>
                <a:latin typeface="Aptos"/>
              </a:rPr>
              <a:t>It provides a ready-made answer without independent problem-solving.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7" y="3493008"/>
            <a:ext cx="30175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10" b="0" i="0" noProof="0" dirty="0">
                <a:solidFill>
                  <a:srgbClr val="667585"/>
                </a:solidFill>
                <a:latin typeface="Aptos"/>
              </a:rPr>
              <a:t>12/23: mixed use; 4/23: ready-made answers [1]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5216" y="4261104"/>
            <a:ext cx="11009376" cy="804672"/>
          </a:xfrm>
          <a:prstGeom prst="roundRect">
            <a:avLst/>
          </a:prstGeom>
          <a:solidFill>
            <a:srgbClr val="F6F8FB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8" name="Oval 27"/>
          <p:cNvSpPr/>
          <p:nvPr/>
        </p:nvSpPr>
        <p:spPr>
          <a:xfrm>
            <a:off x="731520" y="4443984"/>
            <a:ext cx="384048" cy="384048"/>
          </a:xfrm>
          <a:prstGeom prst="ellipse">
            <a:avLst/>
          </a:prstGeom>
          <a:solidFill>
            <a:srgbClr val="3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9" name="TextBox 28"/>
          <p:cNvSpPr txBox="1"/>
          <p:nvPr/>
        </p:nvSpPr>
        <p:spPr>
          <a:xfrm>
            <a:off x="731520" y="4462272"/>
            <a:ext cx="38404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300" b="1" i="0" noProof="0" dirty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71016" y="4379976"/>
            <a:ext cx="309067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40" b="1" i="0" noProof="0" dirty="0">
                <a:solidFill>
                  <a:srgbClr val="132A43"/>
                </a:solidFill>
                <a:latin typeface="Aptos"/>
              </a:rPr>
              <a:t>Why does a ready-made answer not necessarily mean learning has occurred?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4370832"/>
            <a:ext cx="3730752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40" b="0" i="0" noProof="0" dirty="0">
                <a:solidFill>
                  <a:srgbClr val="283442"/>
                </a:solidFill>
                <a:latin typeface="Aptos"/>
              </a:rPr>
              <a:t>The student may not be able to solve a similar task without AI.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9327" y="4370832"/>
            <a:ext cx="30175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10" b="0" i="0" noProof="0" dirty="0">
                <a:solidFill>
                  <a:srgbClr val="667585"/>
                </a:solidFill>
                <a:latin typeface="Aptos"/>
              </a:rPr>
              <a:t>Research: performance with AI ≠ independent learning [2, 3]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85216" y="5230368"/>
            <a:ext cx="11009376" cy="749808"/>
          </a:xfrm>
          <a:prstGeom prst="roundRect">
            <a:avLst/>
          </a:prstGeom>
          <a:solidFill>
            <a:srgbClr val="FCF6EB"/>
          </a:solidFill>
          <a:ln w="10160">
            <a:solidFill>
              <a:srgbClr val="EFD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34" name="TextBox 33"/>
          <p:cNvSpPr txBox="1"/>
          <p:nvPr/>
        </p:nvSpPr>
        <p:spPr>
          <a:xfrm>
            <a:off x="1261872" y="5358384"/>
            <a:ext cx="2907790" cy="320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40" b="1" dirty="0">
                <a:solidFill>
                  <a:srgbClr val="132A43"/>
                </a:solidFill>
                <a:latin typeface="Aptos"/>
              </a:rPr>
              <a:t>Why do students not </a:t>
            </a:r>
            <a:r>
              <a:rPr lang="cs-CZ" sz="1040" b="1" dirty="0" err="1">
                <a:solidFill>
                  <a:srgbClr val="132A43"/>
                </a:solidFill>
                <a:latin typeface="Aptos"/>
              </a:rPr>
              <a:t>consistently</a:t>
            </a:r>
            <a:r>
              <a:rPr lang="cs-CZ" sz="1040" b="1" dirty="0">
                <a:solidFill>
                  <a:srgbClr val="132A43"/>
                </a:solidFill>
                <a:latin typeface="Aptos"/>
              </a:rPr>
              <a:t> use AI as a learning partner?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5367528"/>
            <a:ext cx="3264408" cy="344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120" b="1" i="0" noProof="0" dirty="0" err="1">
                <a:solidFill>
                  <a:srgbClr val="132A43"/>
                </a:solidFill>
                <a:latin typeface="Aptos"/>
              </a:rPr>
              <a:t>Possible</a:t>
            </a:r>
            <a:r>
              <a:rPr lang="cs-CZ" sz="1120" b="1" i="0" noProof="0" dirty="0">
                <a:solidFill>
                  <a:srgbClr val="132A43"/>
                </a:solidFill>
                <a:latin typeface="Aptos"/>
              </a:rPr>
              <a:t>  </a:t>
            </a:r>
            <a:r>
              <a:rPr lang="cs-CZ" sz="1120" b="1" i="0" noProof="0" dirty="0" err="1">
                <a:solidFill>
                  <a:srgbClr val="132A43"/>
                </a:solidFill>
                <a:latin typeface="Aptos"/>
              </a:rPr>
              <a:t>root</a:t>
            </a:r>
            <a:r>
              <a:rPr lang="cs-CZ" sz="1120" b="1" i="0" noProof="0" dirty="0">
                <a:solidFill>
                  <a:srgbClr val="132A43"/>
                </a:solidFill>
                <a:latin typeface="Aptos"/>
              </a:rPr>
              <a:t> cause: a coherent strategy for learning with AI is missing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9327" y="5372100"/>
            <a:ext cx="2953512" cy="2800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10" dirty="0">
                <a:solidFill>
                  <a:srgbClr val="667585"/>
                </a:solidFill>
                <a:latin typeface="Aptos"/>
              </a:rPr>
              <a:t>A hypothesis derived from the data; it was not directly tested with all first-year FIS students.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" y="6108192"/>
            <a:ext cx="10789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830" b="0" i="0" noProof="0" dirty="0">
                <a:solidFill>
                  <a:srgbClr val="667585"/>
                </a:solidFill>
                <a:latin typeface="Aptos"/>
              </a:rPr>
              <a:t>[1] Team 10 questionnaire (n = 23) · [2] Bastani et al. (2025) · [3] Pardos &amp; Bhandari (2024)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A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21207" y="6519672"/>
            <a:ext cx="72237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750" b="0" i="0" noProof="0" dirty="0">
                <a:solidFill>
                  <a:srgbClr val="667585"/>
                </a:solidFill>
                <a:latin typeface="Aptos"/>
              </a:rPr>
              <a:t>TEAM 10  ·  PROBLEM SOLVING  ·  FIS, VŠE  ·  CONTENT 5/10</a:t>
            </a:r>
          </a:p>
        </p:txBody>
      </p:sp>
      <p:sp>
        <p:nvSpPr>
          <p:cNvPr id="41" name="Oval 21">
            <a:extLst>
              <a:ext uri="{FF2B5EF4-FFF2-40B4-BE49-F238E27FC236}">
                <a16:creationId xmlns:a16="http://schemas.microsoft.com/office/drawing/2014/main" id="{D23E03E4-C348-251D-9466-85C793A3515B}"/>
              </a:ext>
            </a:extLst>
          </p:cNvPr>
          <p:cNvSpPr/>
          <p:nvPr/>
        </p:nvSpPr>
        <p:spPr>
          <a:xfrm>
            <a:off x="731520" y="5358384"/>
            <a:ext cx="384048" cy="384048"/>
          </a:xfrm>
          <a:prstGeom prst="ellipse">
            <a:avLst/>
          </a:prstGeom>
          <a:solidFill>
            <a:srgbClr val="D08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43" name="TextovéPole 42">
            <a:extLst>
              <a:ext uri="{FF2B5EF4-FFF2-40B4-BE49-F238E27FC236}">
                <a16:creationId xmlns:a16="http://schemas.microsoft.com/office/drawing/2014/main" id="{0377E95D-F9E2-51DE-1024-9F7A4536A1B7}"/>
              </a:ext>
            </a:extLst>
          </p:cNvPr>
          <p:cNvSpPr txBox="1"/>
          <p:nvPr/>
        </p:nvSpPr>
        <p:spPr>
          <a:xfrm>
            <a:off x="791339" y="5404213"/>
            <a:ext cx="31673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1300" b="1" i="0" noProof="0" dirty="0">
                <a:solidFill>
                  <a:srgbClr val="FFFFFF"/>
                </a:solidFill>
                <a:latin typeface="Aptos"/>
              </a:rPr>
              <a:t>5</a:t>
            </a:r>
            <a:endParaRPr lang="cs-CZ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46888"/>
            <a:ext cx="1024128" cy="256032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278892"/>
            <a:ext cx="932688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00" b="1" i="0" noProof="0" dirty="0">
                <a:solidFill>
                  <a:srgbClr val="3669BE"/>
                </a:solidFill>
                <a:latin typeface="Aptos"/>
              </a:rPr>
              <a:t>EXPLORE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0642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2600" b="1" i="0" noProof="0" dirty="0">
                <a:solidFill>
                  <a:srgbClr val="132A43"/>
                </a:solidFill>
                <a:latin typeface="Aptos Display"/>
              </a:rPr>
              <a:t>What solution options are we considering?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88136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150" b="0" i="0" noProof="0" dirty="0">
                <a:solidFill>
                  <a:srgbClr val="667585"/>
                </a:solidFill>
                <a:latin typeface="Aptos"/>
              </a:rPr>
              <a:t>The four options reflect the assignment requirements and respondents’ preferences.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426464"/>
            <a:ext cx="11183112" cy="0"/>
          </a:xfrm>
          <a:prstGeom prst="line">
            <a:avLst/>
          </a:prstGeom>
          <a:ln w="11430">
            <a:solidFill>
              <a:srgbClr val="DA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1402568" y="265176"/>
            <a:ext cx="118872" cy="118872"/>
          </a:xfrm>
          <a:prstGeom prst="ellipse">
            <a:avLst/>
          </a:prstGeom>
          <a:solidFill>
            <a:srgbClr val="1F8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8" name="Oval 7"/>
          <p:cNvSpPr/>
          <p:nvPr/>
        </p:nvSpPr>
        <p:spPr>
          <a:xfrm>
            <a:off x="11548872" y="265176"/>
            <a:ext cx="118872" cy="118872"/>
          </a:xfrm>
          <a:prstGeom prst="ellipse">
            <a:avLst/>
          </a:prstGeom>
          <a:solidFill>
            <a:srgbClr val="3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9" name="Rounded Rectangle 8"/>
          <p:cNvSpPr/>
          <p:nvPr/>
        </p:nvSpPr>
        <p:spPr>
          <a:xfrm>
            <a:off x="594360" y="1700784"/>
            <a:ext cx="5376672" cy="1645920"/>
          </a:xfrm>
          <a:prstGeom prst="roundRect">
            <a:avLst/>
          </a:prstGeom>
          <a:solidFill>
            <a:srgbClr val="EFF5FC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0" name="Rounded Rectangle 9"/>
          <p:cNvSpPr/>
          <p:nvPr/>
        </p:nvSpPr>
        <p:spPr>
          <a:xfrm>
            <a:off x="594360" y="1700784"/>
            <a:ext cx="68580" cy="1645920"/>
          </a:xfrm>
          <a:prstGeom prst="roundRect">
            <a:avLst/>
          </a:prstGeom>
          <a:solidFill>
            <a:srgbClr val="3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758952" y="1810512"/>
            <a:ext cx="50840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400" b="1" i="0" noProof="0" dirty="0">
                <a:solidFill>
                  <a:srgbClr val="3669BE"/>
                </a:solidFill>
                <a:latin typeface="Aptos"/>
              </a:rPr>
              <a:t>A  ·  AI STUDY GUIDE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130552"/>
            <a:ext cx="5084064" cy="113385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150" b="0" i="0" noProof="0" dirty="0">
                <a:solidFill>
                  <a:srgbClr val="283442"/>
                </a:solidFill>
                <a:latin typeface="Aptos"/>
              </a:rPr>
              <a:t>A short guide: hints instead of finished answers, practice, and output verification.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07992" y="1810512"/>
            <a:ext cx="1207008" cy="256032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4553712" y="1842516"/>
            <a:ext cx="1115568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00" b="1" i="0" noProof="0" dirty="0">
                <a:solidFill>
                  <a:srgbClr val="3669BE"/>
                </a:solidFill>
                <a:latin typeface="Aptos"/>
              </a:rPr>
              <a:t>5/23*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1700784"/>
            <a:ext cx="5376672" cy="164592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6" name="Rounded Rectangle 15"/>
          <p:cNvSpPr/>
          <p:nvPr/>
        </p:nvSpPr>
        <p:spPr>
          <a:xfrm>
            <a:off x="6199632" y="1700784"/>
            <a:ext cx="68580" cy="1645920"/>
          </a:xfrm>
          <a:prstGeom prst="roundRect">
            <a:avLst/>
          </a:prstGeom>
          <a:solidFill>
            <a:srgbClr val="1F8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6364224" y="1810512"/>
            <a:ext cx="50840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400" b="1" i="0" noProof="0" dirty="0">
                <a:solidFill>
                  <a:srgbClr val="1F8E89"/>
                </a:solidFill>
                <a:latin typeface="Aptos"/>
              </a:rPr>
              <a:t>B  ·  PRACTICAL WORKSHOP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2130552"/>
            <a:ext cx="5084064" cy="113385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150" b="0" i="0" noProof="0" dirty="0">
                <a:solidFill>
                  <a:srgbClr val="283442"/>
                </a:solidFill>
                <a:latin typeface="Aptos"/>
              </a:rPr>
              <a:t>A short practical exercise comparing a request for a complete solution with a prompt that guides independent problem-solving.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31552" y="1810512"/>
            <a:ext cx="1207008" cy="256032"/>
          </a:xfrm>
          <a:prstGeom prst="roundRect">
            <a:avLst/>
          </a:prstGeom>
          <a:solidFill>
            <a:srgbClr val="E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10177272" y="1842516"/>
            <a:ext cx="1115568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00" b="1" i="0" noProof="0" dirty="0">
                <a:solidFill>
                  <a:srgbClr val="1F8E89"/>
                </a:solidFill>
                <a:latin typeface="Aptos"/>
              </a:rPr>
              <a:t>4/23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611880"/>
            <a:ext cx="5376672" cy="1645920"/>
          </a:xfrm>
          <a:prstGeom prst="roundRect">
            <a:avLst/>
          </a:prstGeom>
          <a:solidFill>
            <a:srgbClr val="FCF6EB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2" name="Rounded Rectangle 21"/>
          <p:cNvSpPr/>
          <p:nvPr/>
        </p:nvSpPr>
        <p:spPr>
          <a:xfrm>
            <a:off x="594360" y="3611880"/>
            <a:ext cx="68580" cy="1645920"/>
          </a:xfrm>
          <a:prstGeom prst="roundRect">
            <a:avLst/>
          </a:prstGeom>
          <a:solidFill>
            <a:srgbClr val="D08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3" name="TextBox 22"/>
          <p:cNvSpPr txBox="1"/>
          <p:nvPr/>
        </p:nvSpPr>
        <p:spPr>
          <a:xfrm>
            <a:off x="758952" y="3721608"/>
            <a:ext cx="50840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400" b="1" i="0" noProof="0" dirty="0">
                <a:solidFill>
                  <a:srgbClr val="D08D32"/>
                </a:solidFill>
                <a:latin typeface="Aptos"/>
              </a:rPr>
              <a:t>C  ·  ASSESSMENT 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4041648"/>
            <a:ext cx="5084064" cy="113385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150" b="0" i="0" noProof="0" dirty="0">
                <a:solidFill>
                  <a:srgbClr val="283442"/>
                </a:solidFill>
                <a:latin typeface="Aptos"/>
              </a:rPr>
              <a:t>Tasks that require students to explain their approach, solve independently, or briefly defend their reasoning.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07992" y="3721608"/>
            <a:ext cx="1207008" cy="256032"/>
          </a:xfrm>
          <a:prstGeom prst="roundRect">
            <a:avLst/>
          </a:prstGeom>
          <a:solidFill>
            <a:srgbClr val="FCF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6" name="TextBox 25"/>
          <p:cNvSpPr txBox="1"/>
          <p:nvPr/>
        </p:nvSpPr>
        <p:spPr>
          <a:xfrm>
            <a:off x="4553712" y="3753612"/>
            <a:ext cx="1115568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00" b="1" i="0" noProof="0" dirty="0">
                <a:solidFill>
                  <a:srgbClr val="D08D32"/>
                </a:solidFill>
                <a:latin typeface="Aptos"/>
              </a:rPr>
              <a:t>5/23*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9632" y="3611880"/>
            <a:ext cx="5376672" cy="1645920"/>
          </a:xfrm>
          <a:prstGeom prst="roundRect">
            <a:avLst/>
          </a:prstGeom>
          <a:solidFill>
            <a:srgbClr val="F6F8FB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8" name="Rounded Rectangle 27"/>
          <p:cNvSpPr/>
          <p:nvPr/>
        </p:nvSpPr>
        <p:spPr>
          <a:xfrm>
            <a:off x="6199632" y="3611880"/>
            <a:ext cx="68580" cy="1645920"/>
          </a:xfrm>
          <a:prstGeom prst="roundRect">
            <a:avLst/>
          </a:prstGeom>
          <a:solidFill>
            <a:srgbClr val="667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9" name="TextBox 28"/>
          <p:cNvSpPr txBox="1"/>
          <p:nvPr/>
        </p:nvSpPr>
        <p:spPr>
          <a:xfrm>
            <a:off x="6364224" y="3721608"/>
            <a:ext cx="50840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400" b="1" i="0" noProof="0" dirty="0">
                <a:solidFill>
                  <a:srgbClr val="667585"/>
                </a:solidFill>
                <a:latin typeface="Aptos"/>
              </a:rPr>
              <a:t>D  ·  MAINTAIN THE CURRENT APPROACH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4224" y="4041648"/>
            <a:ext cx="5084064" cy="113385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150" b="0" i="0" noProof="0" dirty="0">
                <a:solidFill>
                  <a:srgbClr val="283442"/>
                </a:solidFill>
                <a:latin typeface="Aptos"/>
              </a:rPr>
              <a:t>No new intervention. It requires no additional resources, but does not directly address the identified risky habits.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131552" y="3721608"/>
            <a:ext cx="1207008" cy="256032"/>
          </a:xfrm>
          <a:prstGeom prst="round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32" name="TextBox 31"/>
          <p:cNvSpPr txBox="1"/>
          <p:nvPr/>
        </p:nvSpPr>
        <p:spPr>
          <a:xfrm>
            <a:off x="10177272" y="3753612"/>
            <a:ext cx="1115568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00" b="1" i="0" noProof="0" dirty="0">
                <a:solidFill>
                  <a:srgbClr val="667585"/>
                </a:solidFill>
                <a:latin typeface="Aptos"/>
              </a:rPr>
              <a:t>9/23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" y="5623560"/>
            <a:ext cx="10680192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30" b="0" i="0" noProof="0" dirty="0">
                <a:solidFill>
                  <a:srgbClr val="667585"/>
                </a:solidFill>
                <a:latin typeface="Aptos"/>
              </a:rPr>
              <a:t>* Grouped responses: guide (3) + practical examples (2); assessment design (4) + clearer rules (1). The current approach was preferred by 9/23 respondents.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A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21207" y="6519672"/>
            <a:ext cx="72237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750" b="0" i="0" noProof="0" dirty="0">
                <a:solidFill>
                  <a:srgbClr val="667585"/>
                </a:solidFill>
                <a:latin typeface="Aptos"/>
              </a:rPr>
              <a:t>TEAM 10  ·  PROBLEM SOLVING  ·  FIS, VŠE  ·  CONTENT 6/10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6510528"/>
            <a:ext cx="425196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720" b="0" i="0" noProof="0" dirty="0">
                <a:solidFill>
                  <a:srgbClr val="667585"/>
                </a:solidFill>
                <a:latin typeface="Aptos"/>
              </a:rPr>
              <a:t>Source of preferences: Team 10 questionnaire [1].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46888"/>
            <a:ext cx="1024128" cy="256032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278892"/>
            <a:ext cx="932688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00" b="1" i="0" noProof="0" dirty="0">
                <a:solidFill>
                  <a:srgbClr val="3669BE"/>
                </a:solidFill>
                <a:latin typeface="Aptos"/>
              </a:rPr>
              <a:t>EXPLORE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0642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2600" b="1" i="0" noProof="0" dirty="0">
                <a:solidFill>
                  <a:srgbClr val="132A43"/>
                </a:solidFill>
                <a:latin typeface="Aptos Display"/>
              </a:rPr>
              <a:t>Advantages, limitations, and required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88136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150" b="0" i="0" noProof="0" dirty="0">
                <a:solidFill>
                  <a:srgbClr val="667585"/>
                </a:solidFill>
                <a:latin typeface="Aptos"/>
              </a:rPr>
              <a:t>The comparison highlights trade-offs; the advantages and limitations have not been empirically tested at FIS.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426464"/>
            <a:ext cx="11183112" cy="0"/>
          </a:xfrm>
          <a:prstGeom prst="line">
            <a:avLst/>
          </a:prstGeom>
          <a:ln w="11430">
            <a:solidFill>
              <a:srgbClr val="DA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1402568" y="265176"/>
            <a:ext cx="118872" cy="118872"/>
          </a:xfrm>
          <a:prstGeom prst="ellipse">
            <a:avLst/>
          </a:prstGeom>
          <a:solidFill>
            <a:srgbClr val="1F8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8" name="Oval 7"/>
          <p:cNvSpPr/>
          <p:nvPr/>
        </p:nvSpPr>
        <p:spPr>
          <a:xfrm>
            <a:off x="11548872" y="265176"/>
            <a:ext cx="118872" cy="118872"/>
          </a:xfrm>
          <a:prstGeom prst="ellipse">
            <a:avLst/>
          </a:prstGeom>
          <a:solidFill>
            <a:srgbClr val="3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9" name="Rectangle 8"/>
          <p:cNvSpPr/>
          <p:nvPr/>
        </p:nvSpPr>
        <p:spPr>
          <a:xfrm>
            <a:off x="566928" y="1700784"/>
            <a:ext cx="2057400" cy="438912"/>
          </a:xfrm>
          <a:prstGeom prst="rect">
            <a:avLst/>
          </a:prstGeom>
          <a:solidFill>
            <a:srgbClr val="3669BE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649224" y="1810512"/>
            <a:ext cx="1892807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19" b="1" i="0" noProof="0" dirty="0">
                <a:solidFill>
                  <a:srgbClr val="FFFFFF"/>
                </a:solidFill>
                <a:latin typeface="Aptos"/>
              </a:rPr>
              <a:t>OPTION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24328" y="1700784"/>
            <a:ext cx="2944368" cy="438912"/>
          </a:xfrm>
          <a:prstGeom prst="rect">
            <a:avLst/>
          </a:prstGeom>
          <a:solidFill>
            <a:srgbClr val="3669BE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2706624" y="1810512"/>
            <a:ext cx="277977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19" b="1" i="0" noProof="0" dirty="0">
                <a:solidFill>
                  <a:srgbClr val="FFFFFF"/>
                </a:solidFill>
                <a:latin typeface="Aptos"/>
              </a:rPr>
              <a:t>ADVANTAGES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68696" y="1700784"/>
            <a:ext cx="2944368" cy="438912"/>
          </a:xfrm>
          <a:prstGeom prst="rect">
            <a:avLst/>
          </a:prstGeom>
          <a:solidFill>
            <a:srgbClr val="3669BE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5650992" y="1810512"/>
            <a:ext cx="277977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19" b="1" i="0" noProof="0" dirty="0">
                <a:solidFill>
                  <a:srgbClr val="FFFFFF"/>
                </a:solidFill>
                <a:latin typeface="Aptos"/>
              </a:rPr>
              <a:t>LIMITATIONS / DISADVANTAGES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13064" y="1700784"/>
            <a:ext cx="2944368" cy="438912"/>
          </a:xfrm>
          <a:prstGeom prst="rect">
            <a:avLst/>
          </a:prstGeom>
          <a:solidFill>
            <a:srgbClr val="3669BE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8595360" y="1810512"/>
            <a:ext cx="277977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19" b="1" i="0" noProof="0" dirty="0">
                <a:solidFill>
                  <a:srgbClr val="FFFFFF"/>
                </a:solidFill>
                <a:latin typeface="Aptos"/>
              </a:rPr>
              <a:t>KEY RESOURCES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139696"/>
            <a:ext cx="2057400" cy="914400"/>
          </a:xfrm>
          <a:prstGeom prst="rect">
            <a:avLst/>
          </a:prstGeom>
          <a:solidFill>
            <a:srgbClr val="F6F8FB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667512" y="2231136"/>
            <a:ext cx="1856231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80" b="1" i="0" noProof="0" dirty="0">
                <a:solidFill>
                  <a:srgbClr val="132A43"/>
                </a:solidFill>
                <a:latin typeface="Aptos"/>
              </a:rPr>
              <a:t>Study guide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24328" y="2139696"/>
            <a:ext cx="2944368" cy="914400"/>
          </a:xfrm>
          <a:prstGeom prst="rect">
            <a:avLst/>
          </a:prstGeom>
          <a:solidFill>
            <a:srgbClr val="F6F8FB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2724912" y="2231136"/>
            <a:ext cx="2743200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40" b="0" i="0" noProof="0" dirty="0">
                <a:solidFill>
                  <a:srgbClr val="283442"/>
                </a:solidFill>
                <a:latin typeface="Aptos"/>
              </a:rPr>
              <a:t>Low-cost, always available, and easy to update.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68696" y="2139696"/>
            <a:ext cx="2944368" cy="914400"/>
          </a:xfrm>
          <a:prstGeom prst="rect">
            <a:avLst/>
          </a:prstGeom>
          <a:solidFill>
            <a:srgbClr val="F6F8FB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2" name="TextBox 21"/>
          <p:cNvSpPr txBox="1"/>
          <p:nvPr/>
        </p:nvSpPr>
        <p:spPr>
          <a:xfrm>
            <a:off x="5669280" y="2231136"/>
            <a:ext cx="2743200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40" b="0" i="0" noProof="0" dirty="0">
                <a:solidFill>
                  <a:srgbClr val="283442"/>
                </a:solidFill>
                <a:latin typeface="Aptos"/>
              </a:rPr>
              <a:t>Reading it does not guarantee a change in habits; students may ignore it.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13064" y="2139696"/>
            <a:ext cx="2944368" cy="914400"/>
          </a:xfrm>
          <a:prstGeom prst="rect">
            <a:avLst/>
          </a:prstGeom>
          <a:solidFill>
            <a:srgbClr val="F6F8FB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4" name="TextBox 23"/>
          <p:cNvSpPr txBox="1"/>
          <p:nvPr/>
        </p:nvSpPr>
        <p:spPr>
          <a:xfrm>
            <a:off x="8613648" y="2231136"/>
            <a:ext cx="2743200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40" b="0" i="0" noProof="0" dirty="0">
                <a:solidFill>
                  <a:srgbClr val="283442"/>
                </a:solidFill>
                <a:latin typeface="Aptos"/>
              </a:rPr>
              <a:t>Content development, review, and digital distribution.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054096"/>
            <a:ext cx="2057400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6" name="TextBox 25"/>
          <p:cNvSpPr txBox="1"/>
          <p:nvPr/>
        </p:nvSpPr>
        <p:spPr>
          <a:xfrm>
            <a:off x="667512" y="3145536"/>
            <a:ext cx="1856231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80" b="1" i="0" noProof="0" dirty="0">
                <a:solidFill>
                  <a:srgbClr val="132A43"/>
                </a:solidFill>
                <a:latin typeface="Aptos"/>
              </a:rPr>
              <a:t>Practical workshop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24328" y="3054096"/>
            <a:ext cx="2944368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8" name="TextBox 27"/>
          <p:cNvSpPr txBox="1"/>
          <p:nvPr/>
        </p:nvSpPr>
        <p:spPr>
          <a:xfrm>
            <a:off x="2724912" y="3145536"/>
            <a:ext cx="2743200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40" b="0" i="0" noProof="0" dirty="0">
                <a:solidFill>
                  <a:srgbClr val="283442"/>
                </a:solidFill>
                <a:latin typeface="Aptos"/>
              </a:rPr>
              <a:t>Practice with a real task, with room for questions and error correction.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68696" y="3054096"/>
            <a:ext cx="2944368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30" name="TextBox 29"/>
          <p:cNvSpPr txBox="1"/>
          <p:nvPr/>
        </p:nvSpPr>
        <p:spPr>
          <a:xfrm>
            <a:off x="5669280" y="3145536"/>
            <a:ext cx="2743200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40" b="0" i="0" noProof="0" dirty="0">
                <a:solidFill>
                  <a:srgbClr val="283442"/>
                </a:solidFill>
                <a:latin typeface="Aptos"/>
              </a:rPr>
              <a:t>Requires attendance, preparation, and suitable timing.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13064" y="3054096"/>
            <a:ext cx="2944368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32" name="TextBox 31"/>
          <p:cNvSpPr txBox="1"/>
          <p:nvPr/>
        </p:nvSpPr>
        <p:spPr>
          <a:xfrm>
            <a:off x="8613648" y="3145536"/>
            <a:ext cx="2743200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40" b="0" i="0" noProof="0" dirty="0">
                <a:solidFill>
                  <a:srgbClr val="283442"/>
                </a:solidFill>
                <a:latin typeface="Aptos"/>
              </a:rPr>
              <a:t>Facilitator, task, AI tool, room, and feedback.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3968496"/>
            <a:ext cx="2057400" cy="914400"/>
          </a:xfrm>
          <a:prstGeom prst="rect">
            <a:avLst/>
          </a:prstGeom>
          <a:solidFill>
            <a:srgbClr val="F6F8FB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34" name="TextBox 33"/>
          <p:cNvSpPr txBox="1"/>
          <p:nvPr/>
        </p:nvSpPr>
        <p:spPr>
          <a:xfrm>
            <a:off x="667512" y="4059935"/>
            <a:ext cx="1856231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80" b="1" i="0" noProof="0" dirty="0">
                <a:solidFill>
                  <a:srgbClr val="132A43"/>
                </a:solidFill>
                <a:latin typeface="Aptos"/>
              </a:rPr>
              <a:t>Assessment design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24328" y="3968496"/>
            <a:ext cx="2944368" cy="914400"/>
          </a:xfrm>
          <a:prstGeom prst="rect">
            <a:avLst/>
          </a:prstGeom>
          <a:solidFill>
            <a:srgbClr val="F6F8FB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36" name="TextBox 35"/>
          <p:cNvSpPr txBox="1"/>
          <p:nvPr/>
        </p:nvSpPr>
        <p:spPr>
          <a:xfrm>
            <a:off x="2724912" y="4059935"/>
            <a:ext cx="2743200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40" b="0" i="0" noProof="0" dirty="0">
                <a:solidFill>
                  <a:srgbClr val="283442"/>
                </a:solidFill>
                <a:latin typeface="Aptos"/>
              </a:rPr>
              <a:t>Directly checks understanding and encourages independence.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68696" y="3968496"/>
            <a:ext cx="2944368" cy="914400"/>
          </a:xfrm>
          <a:prstGeom prst="rect">
            <a:avLst/>
          </a:prstGeom>
          <a:solidFill>
            <a:srgbClr val="F6F8FB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38" name="TextBox 37"/>
          <p:cNvSpPr txBox="1"/>
          <p:nvPr/>
        </p:nvSpPr>
        <p:spPr>
          <a:xfrm>
            <a:off x="5669280" y="4059935"/>
            <a:ext cx="2743200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40" b="0" i="0" noProof="0" dirty="0">
                <a:solidFill>
                  <a:srgbClr val="283442"/>
                </a:solidFill>
                <a:latin typeface="Aptos"/>
              </a:rPr>
              <a:t>Requires instructor collaboration and changes to assignments.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13064" y="3968496"/>
            <a:ext cx="2944368" cy="914400"/>
          </a:xfrm>
          <a:prstGeom prst="rect">
            <a:avLst/>
          </a:prstGeom>
          <a:solidFill>
            <a:srgbClr val="F6F8FB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40" name="TextBox 39"/>
          <p:cNvSpPr txBox="1"/>
          <p:nvPr/>
        </p:nvSpPr>
        <p:spPr>
          <a:xfrm>
            <a:off x="8613648" y="4059935"/>
            <a:ext cx="2743200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40" b="0" i="0" noProof="0" dirty="0">
                <a:solidFill>
                  <a:srgbClr val="283442"/>
                </a:solidFill>
                <a:latin typeface="Aptos"/>
              </a:rPr>
              <a:t>Instructors, assessment design, and a pilot course.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4882896"/>
            <a:ext cx="2057400" cy="795528"/>
          </a:xfrm>
          <a:prstGeom prst="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42" name="TextBox 41"/>
          <p:cNvSpPr txBox="1"/>
          <p:nvPr/>
        </p:nvSpPr>
        <p:spPr>
          <a:xfrm>
            <a:off x="667512" y="4974336"/>
            <a:ext cx="185623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80" b="1" i="0" noProof="0" dirty="0">
                <a:solidFill>
                  <a:srgbClr val="132A43"/>
                </a:solidFill>
                <a:latin typeface="Aptos"/>
              </a:rPr>
              <a:t>Current approach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24328" y="4882896"/>
            <a:ext cx="2944368" cy="795528"/>
          </a:xfrm>
          <a:prstGeom prst="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44" name="TextBox 43"/>
          <p:cNvSpPr txBox="1"/>
          <p:nvPr/>
        </p:nvSpPr>
        <p:spPr>
          <a:xfrm>
            <a:off x="2724912" y="4974336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40" b="0" i="0" noProof="0" dirty="0">
                <a:solidFill>
                  <a:srgbClr val="283442"/>
                </a:solidFill>
                <a:latin typeface="Aptos"/>
              </a:rPr>
              <a:t>No additional costs or organizational changes.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68696" y="4882896"/>
            <a:ext cx="2944368" cy="795528"/>
          </a:xfrm>
          <a:prstGeom prst="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46" name="TextBox 45"/>
          <p:cNvSpPr txBox="1"/>
          <p:nvPr/>
        </p:nvSpPr>
        <p:spPr>
          <a:xfrm>
            <a:off x="5669280" y="4974336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40" b="0" i="0" noProof="0" dirty="0">
                <a:solidFill>
                  <a:srgbClr val="283442"/>
                </a:solidFill>
                <a:latin typeface="Aptos"/>
              </a:rPr>
              <a:t>No targeted intervention to address risky habits.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13064" y="4882896"/>
            <a:ext cx="2944368" cy="795528"/>
          </a:xfrm>
          <a:prstGeom prst="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48" name="TextBox 47"/>
          <p:cNvSpPr txBox="1"/>
          <p:nvPr/>
        </p:nvSpPr>
        <p:spPr>
          <a:xfrm>
            <a:off x="8613648" y="4974336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40" b="0" i="0" noProof="0" dirty="0">
                <a:solidFill>
                  <a:srgbClr val="283442"/>
                </a:solidFill>
                <a:latin typeface="Aptos"/>
              </a:rPr>
              <a:t>No additional resources.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" y="6062472"/>
            <a:ext cx="10972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880" b="0" i="0" noProof="0" dirty="0">
                <a:solidFill>
                  <a:srgbClr val="667585"/>
                </a:solidFill>
                <a:latin typeface="Aptos"/>
              </a:rPr>
              <a:t>The principles of guided AI learning and using hints instead of finished answers are supported by Bastani et al. (2025) and Pardos &amp; Bhandari (2024) [2, 3].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A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21207" y="6519672"/>
            <a:ext cx="72237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750" b="0" i="0" noProof="0" dirty="0">
                <a:solidFill>
                  <a:srgbClr val="667585"/>
                </a:solidFill>
                <a:latin typeface="Aptos"/>
              </a:rPr>
              <a:t>TEAM 10  ·  PROBLEM SOLVING  ·  FIS, VŠE  ·  CONTENT 7/10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06640" y="6510528"/>
            <a:ext cx="425196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720" b="0" i="0" noProof="0" dirty="0" err="1">
                <a:solidFill>
                  <a:srgbClr val="667585"/>
                </a:solidFill>
                <a:latin typeface="Aptos"/>
              </a:rPr>
              <a:t>Trade-offs reflect the team’s assessment, not measurements at FIS.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46888"/>
            <a:ext cx="1024128" cy="256032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278892"/>
            <a:ext cx="932688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00" b="1" i="0" noProof="0" dirty="0">
                <a:solidFill>
                  <a:srgbClr val="3669BE"/>
                </a:solidFill>
                <a:latin typeface="Aptos"/>
              </a:rPr>
              <a:t>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0642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2600" b="1" i="0" noProof="0" dirty="0">
                <a:solidFill>
                  <a:srgbClr val="132A43"/>
                </a:solidFill>
                <a:latin typeface="Aptos Display"/>
              </a:rPr>
              <a:t>Risk matrix: which options carry the greatest risk?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88136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150" b="0" i="0" noProof="0" dirty="0">
                <a:solidFill>
                  <a:srgbClr val="667585"/>
                </a:solidFill>
                <a:latin typeface="Aptos"/>
              </a:rPr>
              <a:t>P = probability · I = impact · score = P × I · both values are team estimates on a 1–5 scale.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426464"/>
            <a:ext cx="11183112" cy="0"/>
          </a:xfrm>
          <a:prstGeom prst="line">
            <a:avLst/>
          </a:prstGeom>
          <a:ln w="11430">
            <a:solidFill>
              <a:srgbClr val="DA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1402568" y="265176"/>
            <a:ext cx="118872" cy="118872"/>
          </a:xfrm>
          <a:prstGeom prst="ellipse">
            <a:avLst/>
          </a:prstGeom>
          <a:solidFill>
            <a:srgbClr val="1F8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8" name="Oval 7"/>
          <p:cNvSpPr/>
          <p:nvPr/>
        </p:nvSpPr>
        <p:spPr>
          <a:xfrm>
            <a:off x="11548872" y="265176"/>
            <a:ext cx="118872" cy="118872"/>
          </a:xfrm>
          <a:prstGeom prst="ellipse">
            <a:avLst/>
          </a:prstGeom>
          <a:solidFill>
            <a:srgbClr val="3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566928" y="1554480"/>
            <a:ext cx="3520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200" b="1" i="0" noProof="0" dirty="0">
                <a:solidFill>
                  <a:srgbClr val="3669BE"/>
                </a:solidFill>
                <a:latin typeface="Aptos"/>
              </a:rPr>
              <a:t>5 × 5 MATRIX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1737360"/>
            <a:ext cx="484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00" b="1" i="0" noProof="0" dirty="0">
                <a:solidFill>
                  <a:srgbClr val="667585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737360"/>
            <a:ext cx="484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00" b="1" i="0" noProof="0" dirty="0">
                <a:solidFill>
                  <a:srgbClr val="667585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93392" y="1737360"/>
            <a:ext cx="484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00" b="1" i="0" noProof="0" dirty="0">
                <a:solidFill>
                  <a:srgbClr val="667585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78024" y="1737360"/>
            <a:ext cx="484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00" b="1" i="0" noProof="0" dirty="0">
                <a:solidFill>
                  <a:srgbClr val="667585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62656" y="1737360"/>
            <a:ext cx="484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00" b="1" i="0" noProof="0" dirty="0">
                <a:solidFill>
                  <a:srgbClr val="667585"/>
                </a:solidFill>
                <a:latin typeface="Aptos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2130552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00" b="1" i="0" noProof="0" dirty="0">
                <a:solidFill>
                  <a:srgbClr val="667585"/>
                </a:solidFill>
                <a:latin typeface="Aptos"/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1993392"/>
            <a:ext cx="461772" cy="461772"/>
          </a:xfrm>
          <a:prstGeom prst="rect">
            <a:avLst/>
          </a:prstGeom>
          <a:solidFill>
            <a:srgbClr val="FCF6E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1037844" y="2029968"/>
            <a:ext cx="4343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00" b="1" i="0" noProof="0" dirty="0">
                <a:solidFill>
                  <a:srgbClr val="D08D32"/>
                </a:solidFill>
                <a:latin typeface="Aptos"/>
              </a:rPr>
              <a:t>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08760" y="1993392"/>
            <a:ext cx="461772" cy="461772"/>
          </a:xfrm>
          <a:prstGeom prst="rect">
            <a:avLst/>
          </a:prstGeom>
          <a:solidFill>
            <a:srgbClr val="FAE1C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1522476" y="2029968"/>
            <a:ext cx="4343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00" b="1" i="0" noProof="0" dirty="0">
                <a:solidFill>
                  <a:srgbClr val="995716"/>
                </a:solidFill>
                <a:latin typeface="Aptos"/>
              </a:rPr>
              <a:t>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93392" y="1993392"/>
            <a:ext cx="461772" cy="461772"/>
          </a:xfrm>
          <a:prstGeom prst="rect">
            <a:avLst/>
          </a:prstGeom>
          <a:solidFill>
            <a:srgbClr val="FAE1C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2" name="TextBox 21"/>
          <p:cNvSpPr txBox="1"/>
          <p:nvPr/>
        </p:nvSpPr>
        <p:spPr>
          <a:xfrm>
            <a:off x="2007108" y="2029968"/>
            <a:ext cx="4343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00" b="1" i="0" noProof="0" dirty="0">
                <a:solidFill>
                  <a:srgbClr val="995716"/>
                </a:solidFill>
                <a:latin typeface="Aptos"/>
              </a:rPr>
              <a:t>15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78024" y="1993392"/>
            <a:ext cx="461772" cy="461772"/>
          </a:xfrm>
          <a:prstGeom prst="rect">
            <a:avLst/>
          </a:prstGeom>
          <a:solidFill>
            <a:srgbClr val="FCF1F0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4" name="TextBox 23"/>
          <p:cNvSpPr txBox="1"/>
          <p:nvPr/>
        </p:nvSpPr>
        <p:spPr>
          <a:xfrm>
            <a:off x="2491740" y="2029968"/>
            <a:ext cx="4343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00" b="1" i="0" noProof="0" dirty="0">
                <a:solidFill>
                  <a:srgbClr val="B84F4F"/>
                </a:solidFill>
                <a:latin typeface="Aptos"/>
              </a:rPr>
              <a:t>20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62656" y="1993392"/>
            <a:ext cx="461772" cy="461772"/>
          </a:xfrm>
          <a:prstGeom prst="rect">
            <a:avLst/>
          </a:prstGeom>
          <a:solidFill>
            <a:srgbClr val="FCF1F0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6" name="TextBox 25"/>
          <p:cNvSpPr txBox="1"/>
          <p:nvPr/>
        </p:nvSpPr>
        <p:spPr>
          <a:xfrm>
            <a:off x="2976372" y="2085839"/>
            <a:ext cx="434340" cy="290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lang="cs-CZ" sz="819" b="1" dirty="0">
                <a:solidFill>
                  <a:srgbClr val="B84F4F"/>
                </a:solidFill>
                <a:latin typeface="Aptos"/>
              </a:rPr>
              <a:t>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819" b="1" dirty="0">
                <a:solidFill>
                  <a:srgbClr val="B84F4F"/>
                </a:solidFill>
                <a:latin typeface="Aptos"/>
              </a:rPr>
              <a:t>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2615184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00" b="1" i="0" noProof="0" dirty="0">
                <a:solidFill>
                  <a:srgbClr val="667585"/>
                </a:solidFill>
                <a:latin typeface="Aptos"/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24128" y="2478024"/>
            <a:ext cx="461772" cy="461772"/>
          </a:xfrm>
          <a:prstGeom prst="rect">
            <a:avLst/>
          </a:prstGeom>
          <a:solidFill>
            <a:srgbClr val="E9F7F5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9" name="TextBox 28"/>
          <p:cNvSpPr txBox="1"/>
          <p:nvPr/>
        </p:nvSpPr>
        <p:spPr>
          <a:xfrm>
            <a:off x="1037844" y="2514600"/>
            <a:ext cx="4343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00" b="1" i="0" noProof="0" dirty="0">
                <a:solidFill>
                  <a:srgbClr val="1F8E89"/>
                </a:solidFill>
                <a:latin typeface="Aptos"/>
              </a:rPr>
              <a:t>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08760" y="2478024"/>
            <a:ext cx="461772" cy="461772"/>
          </a:xfrm>
          <a:prstGeom prst="rect">
            <a:avLst/>
          </a:prstGeom>
          <a:solidFill>
            <a:srgbClr val="FCF6E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31" name="TextBox 30"/>
          <p:cNvSpPr txBox="1"/>
          <p:nvPr/>
        </p:nvSpPr>
        <p:spPr>
          <a:xfrm>
            <a:off x="1522476" y="2514600"/>
            <a:ext cx="4343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00" b="1" i="0" noProof="0" dirty="0">
                <a:solidFill>
                  <a:srgbClr val="D08D32"/>
                </a:solidFill>
                <a:latin typeface="Aptos"/>
              </a:rPr>
              <a:t>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93392" y="2478024"/>
            <a:ext cx="461772" cy="461772"/>
          </a:xfrm>
          <a:prstGeom prst="rect">
            <a:avLst/>
          </a:prstGeom>
          <a:solidFill>
            <a:srgbClr val="FAE1C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33" name="TextBox 32"/>
          <p:cNvSpPr txBox="1"/>
          <p:nvPr/>
        </p:nvSpPr>
        <p:spPr>
          <a:xfrm>
            <a:off x="2007108" y="2514600"/>
            <a:ext cx="4343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00" b="1" i="0" noProof="0" dirty="0">
                <a:solidFill>
                  <a:srgbClr val="995716"/>
                </a:solidFill>
                <a:latin typeface="Aptos"/>
              </a:rPr>
              <a:t>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78024" y="2478024"/>
            <a:ext cx="461772" cy="461772"/>
          </a:xfrm>
          <a:prstGeom prst="rect">
            <a:avLst/>
          </a:prstGeom>
          <a:solidFill>
            <a:srgbClr val="FCF1F0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35" name="TextBox 34"/>
          <p:cNvSpPr txBox="1"/>
          <p:nvPr/>
        </p:nvSpPr>
        <p:spPr>
          <a:xfrm>
            <a:off x="2491740" y="2570472"/>
            <a:ext cx="434340" cy="290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819" b="1" i="0" noProof="0" dirty="0">
                <a:solidFill>
                  <a:srgbClr val="B84F4F"/>
                </a:solidFill>
                <a:latin typeface="Aptos"/>
              </a:rPr>
              <a:t>C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819" b="1" i="0" noProof="0" dirty="0">
                <a:solidFill>
                  <a:srgbClr val="B84F4F"/>
                </a:solidFill>
                <a:latin typeface="Aptos"/>
              </a:rPr>
              <a:t>16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62656" y="2478024"/>
            <a:ext cx="461772" cy="461772"/>
          </a:xfrm>
          <a:prstGeom prst="rect">
            <a:avLst/>
          </a:prstGeom>
          <a:solidFill>
            <a:srgbClr val="FCF1F0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37" name="TextBox 36"/>
          <p:cNvSpPr txBox="1"/>
          <p:nvPr/>
        </p:nvSpPr>
        <p:spPr>
          <a:xfrm>
            <a:off x="2976372" y="2514600"/>
            <a:ext cx="4343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00" b="1" i="0" noProof="0" dirty="0">
                <a:solidFill>
                  <a:srgbClr val="B84F4F"/>
                </a:solidFill>
                <a:latin typeface="Aptos"/>
              </a:rPr>
              <a:t>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3099816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00" b="1" i="0" noProof="0" dirty="0">
                <a:solidFill>
                  <a:srgbClr val="667585"/>
                </a:solidFill>
                <a:latin typeface="Aptos"/>
              </a:rPr>
              <a:t>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24128" y="2962656"/>
            <a:ext cx="461772" cy="461772"/>
          </a:xfrm>
          <a:prstGeom prst="rect">
            <a:avLst/>
          </a:prstGeom>
          <a:solidFill>
            <a:srgbClr val="E9F7F5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40" name="TextBox 39"/>
          <p:cNvSpPr txBox="1"/>
          <p:nvPr/>
        </p:nvSpPr>
        <p:spPr>
          <a:xfrm>
            <a:off x="1037844" y="2999232"/>
            <a:ext cx="4343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00" b="1" i="0" noProof="0" dirty="0">
                <a:solidFill>
                  <a:srgbClr val="1F8E89"/>
                </a:solidFill>
                <a:latin typeface="Aptos"/>
              </a:rPr>
              <a:t>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508760" y="2962656"/>
            <a:ext cx="461772" cy="461772"/>
          </a:xfrm>
          <a:prstGeom prst="rect">
            <a:avLst/>
          </a:prstGeom>
          <a:solidFill>
            <a:srgbClr val="FCF6E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42" name="TextBox 41"/>
          <p:cNvSpPr txBox="1"/>
          <p:nvPr/>
        </p:nvSpPr>
        <p:spPr>
          <a:xfrm>
            <a:off x="1522476" y="2999232"/>
            <a:ext cx="4343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00" b="1" i="0" noProof="0" dirty="0">
                <a:solidFill>
                  <a:srgbClr val="D08D32"/>
                </a:solidFill>
                <a:latin typeface="Aptos"/>
              </a:rPr>
              <a:t>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993392" y="2962656"/>
            <a:ext cx="461772" cy="461772"/>
          </a:xfrm>
          <a:prstGeom prst="rect">
            <a:avLst/>
          </a:prstGeom>
          <a:solidFill>
            <a:srgbClr val="FCF6E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44" name="TextBox 43"/>
          <p:cNvSpPr txBox="1"/>
          <p:nvPr/>
        </p:nvSpPr>
        <p:spPr>
          <a:xfrm>
            <a:off x="2007108" y="2999232"/>
            <a:ext cx="4343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819" b="1" i="0" noProof="0" dirty="0">
                <a:solidFill>
                  <a:srgbClr val="D08D32"/>
                </a:solidFill>
                <a:latin typeface="Aptos"/>
              </a:rPr>
              <a:t>B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819" b="1" i="0" noProof="0" dirty="0">
                <a:solidFill>
                  <a:srgbClr val="D08D32"/>
                </a:solidFill>
                <a:latin typeface="Aptos"/>
              </a:rPr>
              <a:t>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478024" y="2962656"/>
            <a:ext cx="461772" cy="461772"/>
          </a:xfrm>
          <a:prstGeom prst="rect">
            <a:avLst/>
          </a:prstGeom>
          <a:solidFill>
            <a:srgbClr val="FAE1C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46" name="TextBox 45"/>
          <p:cNvSpPr txBox="1"/>
          <p:nvPr/>
        </p:nvSpPr>
        <p:spPr>
          <a:xfrm>
            <a:off x="2491740" y="2999232"/>
            <a:ext cx="4343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819" b="1" i="0" noProof="0" dirty="0">
                <a:solidFill>
                  <a:srgbClr val="995716"/>
                </a:solidFill>
                <a:latin typeface="Aptos"/>
              </a:rPr>
              <a:t>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819" b="1" i="0" noProof="0" dirty="0">
                <a:solidFill>
                  <a:srgbClr val="995716"/>
                </a:solidFill>
                <a:latin typeface="Aptos"/>
              </a:rPr>
              <a:t>12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962656" y="2962656"/>
            <a:ext cx="461772" cy="461772"/>
          </a:xfrm>
          <a:prstGeom prst="rect">
            <a:avLst/>
          </a:prstGeom>
          <a:solidFill>
            <a:srgbClr val="FAE1C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48" name="TextBox 47"/>
          <p:cNvSpPr txBox="1"/>
          <p:nvPr/>
        </p:nvSpPr>
        <p:spPr>
          <a:xfrm>
            <a:off x="2976372" y="2999232"/>
            <a:ext cx="4343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00" b="1" i="0" noProof="0" dirty="0">
                <a:solidFill>
                  <a:srgbClr val="995716"/>
                </a:solidFill>
                <a:latin typeface="Aptos"/>
              </a:rPr>
              <a:t>15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" y="3584448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00" b="1" i="0" noProof="0" dirty="0">
                <a:solidFill>
                  <a:srgbClr val="667585"/>
                </a:solidFill>
                <a:latin typeface="Aptos"/>
              </a:rPr>
              <a:t>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24128" y="3447288"/>
            <a:ext cx="461772" cy="461772"/>
          </a:xfrm>
          <a:prstGeom prst="rect">
            <a:avLst/>
          </a:prstGeom>
          <a:solidFill>
            <a:srgbClr val="E9F7F5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51" name="TextBox 50"/>
          <p:cNvSpPr txBox="1"/>
          <p:nvPr/>
        </p:nvSpPr>
        <p:spPr>
          <a:xfrm>
            <a:off x="1037844" y="3483864"/>
            <a:ext cx="4343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00" b="1" i="0" noProof="0" dirty="0">
                <a:solidFill>
                  <a:srgbClr val="1F8E89"/>
                </a:solidFill>
                <a:latin typeface="Aptos"/>
              </a:rPr>
              <a:t>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508760" y="3447288"/>
            <a:ext cx="461772" cy="461772"/>
          </a:xfrm>
          <a:prstGeom prst="rect">
            <a:avLst/>
          </a:prstGeom>
          <a:solidFill>
            <a:srgbClr val="E9F7F5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53" name="TextBox 52"/>
          <p:cNvSpPr txBox="1"/>
          <p:nvPr/>
        </p:nvSpPr>
        <p:spPr>
          <a:xfrm>
            <a:off x="1522476" y="3483864"/>
            <a:ext cx="4343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00" b="1" i="0" noProof="0" dirty="0">
                <a:solidFill>
                  <a:srgbClr val="1F8E89"/>
                </a:solidFill>
                <a:latin typeface="Aptos"/>
              </a:rPr>
              <a:t>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93392" y="3447288"/>
            <a:ext cx="461772" cy="461772"/>
          </a:xfrm>
          <a:prstGeom prst="rect">
            <a:avLst/>
          </a:prstGeom>
          <a:solidFill>
            <a:srgbClr val="FCF6E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55" name="TextBox 54"/>
          <p:cNvSpPr txBox="1"/>
          <p:nvPr/>
        </p:nvSpPr>
        <p:spPr>
          <a:xfrm>
            <a:off x="2007108" y="3483864"/>
            <a:ext cx="4343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00" b="1" i="0" noProof="0" dirty="0">
                <a:solidFill>
                  <a:srgbClr val="D08D32"/>
                </a:solidFill>
                <a:latin typeface="Aptos"/>
              </a:rPr>
              <a:t>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478024" y="3447288"/>
            <a:ext cx="461772" cy="461772"/>
          </a:xfrm>
          <a:prstGeom prst="rect">
            <a:avLst/>
          </a:prstGeom>
          <a:solidFill>
            <a:srgbClr val="FCF6E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57" name="TextBox 56"/>
          <p:cNvSpPr txBox="1"/>
          <p:nvPr/>
        </p:nvSpPr>
        <p:spPr>
          <a:xfrm>
            <a:off x="2491740" y="3483864"/>
            <a:ext cx="4343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00" b="1" i="0" noProof="0" dirty="0">
                <a:solidFill>
                  <a:srgbClr val="D08D32"/>
                </a:solidFill>
                <a:latin typeface="Aptos"/>
              </a:rPr>
              <a:t>8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962656" y="3447288"/>
            <a:ext cx="461772" cy="461772"/>
          </a:xfrm>
          <a:prstGeom prst="rect">
            <a:avLst/>
          </a:prstGeom>
          <a:solidFill>
            <a:srgbClr val="FAE1C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59" name="TextBox 58"/>
          <p:cNvSpPr txBox="1"/>
          <p:nvPr/>
        </p:nvSpPr>
        <p:spPr>
          <a:xfrm>
            <a:off x="2976372" y="3483864"/>
            <a:ext cx="4343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00" b="1" i="0" noProof="0" dirty="0">
                <a:solidFill>
                  <a:srgbClr val="995716"/>
                </a:solidFill>
                <a:latin typeface="Aptos"/>
              </a:rPr>
              <a:t>10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1792" y="4069080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00" b="1" i="0" noProof="0" dirty="0">
                <a:solidFill>
                  <a:srgbClr val="667585"/>
                </a:solidFill>
                <a:latin typeface="Aptos"/>
              </a:rPr>
              <a:t>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24128" y="3931920"/>
            <a:ext cx="461772" cy="461772"/>
          </a:xfrm>
          <a:prstGeom prst="rect">
            <a:avLst/>
          </a:prstGeom>
          <a:solidFill>
            <a:srgbClr val="E9F7F5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62" name="TextBox 61"/>
          <p:cNvSpPr txBox="1"/>
          <p:nvPr/>
        </p:nvSpPr>
        <p:spPr>
          <a:xfrm>
            <a:off x="1037844" y="3968496"/>
            <a:ext cx="4343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00" b="1" i="0" noProof="0" dirty="0">
                <a:solidFill>
                  <a:srgbClr val="1F8E89"/>
                </a:solidFill>
                <a:latin typeface="Aptos"/>
              </a:rPr>
              <a:t>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508760" y="3931920"/>
            <a:ext cx="461772" cy="461772"/>
          </a:xfrm>
          <a:prstGeom prst="rect">
            <a:avLst/>
          </a:prstGeom>
          <a:solidFill>
            <a:srgbClr val="E9F7F5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64" name="TextBox 63"/>
          <p:cNvSpPr txBox="1"/>
          <p:nvPr/>
        </p:nvSpPr>
        <p:spPr>
          <a:xfrm>
            <a:off x="1522476" y="3968496"/>
            <a:ext cx="4343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00" b="1" i="0" noProof="0" dirty="0">
                <a:solidFill>
                  <a:srgbClr val="1F8E89"/>
                </a:solidFill>
                <a:latin typeface="Aptos"/>
              </a:rPr>
              <a:t>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993392" y="3931920"/>
            <a:ext cx="461772" cy="461772"/>
          </a:xfrm>
          <a:prstGeom prst="rect">
            <a:avLst/>
          </a:prstGeom>
          <a:solidFill>
            <a:srgbClr val="E9F7F5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66" name="TextBox 65"/>
          <p:cNvSpPr txBox="1"/>
          <p:nvPr/>
        </p:nvSpPr>
        <p:spPr>
          <a:xfrm>
            <a:off x="2007108" y="3968496"/>
            <a:ext cx="4343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00" b="1" i="0" noProof="0" dirty="0">
                <a:solidFill>
                  <a:srgbClr val="1F8E89"/>
                </a:solidFill>
                <a:latin typeface="Aptos"/>
              </a:rPr>
              <a:t>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478024" y="3931920"/>
            <a:ext cx="461772" cy="461772"/>
          </a:xfrm>
          <a:prstGeom prst="rect">
            <a:avLst/>
          </a:prstGeom>
          <a:solidFill>
            <a:srgbClr val="E9F7F5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68" name="TextBox 67"/>
          <p:cNvSpPr txBox="1"/>
          <p:nvPr/>
        </p:nvSpPr>
        <p:spPr>
          <a:xfrm>
            <a:off x="2491740" y="3968496"/>
            <a:ext cx="4343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00" b="1" i="0" noProof="0" dirty="0">
                <a:solidFill>
                  <a:srgbClr val="1F8E89"/>
                </a:solidFill>
                <a:latin typeface="Aptos"/>
              </a:rPr>
              <a:t>4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962656" y="3931920"/>
            <a:ext cx="461772" cy="461772"/>
          </a:xfrm>
          <a:prstGeom prst="rect">
            <a:avLst/>
          </a:prstGeom>
          <a:solidFill>
            <a:srgbClr val="FCF6E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70" name="TextBox 69"/>
          <p:cNvSpPr txBox="1"/>
          <p:nvPr/>
        </p:nvSpPr>
        <p:spPr>
          <a:xfrm>
            <a:off x="2976372" y="3968496"/>
            <a:ext cx="4343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00" b="1" i="0" noProof="0" dirty="0">
                <a:solidFill>
                  <a:srgbClr val="D08D32"/>
                </a:solidFill>
                <a:latin typeface="Aptos"/>
              </a:rPr>
              <a:t>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51560" y="4498848"/>
            <a:ext cx="2697480" cy="1400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10" b="1" i="0" noProof="0" dirty="0">
                <a:solidFill>
                  <a:srgbClr val="667585"/>
                </a:solidFill>
                <a:latin typeface="Aptos"/>
              </a:rPr>
              <a:t>P (probability) →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12648" y="4846320"/>
            <a:ext cx="210312" cy="201168"/>
          </a:xfrm>
          <a:prstGeom prst="roundRect">
            <a:avLst/>
          </a:prstGeom>
          <a:solidFill>
            <a:srgbClr val="E9F7F5"/>
          </a:solidFill>
          <a:ln w="635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73" name="TextBox 72"/>
          <p:cNvSpPr txBox="1"/>
          <p:nvPr/>
        </p:nvSpPr>
        <p:spPr>
          <a:xfrm>
            <a:off x="896112" y="4860036"/>
            <a:ext cx="150876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850" b="1" i="0" noProof="0" dirty="0">
                <a:solidFill>
                  <a:srgbClr val="1F8E89"/>
                </a:solidFill>
                <a:latin typeface="Aptos"/>
              </a:rPr>
              <a:t>1–4  Low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459736" y="4846320"/>
            <a:ext cx="210312" cy="201168"/>
          </a:xfrm>
          <a:prstGeom prst="roundRect">
            <a:avLst/>
          </a:prstGeom>
          <a:solidFill>
            <a:srgbClr val="FCF6EB"/>
          </a:solidFill>
          <a:ln w="635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75" name="TextBox 74"/>
          <p:cNvSpPr txBox="1"/>
          <p:nvPr/>
        </p:nvSpPr>
        <p:spPr>
          <a:xfrm>
            <a:off x="2743200" y="4860036"/>
            <a:ext cx="150876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850" b="1" i="0" noProof="0" dirty="0">
                <a:solidFill>
                  <a:srgbClr val="D08D32"/>
                </a:solidFill>
                <a:latin typeface="Aptos"/>
              </a:rPr>
              <a:t>5–9  Medium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12648" y="5193792"/>
            <a:ext cx="210312" cy="201168"/>
          </a:xfrm>
          <a:prstGeom prst="roundRect">
            <a:avLst/>
          </a:prstGeom>
          <a:solidFill>
            <a:srgbClr val="FAE1C6"/>
          </a:solidFill>
          <a:ln w="635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77" name="TextBox 76"/>
          <p:cNvSpPr txBox="1"/>
          <p:nvPr/>
        </p:nvSpPr>
        <p:spPr>
          <a:xfrm>
            <a:off x="896112" y="5207507"/>
            <a:ext cx="150876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850" b="1" i="0" noProof="0" dirty="0">
                <a:solidFill>
                  <a:srgbClr val="995716"/>
                </a:solidFill>
                <a:latin typeface="Aptos"/>
              </a:rPr>
              <a:t>10–15  High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2459736" y="5193792"/>
            <a:ext cx="210312" cy="201168"/>
          </a:xfrm>
          <a:prstGeom prst="roundRect">
            <a:avLst/>
          </a:prstGeom>
          <a:solidFill>
            <a:srgbClr val="FCF1F0"/>
          </a:solidFill>
          <a:ln w="635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79" name="TextBox 78"/>
          <p:cNvSpPr txBox="1"/>
          <p:nvPr/>
        </p:nvSpPr>
        <p:spPr>
          <a:xfrm>
            <a:off x="2743200" y="5207507"/>
            <a:ext cx="150876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850" b="1" i="0" noProof="0" dirty="0">
                <a:solidFill>
                  <a:srgbClr val="B84F4F"/>
                </a:solidFill>
                <a:latin typeface="Aptos"/>
              </a:rPr>
              <a:t>16–25  Critical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55948" y="1559500"/>
            <a:ext cx="7452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150" b="1" i="0" noProof="0" dirty="0">
                <a:solidFill>
                  <a:srgbClr val="3669BE"/>
                </a:solidFill>
                <a:latin typeface="Aptos"/>
              </a:rPr>
              <a:t>KEY RISKS AND MITIGATIONS FOR EACH OPTION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160520" y="1938528"/>
            <a:ext cx="402336" cy="393192"/>
          </a:xfrm>
          <a:prstGeom prst="rect">
            <a:avLst/>
          </a:prstGeom>
          <a:solidFill>
            <a:srgbClr val="3669BE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82" name="TextBox 81"/>
          <p:cNvSpPr txBox="1"/>
          <p:nvPr/>
        </p:nvSpPr>
        <p:spPr>
          <a:xfrm>
            <a:off x="4183380" y="2029968"/>
            <a:ext cx="35661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endParaRPr lang="cs-CZ" noProof="0" dirty="0"/>
          </a:p>
        </p:txBody>
      </p:sp>
      <p:sp>
        <p:nvSpPr>
          <p:cNvPr id="83" name="Rectangle 82"/>
          <p:cNvSpPr/>
          <p:nvPr/>
        </p:nvSpPr>
        <p:spPr>
          <a:xfrm>
            <a:off x="4562856" y="1938528"/>
            <a:ext cx="1307592" cy="393192"/>
          </a:xfrm>
          <a:prstGeom prst="rect">
            <a:avLst/>
          </a:prstGeom>
          <a:solidFill>
            <a:srgbClr val="3669BE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84" name="TextBox 83"/>
          <p:cNvSpPr txBox="1"/>
          <p:nvPr/>
        </p:nvSpPr>
        <p:spPr>
          <a:xfrm>
            <a:off x="4585716" y="202996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800" b="1" i="0" noProof="0" dirty="0">
                <a:solidFill>
                  <a:srgbClr val="FFFFFF"/>
                </a:solidFill>
                <a:latin typeface="Aptos"/>
              </a:rPr>
              <a:t>OPTION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870448" y="1938528"/>
            <a:ext cx="2057400" cy="393192"/>
          </a:xfrm>
          <a:prstGeom prst="rect">
            <a:avLst/>
          </a:prstGeom>
          <a:solidFill>
            <a:srgbClr val="3669BE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86" name="TextBox 85"/>
          <p:cNvSpPr txBox="1"/>
          <p:nvPr/>
        </p:nvSpPr>
        <p:spPr>
          <a:xfrm>
            <a:off x="5893308" y="2029968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800" b="1" i="0" noProof="0" dirty="0">
                <a:solidFill>
                  <a:srgbClr val="FFFFFF"/>
                </a:solidFill>
                <a:latin typeface="Aptos"/>
              </a:rPr>
              <a:t>RISK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927848" y="1938528"/>
            <a:ext cx="356616" cy="393192"/>
          </a:xfrm>
          <a:prstGeom prst="rect">
            <a:avLst/>
          </a:prstGeom>
          <a:solidFill>
            <a:srgbClr val="3669BE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88" name="TextBox 87"/>
          <p:cNvSpPr txBox="1"/>
          <p:nvPr/>
        </p:nvSpPr>
        <p:spPr>
          <a:xfrm>
            <a:off x="7950708" y="2029968"/>
            <a:ext cx="31089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800" b="1" i="0" noProof="0" dirty="0">
                <a:solidFill>
                  <a:srgbClr val="FFFFFF"/>
                </a:solidFill>
                <a:latin typeface="Aptos"/>
              </a:rPr>
              <a:t>P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284464" y="1938528"/>
            <a:ext cx="356616" cy="393192"/>
          </a:xfrm>
          <a:prstGeom prst="rect">
            <a:avLst/>
          </a:prstGeom>
          <a:solidFill>
            <a:srgbClr val="3669BE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90" name="TextBox 89"/>
          <p:cNvSpPr txBox="1"/>
          <p:nvPr/>
        </p:nvSpPr>
        <p:spPr>
          <a:xfrm>
            <a:off x="8307324" y="2029968"/>
            <a:ext cx="31089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800" b="1" i="0" noProof="0" dirty="0">
                <a:solidFill>
                  <a:srgbClr val="FFFFFF"/>
                </a:solidFill>
                <a:latin typeface="Aptos"/>
              </a:rPr>
              <a:t>I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641080" y="1938528"/>
            <a:ext cx="621792" cy="393192"/>
          </a:xfrm>
          <a:prstGeom prst="rect">
            <a:avLst/>
          </a:prstGeom>
          <a:solidFill>
            <a:srgbClr val="3669BE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92" name="TextBox 91"/>
          <p:cNvSpPr txBox="1"/>
          <p:nvPr/>
        </p:nvSpPr>
        <p:spPr>
          <a:xfrm>
            <a:off x="8663940" y="2029968"/>
            <a:ext cx="57607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800" b="1" i="0" noProof="0" dirty="0">
                <a:solidFill>
                  <a:srgbClr val="FFFFFF"/>
                </a:solidFill>
                <a:latin typeface="Aptos"/>
              </a:rPr>
              <a:t>P×I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262872" y="1938528"/>
            <a:ext cx="2304288" cy="393192"/>
          </a:xfrm>
          <a:prstGeom prst="rect">
            <a:avLst/>
          </a:prstGeom>
          <a:solidFill>
            <a:srgbClr val="3669BE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94" name="TextBox 93"/>
          <p:cNvSpPr txBox="1"/>
          <p:nvPr/>
        </p:nvSpPr>
        <p:spPr>
          <a:xfrm>
            <a:off x="9285732" y="2029968"/>
            <a:ext cx="225856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800" b="1" i="0" noProof="0" dirty="0">
                <a:solidFill>
                  <a:srgbClr val="FFFFFF"/>
                </a:solidFill>
                <a:latin typeface="Aptos"/>
              </a:rPr>
              <a:t>MITIGATION / RESPONSE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160520" y="2331720"/>
            <a:ext cx="402336" cy="658368"/>
          </a:xfrm>
          <a:prstGeom prst="rect">
            <a:avLst/>
          </a:prstGeom>
          <a:solidFill>
            <a:srgbClr val="F6F8FB"/>
          </a:solidFill>
          <a:ln w="6985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96" name="TextBox 95"/>
          <p:cNvSpPr txBox="1"/>
          <p:nvPr/>
        </p:nvSpPr>
        <p:spPr>
          <a:xfrm>
            <a:off x="4197096" y="2386584"/>
            <a:ext cx="32918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869" b="1" i="0" noProof="0" dirty="0">
                <a:solidFill>
                  <a:srgbClr val="132A43"/>
                </a:solidFill>
                <a:latin typeface="Aptos"/>
              </a:rPr>
              <a:t>A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562856" y="2331720"/>
            <a:ext cx="1307592" cy="658368"/>
          </a:xfrm>
          <a:prstGeom prst="rect">
            <a:avLst/>
          </a:prstGeom>
          <a:solidFill>
            <a:srgbClr val="F6F8FB"/>
          </a:solidFill>
          <a:ln w="6985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98" name="TextBox 97"/>
          <p:cNvSpPr txBox="1"/>
          <p:nvPr/>
        </p:nvSpPr>
        <p:spPr>
          <a:xfrm>
            <a:off x="4599432" y="2386584"/>
            <a:ext cx="1234439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869" b="1" i="0" noProof="0" dirty="0">
                <a:solidFill>
                  <a:srgbClr val="132A43"/>
                </a:solidFill>
                <a:latin typeface="Aptos"/>
              </a:rPr>
              <a:t>AI Study </a:t>
            </a:r>
            <a:r>
              <a:rPr lang="cs-CZ" sz="869" b="1" i="0" noProof="0" dirty="0" err="1">
                <a:solidFill>
                  <a:srgbClr val="132A43"/>
                </a:solidFill>
                <a:latin typeface="Aptos"/>
              </a:rPr>
              <a:t>Guide</a:t>
            </a:r>
            <a:endParaRPr lang="cs-CZ" sz="869" b="1" i="0" noProof="0" dirty="0">
              <a:solidFill>
                <a:srgbClr val="132A43"/>
              </a:solidFill>
              <a:latin typeface="Aptos"/>
            </a:endParaRPr>
          </a:p>
        </p:txBody>
      </p:sp>
      <p:sp>
        <p:nvSpPr>
          <p:cNvPr id="99" name="Rectangle 98"/>
          <p:cNvSpPr/>
          <p:nvPr/>
        </p:nvSpPr>
        <p:spPr>
          <a:xfrm>
            <a:off x="5870448" y="2331720"/>
            <a:ext cx="2057400" cy="658368"/>
          </a:xfrm>
          <a:prstGeom prst="rect">
            <a:avLst/>
          </a:prstGeom>
          <a:solidFill>
            <a:srgbClr val="F6F8FB"/>
          </a:solidFill>
          <a:ln w="6985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00" name="TextBox 99"/>
          <p:cNvSpPr txBox="1"/>
          <p:nvPr/>
        </p:nvSpPr>
        <p:spPr>
          <a:xfrm>
            <a:off x="5907024" y="2386584"/>
            <a:ext cx="198424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810" b="0" i="0" noProof="0" dirty="0">
                <a:solidFill>
                  <a:srgbClr val="283442"/>
                </a:solidFill>
                <a:latin typeface="Aptos"/>
              </a:rPr>
              <a:t>Students may not use the guide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927848" y="2331720"/>
            <a:ext cx="356616" cy="658368"/>
          </a:xfrm>
          <a:prstGeom prst="rect">
            <a:avLst/>
          </a:prstGeom>
          <a:solidFill>
            <a:srgbClr val="F6F8FB"/>
          </a:solidFill>
          <a:ln w="6985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02" name="TextBox 101"/>
          <p:cNvSpPr txBox="1"/>
          <p:nvPr/>
        </p:nvSpPr>
        <p:spPr>
          <a:xfrm>
            <a:off x="7964423" y="2386584"/>
            <a:ext cx="28346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869" b="0" i="0" noProof="0" dirty="0">
                <a:solidFill>
                  <a:srgbClr val="283442"/>
                </a:solidFill>
                <a:latin typeface="Aptos"/>
              </a:rPr>
              <a:t>4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284464" y="2331720"/>
            <a:ext cx="356616" cy="658368"/>
          </a:xfrm>
          <a:prstGeom prst="rect">
            <a:avLst/>
          </a:prstGeom>
          <a:solidFill>
            <a:srgbClr val="F6F8FB"/>
          </a:solidFill>
          <a:ln w="6985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04" name="TextBox 103"/>
          <p:cNvSpPr txBox="1"/>
          <p:nvPr/>
        </p:nvSpPr>
        <p:spPr>
          <a:xfrm>
            <a:off x="8321040" y="2386584"/>
            <a:ext cx="28346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869" b="0" i="0" noProof="0" dirty="0">
                <a:solidFill>
                  <a:srgbClr val="283442"/>
                </a:solidFill>
                <a:latin typeface="Aptos"/>
              </a:rPr>
              <a:t>3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641080" y="2331720"/>
            <a:ext cx="621792" cy="658368"/>
          </a:xfrm>
          <a:prstGeom prst="rect">
            <a:avLst/>
          </a:prstGeom>
          <a:solidFill>
            <a:srgbClr val="F6F8FB"/>
          </a:solidFill>
          <a:ln w="6985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06" name="TextBox 105"/>
          <p:cNvSpPr txBox="1"/>
          <p:nvPr/>
        </p:nvSpPr>
        <p:spPr>
          <a:xfrm>
            <a:off x="8677656" y="2386584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869" b="1" i="0" noProof="0" dirty="0">
                <a:solidFill>
                  <a:srgbClr val="D08D32"/>
                </a:solidFill>
                <a:latin typeface="Aptos"/>
              </a:rPr>
              <a:t>12 · H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262872" y="2331720"/>
            <a:ext cx="2304288" cy="658368"/>
          </a:xfrm>
          <a:prstGeom prst="rect">
            <a:avLst/>
          </a:prstGeom>
          <a:solidFill>
            <a:srgbClr val="F6F8FB"/>
          </a:solidFill>
          <a:ln w="6985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08" name="TextBox 107"/>
          <p:cNvSpPr txBox="1"/>
          <p:nvPr/>
        </p:nvSpPr>
        <p:spPr>
          <a:xfrm>
            <a:off x="9299448" y="2386584"/>
            <a:ext cx="2231136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810" b="0" i="0" noProof="0" dirty="0">
                <a:solidFill>
                  <a:srgbClr val="283442"/>
                </a:solidFill>
                <a:latin typeface="Aptos"/>
              </a:rPr>
              <a:t>Introduce it in class; share it through InSIS.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160520" y="2990088"/>
            <a:ext cx="402336" cy="658368"/>
          </a:xfrm>
          <a:prstGeom prst="rect">
            <a:avLst/>
          </a:prstGeom>
          <a:solidFill>
            <a:srgbClr val="FFFFFF"/>
          </a:solidFill>
          <a:ln w="6985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10" name="TextBox 109"/>
          <p:cNvSpPr txBox="1"/>
          <p:nvPr/>
        </p:nvSpPr>
        <p:spPr>
          <a:xfrm>
            <a:off x="4197096" y="3044952"/>
            <a:ext cx="32918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869" b="1" i="0" noProof="0" dirty="0">
                <a:solidFill>
                  <a:srgbClr val="132A43"/>
                </a:solidFill>
                <a:latin typeface="Aptos"/>
              </a:rPr>
              <a:t>B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562856" y="2990088"/>
            <a:ext cx="1307592" cy="658368"/>
          </a:xfrm>
          <a:prstGeom prst="rect">
            <a:avLst/>
          </a:prstGeom>
          <a:solidFill>
            <a:srgbClr val="FFFFFF"/>
          </a:solidFill>
          <a:ln w="6985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12" name="TextBox 111"/>
          <p:cNvSpPr txBox="1"/>
          <p:nvPr/>
        </p:nvSpPr>
        <p:spPr>
          <a:xfrm>
            <a:off x="4599432" y="3044952"/>
            <a:ext cx="1234439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869" b="1" i="0" noProof="0" dirty="0" err="1">
                <a:solidFill>
                  <a:srgbClr val="132A43"/>
                </a:solidFill>
                <a:latin typeface="Aptos"/>
              </a:rPr>
              <a:t>Practical</a:t>
            </a:r>
            <a:r>
              <a:rPr lang="cs-CZ" sz="869" b="1" i="0" noProof="0" dirty="0">
                <a:solidFill>
                  <a:srgbClr val="132A43"/>
                </a:solidFill>
                <a:latin typeface="Aptos"/>
              </a:rPr>
              <a:t> Workshop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870448" y="2990088"/>
            <a:ext cx="2057400" cy="658368"/>
          </a:xfrm>
          <a:prstGeom prst="rect">
            <a:avLst/>
          </a:prstGeom>
          <a:solidFill>
            <a:srgbClr val="FFFFFF"/>
          </a:solidFill>
          <a:ln w="6985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14" name="TextBox 113"/>
          <p:cNvSpPr txBox="1"/>
          <p:nvPr/>
        </p:nvSpPr>
        <p:spPr>
          <a:xfrm>
            <a:off x="5907024" y="3044952"/>
            <a:ext cx="198424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810" b="0" i="0" noProof="0" dirty="0">
                <a:solidFill>
                  <a:srgbClr val="283442"/>
                </a:solidFill>
                <a:latin typeface="Aptos"/>
              </a:rPr>
              <a:t>Low attendance / short-lived effect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927848" y="2990088"/>
            <a:ext cx="356616" cy="658368"/>
          </a:xfrm>
          <a:prstGeom prst="rect">
            <a:avLst/>
          </a:prstGeom>
          <a:solidFill>
            <a:srgbClr val="FFFFFF"/>
          </a:solidFill>
          <a:ln w="6985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16" name="TextBox 115"/>
          <p:cNvSpPr txBox="1"/>
          <p:nvPr/>
        </p:nvSpPr>
        <p:spPr>
          <a:xfrm>
            <a:off x="7964423" y="3044952"/>
            <a:ext cx="28346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869" b="0" i="0" noProof="0" dirty="0">
                <a:solidFill>
                  <a:srgbClr val="283442"/>
                </a:solidFill>
                <a:latin typeface="Aptos"/>
              </a:rPr>
              <a:t>3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284464" y="2990088"/>
            <a:ext cx="356616" cy="658368"/>
          </a:xfrm>
          <a:prstGeom prst="rect">
            <a:avLst/>
          </a:prstGeom>
          <a:solidFill>
            <a:srgbClr val="FFFFFF"/>
          </a:solidFill>
          <a:ln w="6985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18" name="TextBox 117"/>
          <p:cNvSpPr txBox="1"/>
          <p:nvPr/>
        </p:nvSpPr>
        <p:spPr>
          <a:xfrm>
            <a:off x="8321040" y="3044952"/>
            <a:ext cx="28346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869" b="0" i="0" noProof="0" dirty="0">
                <a:solidFill>
                  <a:srgbClr val="283442"/>
                </a:solidFill>
                <a:latin typeface="Aptos"/>
              </a:rPr>
              <a:t>3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8641080" y="2990088"/>
            <a:ext cx="621792" cy="658368"/>
          </a:xfrm>
          <a:prstGeom prst="rect">
            <a:avLst/>
          </a:prstGeom>
          <a:solidFill>
            <a:srgbClr val="FFFFFF"/>
          </a:solidFill>
          <a:ln w="6985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20" name="TextBox 119"/>
          <p:cNvSpPr txBox="1"/>
          <p:nvPr/>
        </p:nvSpPr>
        <p:spPr>
          <a:xfrm>
            <a:off x="8677656" y="304495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869" b="1" i="0" noProof="0" dirty="0">
                <a:solidFill>
                  <a:srgbClr val="1F8E89"/>
                </a:solidFill>
                <a:latin typeface="Aptos"/>
              </a:rPr>
              <a:t>9 · M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9262872" y="2990088"/>
            <a:ext cx="2304288" cy="658368"/>
          </a:xfrm>
          <a:prstGeom prst="rect">
            <a:avLst/>
          </a:prstGeom>
          <a:solidFill>
            <a:srgbClr val="FFFFFF"/>
          </a:solidFill>
          <a:ln w="6985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22" name="TextBox 121"/>
          <p:cNvSpPr txBox="1"/>
          <p:nvPr/>
        </p:nvSpPr>
        <p:spPr>
          <a:xfrm>
            <a:off x="9299448" y="3044952"/>
            <a:ext cx="2231136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810" b="0" i="0" noProof="0" dirty="0">
                <a:solidFill>
                  <a:srgbClr val="283442"/>
                </a:solidFill>
                <a:latin typeface="Aptos"/>
              </a:rPr>
              <a:t>Include it in a regular class; follow up afterwards.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160520" y="3648456"/>
            <a:ext cx="402336" cy="658368"/>
          </a:xfrm>
          <a:prstGeom prst="rect">
            <a:avLst/>
          </a:prstGeom>
          <a:solidFill>
            <a:srgbClr val="F6F8FB"/>
          </a:solidFill>
          <a:ln w="6985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24" name="TextBox 123"/>
          <p:cNvSpPr txBox="1"/>
          <p:nvPr/>
        </p:nvSpPr>
        <p:spPr>
          <a:xfrm>
            <a:off x="4197096" y="3703320"/>
            <a:ext cx="32918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869" b="1" i="0" noProof="0" dirty="0">
                <a:solidFill>
                  <a:srgbClr val="132A43"/>
                </a:solidFill>
                <a:latin typeface="Aptos"/>
              </a:rPr>
              <a:t>C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562856" y="3648456"/>
            <a:ext cx="1307592" cy="658368"/>
          </a:xfrm>
          <a:prstGeom prst="rect">
            <a:avLst/>
          </a:prstGeom>
          <a:solidFill>
            <a:srgbClr val="F6F8FB"/>
          </a:solidFill>
          <a:ln w="6985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26" name="TextBox 125"/>
          <p:cNvSpPr txBox="1"/>
          <p:nvPr/>
        </p:nvSpPr>
        <p:spPr>
          <a:xfrm>
            <a:off x="4599432" y="3703320"/>
            <a:ext cx="1234439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869" b="1" i="0" noProof="0" dirty="0" err="1">
                <a:solidFill>
                  <a:srgbClr val="132A43"/>
                </a:solidFill>
                <a:latin typeface="Aptos"/>
              </a:rPr>
              <a:t>Assessment</a:t>
            </a:r>
            <a:r>
              <a:rPr lang="cs-CZ" sz="869" b="1" i="0" noProof="0" dirty="0">
                <a:solidFill>
                  <a:srgbClr val="132A43"/>
                </a:solidFill>
                <a:latin typeface="Aptos"/>
              </a:rPr>
              <a:t> Design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5870448" y="3648456"/>
            <a:ext cx="2057400" cy="658368"/>
          </a:xfrm>
          <a:prstGeom prst="rect">
            <a:avLst/>
          </a:prstGeom>
          <a:solidFill>
            <a:srgbClr val="F6F8FB"/>
          </a:solidFill>
          <a:ln w="6985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28" name="TextBox 127"/>
          <p:cNvSpPr txBox="1"/>
          <p:nvPr/>
        </p:nvSpPr>
        <p:spPr>
          <a:xfrm>
            <a:off x="5907024" y="3703320"/>
            <a:ext cx="198424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810" b="0" i="0" noProof="0" dirty="0">
                <a:solidFill>
                  <a:srgbClr val="283442"/>
                </a:solidFill>
                <a:latin typeface="Aptos"/>
              </a:rPr>
              <a:t>Limited instructor support; difficult to implement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927848" y="3648456"/>
            <a:ext cx="356616" cy="658368"/>
          </a:xfrm>
          <a:prstGeom prst="rect">
            <a:avLst/>
          </a:prstGeom>
          <a:solidFill>
            <a:srgbClr val="F6F8FB"/>
          </a:solidFill>
          <a:ln w="6985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30" name="TextBox 129"/>
          <p:cNvSpPr txBox="1"/>
          <p:nvPr/>
        </p:nvSpPr>
        <p:spPr>
          <a:xfrm>
            <a:off x="7964423" y="3703320"/>
            <a:ext cx="28346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869" b="0" i="0" noProof="0" dirty="0">
                <a:solidFill>
                  <a:srgbClr val="283442"/>
                </a:solidFill>
                <a:latin typeface="Aptos"/>
              </a:rPr>
              <a:t>4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8284464" y="3648456"/>
            <a:ext cx="356616" cy="658368"/>
          </a:xfrm>
          <a:prstGeom prst="rect">
            <a:avLst/>
          </a:prstGeom>
          <a:solidFill>
            <a:srgbClr val="F6F8FB"/>
          </a:solidFill>
          <a:ln w="6985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32" name="TextBox 131"/>
          <p:cNvSpPr txBox="1"/>
          <p:nvPr/>
        </p:nvSpPr>
        <p:spPr>
          <a:xfrm>
            <a:off x="8321040" y="3703320"/>
            <a:ext cx="28346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869" b="0" i="0" noProof="0" dirty="0">
                <a:solidFill>
                  <a:srgbClr val="283442"/>
                </a:solidFill>
                <a:latin typeface="Aptos"/>
              </a:rPr>
              <a:t>4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641080" y="3648456"/>
            <a:ext cx="621792" cy="658368"/>
          </a:xfrm>
          <a:prstGeom prst="rect">
            <a:avLst/>
          </a:prstGeom>
          <a:solidFill>
            <a:srgbClr val="F6F8FB"/>
          </a:solidFill>
          <a:ln w="6985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34" name="TextBox 133"/>
          <p:cNvSpPr txBox="1"/>
          <p:nvPr/>
        </p:nvSpPr>
        <p:spPr>
          <a:xfrm>
            <a:off x="8677656" y="37033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869" b="1" i="0" noProof="0" dirty="0">
                <a:solidFill>
                  <a:srgbClr val="B84F4F"/>
                </a:solidFill>
                <a:latin typeface="Aptos"/>
              </a:rPr>
              <a:t>16 · C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262872" y="3648456"/>
            <a:ext cx="2304288" cy="658368"/>
          </a:xfrm>
          <a:prstGeom prst="rect">
            <a:avLst/>
          </a:prstGeom>
          <a:solidFill>
            <a:srgbClr val="F6F8FB"/>
          </a:solidFill>
          <a:ln w="6985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36" name="TextBox 135"/>
          <p:cNvSpPr txBox="1"/>
          <p:nvPr/>
        </p:nvSpPr>
        <p:spPr>
          <a:xfrm>
            <a:off x="9299448" y="3703320"/>
            <a:ext cx="2231136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810" b="0" i="0" noProof="0" dirty="0">
                <a:solidFill>
                  <a:srgbClr val="283442"/>
                </a:solidFill>
                <a:latin typeface="Aptos"/>
              </a:rPr>
              <a:t>Start with a voluntary pilot in one course.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160520" y="4306824"/>
            <a:ext cx="402336" cy="658368"/>
          </a:xfrm>
          <a:prstGeom prst="rect">
            <a:avLst/>
          </a:prstGeom>
          <a:solidFill>
            <a:srgbClr val="FFFFFF"/>
          </a:solidFill>
          <a:ln w="6985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38" name="TextBox 137"/>
          <p:cNvSpPr txBox="1"/>
          <p:nvPr/>
        </p:nvSpPr>
        <p:spPr>
          <a:xfrm>
            <a:off x="4197096" y="4361688"/>
            <a:ext cx="32918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869" b="1" i="0" noProof="0" dirty="0">
                <a:solidFill>
                  <a:srgbClr val="132A43"/>
                </a:solidFill>
                <a:latin typeface="Aptos"/>
              </a:rPr>
              <a:t>D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4562856" y="4306824"/>
            <a:ext cx="1307592" cy="658368"/>
          </a:xfrm>
          <a:prstGeom prst="rect">
            <a:avLst/>
          </a:prstGeom>
          <a:solidFill>
            <a:srgbClr val="FFFFFF"/>
          </a:solidFill>
          <a:ln w="6985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40" name="TextBox 139"/>
          <p:cNvSpPr txBox="1"/>
          <p:nvPr/>
        </p:nvSpPr>
        <p:spPr>
          <a:xfrm>
            <a:off x="4599432" y="4361688"/>
            <a:ext cx="1234439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869" b="1" i="0" noProof="0" dirty="0" err="1">
                <a:solidFill>
                  <a:srgbClr val="132A43"/>
                </a:solidFill>
                <a:latin typeface="Aptos"/>
              </a:rPr>
              <a:t>Maintain Current Approach</a:t>
            </a:r>
            <a:endParaRPr lang="cs-CZ" sz="869" b="1" i="0" noProof="0" dirty="0">
              <a:solidFill>
                <a:srgbClr val="132A43"/>
              </a:solidFill>
              <a:latin typeface="Apto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5870448" y="4306824"/>
            <a:ext cx="2057400" cy="658368"/>
          </a:xfrm>
          <a:prstGeom prst="rect">
            <a:avLst/>
          </a:prstGeom>
          <a:solidFill>
            <a:srgbClr val="FFFFFF"/>
          </a:solidFill>
          <a:ln w="6985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42" name="TextBox 141"/>
          <p:cNvSpPr txBox="1"/>
          <p:nvPr/>
        </p:nvSpPr>
        <p:spPr>
          <a:xfrm>
            <a:off x="5907024" y="4361688"/>
            <a:ext cx="198424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810" b="0" i="0" noProof="0" dirty="0">
                <a:solidFill>
                  <a:srgbClr val="283442"/>
                </a:solidFill>
                <a:latin typeface="Aptos"/>
              </a:rPr>
              <a:t>Risky habits will remain without targeted intervention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927848" y="4306824"/>
            <a:ext cx="356616" cy="658368"/>
          </a:xfrm>
          <a:prstGeom prst="rect">
            <a:avLst/>
          </a:prstGeom>
          <a:solidFill>
            <a:srgbClr val="FFFFFF"/>
          </a:solidFill>
          <a:ln w="6985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44" name="TextBox 143"/>
          <p:cNvSpPr txBox="1"/>
          <p:nvPr/>
        </p:nvSpPr>
        <p:spPr>
          <a:xfrm>
            <a:off x="7964423" y="4569130"/>
            <a:ext cx="283464" cy="1337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869" b="0" i="0" noProof="0" dirty="0">
                <a:solidFill>
                  <a:srgbClr val="283442"/>
                </a:solidFill>
                <a:latin typeface="Aptos"/>
              </a:rPr>
              <a:t>5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8284464" y="4306824"/>
            <a:ext cx="356616" cy="658368"/>
          </a:xfrm>
          <a:prstGeom prst="rect">
            <a:avLst/>
          </a:prstGeom>
          <a:solidFill>
            <a:srgbClr val="FFFFFF"/>
          </a:solidFill>
          <a:ln w="6985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46" name="TextBox 145"/>
          <p:cNvSpPr txBox="1"/>
          <p:nvPr/>
        </p:nvSpPr>
        <p:spPr>
          <a:xfrm>
            <a:off x="8321040" y="4569130"/>
            <a:ext cx="283464" cy="1337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869" b="0" i="0" noProof="0" dirty="0">
                <a:solidFill>
                  <a:srgbClr val="283442"/>
                </a:solidFill>
                <a:latin typeface="Aptos"/>
              </a:rPr>
              <a:t>5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641080" y="4306824"/>
            <a:ext cx="621792" cy="658368"/>
          </a:xfrm>
          <a:prstGeom prst="rect">
            <a:avLst/>
          </a:prstGeom>
          <a:solidFill>
            <a:srgbClr val="FFFFFF"/>
          </a:solidFill>
          <a:ln w="6985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48" name="TextBox 147"/>
          <p:cNvSpPr txBox="1"/>
          <p:nvPr/>
        </p:nvSpPr>
        <p:spPr>
          <a:xfrm>
            <a:off x="8677656" y="4569130"/>
            <a:ext cx="548640" cy="1337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869" b="1" dirty="0">
                <a:solidFill>
                  <a:srgbClr val="B84F4F"/>
                </a:solidFill>
                <a:latin typeface="Aptos"/>
              </a:rPr>
              <a:t>25</a:t>
            </a:r>
            <a:r>
              <a:rPr lang="cs-CZ" sz="869" b="1" i="0" noProof="0" dirty="0">
                <a:solidFill>
                  <a:srgbClr val="B84F4F"/>
                </a:solidFill>
                <a:latin typeface="Aptos"/>
              </a:rPr>
              <a:t> · C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9262872" y="4306824"/>
            <a:ext cx="2304288" cy="658368"/>
          </a:xfrm>
          <a:prstGeom prst="rect">
            <a:avLst/>
          </a:prstGeom>
          <a:solidFill>
            <a:srgbClr val="FFFFFF"/>
          </a:solidFill>
          <a:ln w="6985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50" name="TextBox 149"/>
          <p:cNvSpPr txBox="1"/>
          <p:nvPr/>
        </p:nvSpPr>
        <p:spPr>
          <a:xfrm>
            <a:off x="9299448" y="4361688"/>
            <a:ext cx="2231136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810" b="0" i="0" noProof="0" dirty="0">
                <a:solidFill>
                  <a:srgbClr val="283442"/>
                </a:solidFill>
                <a:latin typeface="Aptos"/>
              </a:rPr>
              <a:t>Without an intervention, there is no targeted mitigation; reassess later.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187952" y="5212080"/>
            <a:ext cx="7388352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860" b="0" i="0" noProof="0" dirty="0">
                <a:solidFill>
                  <a:srgbClr val="667585"/>
                </a:solidFill>
                <a:latin typeface="Aptos"/>
              </a:rPr>
              <a:t>Scale: 1 = low, 5 = high. Categories: 1–4 low, 5–9 medium (M), 10–15 high (H), 16–25 critical (C).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187952" y="5705856"/>
            <a:ext cx="73883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840" b="0" i="0" noProof="0" dirty="0">
                <a:solidFill>
                  <a:srgbClr val="667585"/>
                </a:solidFill>
                <a:latin typeface="Aptos"/>
              </a:rPr>
              <a:t>P and I are informed team estimates, not measured probabilities. Residual risks have not yet been recalculated.</a:t>
            </a:r>
          </a:p>
        </p:txBody>
      </p:sp>
      <p:cxnSp>
        <p:nvCxnSpPr>
          <p:cNvPr id="153" name="Connector 152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A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TextBox 153"/>
          <p:cNvSpPr txBox="1"/>
          <p:nvPr/>
        </p:nvSpPr>
        <p:spPr>
          <a:xfrm>
            <a:off x="521207" y="6519672"/>
            <a:ext cx="72237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750" b="0" i="0" noProof="0" dirty="0">
                <a:solidFill>
                  <a:srgbClr val="667585"/>
                </a:solidFill>
                <a:latin typeface="Aptos"/>
              </a:rPr>
              <a:t>TEAM 10  ·  PROBLEM SOLVING  ·  FIS, VŠE  ·  CONTENT 8/10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7406640" y="6510528"/>
            <a:ext cx="425196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720" b="0" i="0" noProof="0" dirty="0">
                <a:solidFill>
                  <a:srgbClr val="667585"/>
                </a:solidFill>
                <a:latin typeface="Aptos"/>
              </a:rPr>
              <a:t>Score = P × I; team assessment.</a:t>
            </a:r>
          </a:p>
        </p:txBody>
      </p:sp>
      <p:sp>
        <p:nvSpPr>
          <p:cNvPr id="157" name="TextovéPole 156">
            <a:extLst>
              <a:ext uri="{FF2B5EF4-FFF2-40B4-BE49-F238E27FC236}">
                <a16:creationId xmlns:a16="http://schemas.microsoft.com/office/drawing/2014/main" id="{9ABCA346-E80A-B7CB-D5BC-C9CAD082B35B}"/>
              </a:ext>
            </a:extLst>
          </p:cNvPr>
          <p:cNvSpPr txBox="1"/>
          <p:nvPr/>
        </p:nvSpPr>
        <p:spPr>
          <a:xfrm>
            <a:off x="3364992" y="2814870"/>
            <a:ext cx="676656" cy="1124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10" b="1" i="0" noProof="0" dirty="0">
                <a:solidFill>
                  <a:srgbClr val="667585"/>
                </a:solidFill>
                <a:latin typeface="Aptos"/>
              </a:rPr>
              <a:t>I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10" i="0" noProof="0" dirty="0">
                <a:solidFill>
                  <a:srgbClr val="667585"/>
                </a:solidFill>
                <a:latin typeface="Aptos"/>
              </a:rPr>
              <a:t>(impact) 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46888"/>
            <a:ext cx="1024128" cy="256032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278892"/>
            <a:ext cx="932688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00" b="1" i="0" noProof="0" dirty="0">
                <a:solidFill>
                  <a:srgbClr val="3669BE"/>
                </a:solidFill>
                <a:latin typeface="Aptos"/>
              </a:rPr>
              <a:t>DECIDE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0642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2600" b="1" i="0" noProof="0" dirty="0">
                <a:solidFill>
                  <a:srgbClr val="132A43"/>
                </a:solidFill>
                <a:latin typeface="Aptos Display"/>
              </a:rPr>
              <a:t>Recommended solution: AI Study Smart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88136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150" b="0" i="0" noProof="0" dirty="0">
                <a:solidFill>
                  <a:srgbClr val="667585"/>
                </a:solidFill>
                <a:latin typeface="Aptos"/>
              </a:rPr>
              <a:t>We combine three options in stages because no single option can address the problem on its own.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426464"/>
            <a:ext cx="11183112" cy="0"/>
          </a:xfrm>
          <a:prstGeom prst="line">
            <a:avLst/>
          </a:prstGeom>
          <a:ln w="11430">
            <a:solidFill>
              <a:srgbClr val="DA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1402568" y="265176"/>
            <a:ext cx="118872" cy="118872"/>
          </a:xfrm>
          <a:prstGeom prst="ellipse">
            <a:avLst/>
          </a:prstGeom>
          <a:solidFill>
            <a:srgbClr val="1F8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8" name="Oval 7"/>
          <p:cNvSpPr/>
          <p:nvPr/>
        </p:nvSpPr>
        <p:spPr>
          <a:xfrm>
            <a:off x="11548872" y="265176"/>
            <a:ext cx="118872" cy="118872"/>
          </a:xfrm>
          <a:prstGeom prst="ellipse">
            <a:avLst/>
          </a:prstGeom>
          <a:solidFill>
            <a:srgbClr val="3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9" name="Rounded Rectangle 8"/>
          <p:cNvSpPr/>
          <p:nvPr/>
        </p:nvSpPr>
        <p:spPr>
          <a:xfrm>
            <a:off x="603504" y="1645920"/>
            <a:ext cx="10972800" cy="576072"/>
          </a:xfrm>
          <a:prstGeom prst="roundRect">
            <a:avLst/>
          </a:prstGeom>
          <a:solidFill>
            <a:srgbClr val="13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804672" y="1810512"/>
            <a:ext cx="10561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500" b="1" i="0" noProof="0" dirty="0">
                <a:solidFill>
                  <a:srgbClr val="FFFFFF"/>
                </a:solidFill>
                <a:latin typeface="Aptos"/>
              </a:rPr>
              <a:t>TRY  →  ASK FOR A HINT  →  SOLVE  →  VERIFY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2487168"/>
            <a:ext cx="3502152" cy="2121408"/>
          </a:xfrm>
          <a:prstGeom prst="roundRect">
            <a:avLst/>
          </a:prstGeom>
          <a:solidFill>
            <a:srgbClr val="EFF5FC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2" name="Rounded Rectangle 11"/>
          <p:cNvSpPr/>
          <p:nvPr/>
        </p:nvSpPr>
        <p:spPr>
          <a:xfrm>
            <a:off x="603504" y="2487168"/>
            <a:ext cx="68580" cy="2121408"/>
          </a:xfrm>
          <a:prstGeom prst="roundRect">
            <a:avLst/>
          </a:prstGeom>
          <a:solidFill>
            <a:srgbClr val="3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768096" y="2596896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300" b="1" i="0" noProof="0" dirty="0">
                <a:solidFill>
                  <a:srgbClr val="3669BE"/>
                </a:solidFill>
                <a:latin typeface="Aptos"/>
              </a:rPr>
              <a:t>SHORT TERM  ·  STUDY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916936"/>
            <a:ext cx="3209544" cy="1609343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80" b="0" i="0" noProof="0" dirty="0">
                <a:solidFill>
                  <a:srgbClr val="283442"/>
                </a:solidFill>
                <a:latin typeface="Aptos"/>
              </a:rPr>
              <a:t>A one-page guide to the four-step rule, with example prompts.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endParaRPr lang="cs-CZ" sz="1080" b="0" i="0" noProof="0" dirty="0">
              <a:solidFill>
                <a:srgbClr val="283442"/>
              </a:solidFill>
              <a:latin typeface="Aptos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80" b="0" i="0" noProof="0" dirty="0">
                <a:solidFill>
                  <a:srgbClr val="283442"/>
                </a:solidFill>
                <a:latin typeface="Aptos"/>
              </a:rPr>
              <a:t>Distributed through InSIS and in classes.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endParaRPr lang="cs-CZ" sz="1080" b="0" i="0" noProof="0" dirty="0">
              <a:solidFill>
                <a:srgbClr val="283442"/>
              </a:solidFill>
              <a:latin typeface="Aptos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80" b="0" i="0" noProof="0" dirty="0">
                <a:solidFill>
                  <a:srgbClr val="283442"/>
                </a:solidFill>
                <a:latin typeface="Aptos"/>
              </a:rPr>
              <a:t>Goal: make the guide available to first-year students within two weeks.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2487168"/>
            <a:ext cx="3502152" cy="2121408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6" name="Rounded Rectangle 15"/>
          <p:cNvSpPr/>
          <p:nvPr/>
        </p:nvSpPr>
        <p:spPr>
          <a:xfrm>
            <a:off x="4343400" y="2487168"/>
            <a:ext cx="68580" cy="2121408"/>
          </a:xfrm>
          <a:prstGeom prst="roundRect">
            <a:avLst/>
          </a:prstGeom>
          <a:solidFill>
            <a:srgbClr val="1F8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4507992" y="2596896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250" b="1" i="0" noProof="0" dirty="0">
                <a:solidFill>
                  <a:srgbClr val="1F8E89"/>
                </a:solidFill>
                <a:latin typeface="Aptos"/>
              </a:rPr>
              <a:t>MEDIUM TERM  ·  WORKSHOP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2916936"/>
            <a:ext cx="3209544" cy="1609343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50" b="0" i="0" noProof="0" dirty="0">
                <a:solidFill>
                  <a:srgbClr val="283442"/>
                </a:solidFill>
                <a:latin typeface="Aptos"/>
              </a:rPr>
              <a:t>A practical exercise using a real task: a finished answer versus a hint.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endParaRPr lang="cs-CZ" sz="1050" b="0" i="0" noProof="0" dirty="0">
              <a:solidFill>
                <a:srgbClr val="283442"/>
              </a:solidFill>
              <a:latin typeface="Aptos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50" b="0" i="0" noProof="0" dirty="0">
                <a:solidFill>
                  <a:srgbClr val="283442"/>
                </a:solidFill>
                <a:latin typeface="Aptos"/>
              </a:rPr>
              <a:t>A short workshop followed by feedback.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endParaRPr lang="cs-CZ" sz="1050" b="0" i="0" noProof="0" dirty="0">
              <a:solidFill>
                <a:srgbClr val="283442"/>
              </a:solidFill>
              <a:latin typeface="Aptos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50" b="0" i="0" noProof="0" dirty="0">
                <a:solidFill>
                  <a:srgbClr val="283442"/>
                </a:solidFill>
                <a:latin typeface="Aptos"/>
              </a:rPr>
              <a:t>Goal: ≥ 70% of participants rate the workshop as useful.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3296" y="2487168"/>
            <a:ext cx="3502152" cy="2121408"/>
          </a:xfrm>
          <a:prstGeom prst="roundRect">
            <a:avLst/>
          </a:prstGeom>
          <a:solidFill>
            <a:srgbClr val="FCF6EB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0" name="Rounded Rectangle 19"/>
          <p:cNvSpPr/>
          <p:nvPr/>
        </p:nvSpPr>
        <p:spPr>
          <a:xfrm>
            <a:off x="8083296" y="2487168"/>
            <a:ext cx="68580" cy="2121408"/>
          </a:xfrm>
          <a:prstGeom prst="roundRect">
            <a:avLst/>
          </a:prstGeom>
          <a:solidFill>
            <a:srgbClr val="D08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8247888" y="2596896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250" b="1" i="0" noProof="0" dirty="0">
                <a:solidFill>
                  <a:srgbClr val="D08D32"/>
                </a:solidFill>
                <a:latin typeface="Aptos"/>
              </a:rPr>
              <a:t>LONG TERM  ·  ASSESSMENT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2916936"/>
            <a:ext cx="3209544" cy="1609343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40" b="0" i="0" noProof="0" dirty="0">
                <a:solidFill>
                  <a:srgbClr val="283442"/>
                </a:solidFill>
                <a:latin typeface="Aptos"/>
              </a:rPr>
              <a:t>Work with FIS to adapt selected assignments so they assess students’ own reasoning.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endParaRPr lang="cs-CZ" sz="1040" b="0" i="0" noProof="0" dirty="0">
              <a:solidFill>
                <a:srgbClr val="283442"/>
              </a:solidFill>
              <a:latin typeface="Aptos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40" b="0" i="0" noProof="0" dirty="0">
                <a:solidFill>
                  <a:srgbClr val="283442"/>
                </a:solidFill>
                <a:latin typeface="Aptos"/>
              </a:rPr>
              <a:t>For example, a short oral explanation or a similar task completed without AI.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endParaRPr lang="cs-CZ" sz="1040" b="0" i="0" noProof="0" dirty="0">
              <a:solidFill>
                <a:srgbClr val="283442"/>
              </a:solidFill>
              <a:latin typeface="Aptos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40" b="0" i="0" noProof="0" dirty="0">
                <a:solidFill>
                  <a:srgbClr val="283442"/>
                </a:solidFill>
                <a:latin typeface="Aptos"/>
              </a:rPr>
              <a:t>Goal: pilot the approach in at least one first-year course.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" y="4892040"/>
            <a:ext cx="10972800" cy="850392"/>
          </a:xfrm>
          <a:prstGeom prst="roundRect">
            <a:avLst/>
          </a:prstGeom>
          <a:solidFill>
            <a:srgbClr val="F6F8FB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4" name="TextBox 23"/>
          <p:cNvSpPr txBox="1"/>
          <p:nvPr/>
        </p:nvSpPr>
        <p:spPr>
          <a:xfrm>
            <a:off x="822960" y="5010912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00" b="1" i="0" noProof="0" dirty="0">
                <a:solidFill>
                  <a:srgbClr val="3669BE"/>
                </a:solidFill>
                <a:latin typeface="Aptos"/>
              </a:rPr>
              <a:t>WHY THIS COMBINATION?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4992624"/>
            <a:ext cx="8979408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80" b="0" i="0" noProof="0" dirty="0">
                <a:solidFill>
                  <a:srgbClr val="283442"/>
                </a:solidFill>
                <a:latin typeface="Aptos"/>
              </a:rPr>
              <a:t>The guide is quick to distribute and scalable; the workshop teaches the approach in practice; assessment changes support independent understanding over the longer term. A pilot will help evaluate acceptance and usefulness before wider implementation.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A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21207" y="6519672"/>
            <a:ext cx="72237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750" b="0" i="0" noProof="0" dirty="0">
                <a:solidFill>
                  <a:srgbClr val="667585"/>
                </a:solidFill>
                <a:latin typeface="Aptos"/>
              </a:rPr>
              <a:t>TEAM 10  ·  PROBLEM SOLVING  ·  FIS, VŠE  ·  CONTENT 9/10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6510528"/>
            <a:ext cx="425196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720" b="0" i="0" noProof="0" dirty="0">
                <a:solidFill>
                  <a:srgbClr val="667585"/>
                </a:solidFill>
                <a:latin typeface="Aptos"/>
              </a:rPr>
              <a:t>Supporting evidence: [2, 3] · goals are proposals, not achieved results.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46888"/>
            <a:ext cx="1024128" cy="256032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278892"/>
            <a:ext cx="932688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00" b="1" i="0" noProof="0" dirty="0">
                <a:solidFill>
                  <a:srgbClr val="3669BE"/>
                </a:solidFill>
                <a:latin typeface="Aptos"/>
              </a:rPr>
              <a:t>IMPLEMENTACE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0642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2600" b="1" i="0" noProof="0" dirty="0">
                <a:solidFill>
                  <a:srgbClr val="132A43"/>
                </a:solidFill>
                <a:latin typeface="Aptos Display"/>
              </a:rPr>
              <a:t>How will we test the solution and determine whether it works?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88136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150" b="0" i="0" noProof="0" dirty="0">
                <a:solidFill>
                  <a:srgbClr val="667585"/>
                </a:solidFill>
                <a:latin typeface="Aptos"/>
              </a:rPr>
              <a:t>A phased pilot limits costs and allows the proposal to be refined based on feedback.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426464"/>
            <a:ext cx="11183112" cy="0"/>
          </a:xfrm>
          <a:prstGeom prst="line">
            <a:avLst/>
          </a:prstGeom>
          <a:ln w="11430">
            <a:solidFill>
              <a:srgbClr val="DA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1402568" y="265176"/>
            <a:ext cx="118872" cy="118872"/>
          </a:xfrm>
          <a:prstGeom prst="ellipse">
            <a:avLst/>
          </a:prstGeom>
          <a:solidFill>
            <a:srgbClr val="1F8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8" name="Oval 7"/>
          <p:cNvSpPr/>
          <p:nvPr/>
        </p:nvSpPr>
        <p:spPr>
          <a:xfrm>
            <a:off x="11548872" y="265176"/>
            <a:ext cx="118872" cy="118872"/>
          </a:xfrm>
          <a:prstGeom prst="ellipse">
            <a:avLst/>
          </a:prstGeom>
          <a:solidFill>
            <a:srgbClr val="3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9" name="Rounded Rectangle 8"/>
          <p:cNvSpPr/>
          <p:nvPr/>
        </p:nvSpPr>
        <p:spPr>
          <a:xfrm>
            <a:off x="585216" y="1664208"/>
            <a:ext cx="3520440" cy="1426464"/>
          </a:xfrm>
          <a:prstGeom prst="roundRect">
            <a:avLst/>
          </a:prstGeom>
          <a:solidFill>
            <a:srgbClr val="EFF5FC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0" name="Rounded Rectangle 9"/>
          <p:cNvSpPr/>
          <p:nvPr/>
        </p:nvSpPr>
        <p:spPr>
          <a:xfrm>
            <a:off x="585216" y="1664208"/>
            <a:ext cx="68580" cy="1426464"/>
          </a:xfrm>
          <a:prstGeom prst="roundRect">
            <a:avLst/>
          </a:prstGeom>
          <a:solidFill>
            <a:srgbClr val="3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749808" y="1773936"/>
            <a:ext cx="32278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220" b="1" i="0" noProof="0" dirty="0">
                <a:solidFill>
                  <a:srgbClr val="3669BE"/>
                </a:solidFill>
                <a:latin typeface="Aptos"/>
              </a:rPr>
              <a:t>1  ·  PREPARE THE GUIDE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093976"/>
            <a:ext cx="3227832" cy="9144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00" b="0" i="0" noProof="0" dirty="0">
                <a:solidFill>
                  <a:srgbClr val="283442"/>
                </a:solidFill>
                <a:latin typeface="Aptos"/>
              </a:rPr>
              <a:t>Test the text with a small group and introduce it during a class.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00" b="0" i="0" noProof="0" dirty="0">
                <a:solidFill>
                  <a:srgbClr val="283442"/>
                </a:solidFill>
                <a:latin typeface="Aptos"/>
              </a:rPr>
              <a:t>Responsibility: team + instructor.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6" y="1664208"/>
            <a:ext cx="3520440" cy="1426464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4" name="Rounded Rectangle 13"/>
          <p:cNvSpPr/>
          <p:nvPr/>
        </p:nvSpPr>
        <p:spPr>
          <a:xfrm>
            <a:off x="4334256" y="1664208"/>
            <a:ext cx="68580" cy="1426464"/>
          </a:xfrm>
          <a:prstGeom prst="roundRect">
            <a:avLst/>
          </a:prstGeom>
          <a:solidFill>
            <a:srgbClr val="1F8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4498848" y="1773936"/>
            <a:ext cx="32278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220" b="1" i="0" noProof="0" dirty="0">
                <a:solidFill>
                  <a:srgbClr val="1F8E89"/>
                </a:solidFill>
                <a:latin typeface="Aptos"/>
              </a:rPr>
              <a:t>2  ·  TEST THE WORKSHOP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2093976"/>
            <a:ext cx="3227832" cy="9144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80" b="0" i="0" noProof="0" dirty="0">
                <a:solidFill>
                  <a:srgbClr val="283442"/>
                </a:solidFill>
                <a:latin typeface="Aptos"/>
              </a:rPr>
              <a:t>Include it in a class, use a real task, and collect feedback with a short questionnaire.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80" b="0" i="0" noProof="0" dirty="0">
                <a:solidFill>
                  <a:srgbClr val="283442"/>
                </a:solidFill>
                <a:latin typeface="Aptos"/>
              </a:rPr>
              <a:t>Responsibility: team + instructor / student association.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6" y="1664208"/>
            <a:ext cx="3520440" cy="1426464"/>
          </a:xfrm>
          <a:prstGeom prst="roundRect">
            <a:avLst/>
          </a:prstGeom>
          <a:solidFill>
            <a:srgbClr val="FCF6EB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8" name="Rounded Rectangle 17"/>
          <p:cNvSpPr/>
          <p:nvPr/>
        </p:nvSpPr>
        <p:spPr>
          <a:xfrm>
            <a:off x="8083296" y="1664208"/>
            <a:ext cx="68580" cy="1426464"/>
          </a:xfrm>
          <a:prstGeom prst="roundRect">
            <a:avLst/>
          </a:prstGeom>
          <a:solidFill>
            <a:srgbClr val="D08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8247888" y="1773936"/>
            <a:ext cx="32278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170" b="1" i="0" noProof="0" dirty="0">
                <a:solidFill>
                  <a:srgbClr val="D08D32"/>
                </a:solidFill>
                <a:latin typeface="Aptos"/>
              </a:rPr>
              <a:t>3  ·  DESIGN AN ASSESSMENT PILOT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093976"/>
            <a:ext cx="3227832" cy="9144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60" b="0" i="0" noProof="0" dirty="0">
                <a:solidFill>
                  <a:srgbClr val="283442"/>
                </a:solidFill>
                <a:latin typeface="Aptos"/>
              </a:rPr>
              <a:t>Select one course and design a task together with the instructor.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60" b="0" i="0" noProof="0" dirty="0">
                <a:solidFill>
                  <a:srgbClr val="283442"/>
                </a:solidFill>
                <a:latin typeface="Aptos"/>
              </a:rPr>
              <a:t>Responsibility: instructor + FIS.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" y="3337560"/>
            <a:ext cx="5486400" cy="2487168"/>
          </a:xfrm>
          <a:prstGeom prst="roundRect">
            <a:avLst/>
          </a:prstGeom>
          <a:solidFill>
            <a:srgbClr val="FCF1F0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2" name="Rounded Rectangle 21"/>
          <p:cNvSpPr/>
          <p:nvPr/>
        </p:nvSpPr>
        <p:spPr>
          <a:xfrm>
            <a:off x="585216" y="3337560"/>
            <a:ext cx="68580" cy="2487168"/>
          </a:xfrm>
          <a:prstGeom prst="roundRect">
            <a:avLst/>
          </a:prstGeom>
          <a:solidFill>
            <a:srgbClr val="B8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3" name="TextBox 22"/>
          <p:cNvSpPr txBox="1"/>
          <p:nvPr/>
        </p:nvSpPr>
        <p:spPr>
          <a:xfrm>
            <a:off x="749808" y="3447288"/>
            <a:ext cx="51937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300" b="1" i="0" noProof="0" dirty="0">
                <a:solidFill>
                  <a:srgbClr val="B84F4F"/>
                </a:solidFill>
                <a:latin typeface="Aptos"/>
              </a:rPr>
              <a:t>RISKS AND RESPONSES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3767328"/>
            <a:ext cx="5193792" cy="197510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50" b="0" i="0" noProof="0" dirty="0">
                <a:solidFill>
                  <a:srgbClr val="283442"/>
                </a:solidFill>
                <a:latin typeface="Aptos"/>
              </a:rPr>
              <a:t>• Low attendance → include the workshop in a regular class.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50" b="0" i="0" noProof="0" dirty="0">
                <a:solidFill>
                  <a:srgbClr val="283442"/>
                </a:solidFill>
                <a:latin typeface="Aptos"/>
              </a:rPr>
              <a:t>• Students ignore the guide → share it through InSIS and use it in class.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50" b="0" i="0" noProof="0" dirty="0">
                <a:solidFill>
                  <a:srgbClr val="283442"/>
                </a:solidFill>
                <a:latin typeface="Aptos"/>
              </a:rPr>
              <a:t>• Resistance to assessment changes → start with a small pilot in one course.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50" b="0" i="0" noProof="0" dirty="0">
                <a:solidFill>
                  <a:srgbClr val="283442"/>
                </a:solidFill>
                <a:latin typeface="Aptos"/>
              </a:rPr>
              <a:t>• Behaviour is difficult to measure → combine a questionnaire with a task completed without AI.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91072" y="3337560"/>
            <a:ext cx="5303520" cy="2487168"/>
          </a:xfrm>
          <a:prstGeom prst="roundRect">
            <a:avLst/>
          </a:prstGeom>
          <a:solidFill>
            <a:srgbClr val="EFF5FC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6" name="Rounded Rectangle 25"/>
          <p:cNvSpPr/>
          <p:nvPr/>
        </p:nvSpPr>
        <p:spPr>
          <a:xfrm>
            <a:off x="6291072" y="3337560"/>
            <a:ext cx="68580" cy="2487168"/>
          </a:xfrm>
          <a:prstGeom prst="roundRect">
            <a:avLst/>
          </a:prstGeom>
          <a:solidFill>
            <a:srgbClr val="3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7" name="TextBox 26"/>
          <p:cNvSpPr txBox="1"/>
          <p:nvPr/>
        </p:nvSpPr>
        <p:spPr>
          <a:xfrm>
            <a:off x="6455664" y="3447288"/>
            <a:ext cx="50109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300" b="1" i="0" noProof="0" dirty="0">
                <a:solidFill>
                  <a:srgbClr val="3669BE"/>
                </a:solidFill>
                <a:latin typeface="Aptos"/>
              </a:rPr>
              <a:t>HOW WILL WE MEASURE SUCCESS?  ·  KPIs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4" y="3767328"/>
            <a:ext cx="5010912" cy="197510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40" b="0" i="0" noProof="0" dirty="0">
                <a:solidFill>
                  <a:srgbClr val="283442"/>
                </a:solidFill>
                <a:latin typeface="Aptos"/>
              </a:rPr>
              <a:t>• Participation: number of students who use the guide / attend the workshop.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40" b="0" i="0" noProof="0" dirty="0">
                <a:solidFill>
                  <a:srgbClr val="283442"/>
                </a:solidFill>
                <a:latin typeface="Aptos"/>
              </a:rPr>
              <a:t>• Usefulness: ≥ 70% of participants rate the material as useful.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40" b="0" i="0" noProof="0" dirty="0">
                <a:solidFill>
                  <a:srgbClr val="283442"/>
                </a:solidFill>
                <a:latin typeface="Aptos"/>
              </a:rPr>
              <a:t>• Change in habits: more frequent use of hints and verification instead of finished answers.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40" b="0" i="0" noProof="0" dirty="0">
                <a:solidFill>
                  <a:srgbClr val="283442"/>
                </a:solidFill>
                <a:latin typeface="Aptos"/>
              </a:rPr>
              <a:t>• System-level change: at least one pilot course assesses independent understanding.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" y="5998464"/>
            <a:ext cx="1097280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880" b="0" i="0" noProof="0" dirty="0">
                <a:solidFill>
                  <a:srgbClr val="667585"/>
                </a:solidFill>
                <a:latin typeface="Aptos"/>
              </a:rPr>
              <a:t>These are planned indicators. Outcomes should be measured after the pilot, not assumed in advance.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A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21207" y="6519672"/>
            <a:ext cx="72237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750" b="0" i="0" noProof="0" dirty="0">
                <a:solidFill>
                  <a:srgbClr val="667585"/>
                </a:solidFill>
                <a:latin typeface="Aptos"/>
              </a:rPr>
              <a:t>TEAM 10  ·  PROBLEM SOLVING  ·  FIS, VŠE  ·  CONTENT 10/10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640080"/>
            <a:ext cx="1417320" cy="256032"/>
          </a:xfrm>
          <a:prstGeom prst="roundRect">
            <a:avLst/>
          </a:prstGeom>
          <a:solidFill>
            <a:srgbClr val="294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704088" y="672084"/>
            <a:ext cx="1325880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00" b="1" i="0" noProof="0" dirty="0">
                <a:solidFill>
                  <a:srgbClr val="C4E0FF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2800" b="1" i="0" noProof="0" dirty="0">
                <a:solidFill>
                  <a:srgbClr val="FFFFFF"/>
                </a:solidFill>
                <a:latin typeface="Aptos Display"/>
              </a:rPr>
              <a:t>AI should not replace learning.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2800" b="1" i="0" noProof="0" dirty="0">
                <a:solidFill>
                  <a:srgbClr val="FFFFFF"/>
                </a:solidFill>
                <a:latin typeface="Aptos Display"/>
              </a:rPr>
              <a:t>It should help students think better.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871216"/>
            <a:ext cx="10149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500" b="0" i="0" noProof="0" dirty="0">
                <a:solidFill>
                  <a:srgbClr val="C2D6EC"/>
                </a:solidFill>
                <a:latin typeface="Aptos"/>
              </a:rPr>
              <a:t>From quick assistance to long-term changes in habits: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749039"/>
            <a:ext cx="3072384" cy="1225296"/>
          </a:xfrm>
          <a:prstGeom prst="roundRect">
            <a:avLst/>
          </a:prstGeom>
          <a:solidFill>
            <a:srgbClr val="1F3C5B"/>
          </a:solidFill>
          <a:ln w="10160">
            <a:solidFill>
              <a:srgbClr val="3F5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841248" y="4014215"/>
            <a:ext cx="27614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250" b="1" i="0" noProof="0" dirty="0">
                <a:solidFill>
                  <a:srgbClr val="3669BE"/>
                </a:solidFill>
                <a:latin typeface="Aptos"/>
              </a:rPr>
              <a:t>STUDY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416552"/>
            <a:ext cx="27614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150" b="0" i="0" noProof="0" dirty="0">
                <a:solidFill>
                  <a:srgbClr val="FFFFFF"/>
                </a:solidFill>
                <a:latin typeface="Aptos"/>
              </a:rPr>
              <a:t>Accessible support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3749039"/>
            <a:ext cx="3072384" cy="1225296"/>
          </a:xfrm>
          <a:prstGeom prst="roundRect">
            <a:avLst/>
          </a:prstGeom>
          <a:solidFill>
            <a:srgbClr val="1F3C5B"/>
          </a:solidFill>
          <a:ln w="10160">
            <a:solidFill>
              <a:srgbClr val="3F5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4315968" y="4014215"/>
            <a:ext cx="27614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250" b="1" i="0" noProof="0" dirty="0">
                <a:solidFill>
                  <a:srgbClr val="1F8E89"/>
                </a:solidFill>
                <a:latin typeface="Aptos"/>
              </a:rPr>
              <a:t>WORKSHOP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4416552"/>
            <a:ext cx="27614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150" b="0" i="0" noProof="0" dirty="0">
                <a:solidFill>
                  <a:srgbClr val="FFFFFF"/>
                </a:solidFill>
                <a:latin typeface="Aptos"/>
              </a:rPr>
              <a:t>Hands-on practice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3749039"/>
            <a:ext cx="3072384" cy="1225296"/>
          </a:xfrm>
          <a:prstGeom prst="roundRect">
            <a:avLst/>
          </a:prstGeom>
          <a:solidFill>
            <a:srgbClr val="1F3C5B"/>
          </a:solidFill>
          <a:ln w="10160">
            <a:solidFill>
              <a:srgbClr val="3F5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7790688" y="4014215"/>
            <a:ext cx="27614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250" b="1" i="0" noProof="0" dirty="0">
                <a:solidFill>
                  <a:srgbClr val="D08D32"/>
                </a:solidFill>
                <a:latin typeface="Aptos"/>
              </a:rPr>
              <a:t>ASSESSMENT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0688" y="4416552"/>
            <a:ext cx="27614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150" b="0" i="0" noProof="0" dirty="0">
                <a:solidFill>
                  <a:srgbClr val="FFFFFF"/>
                </a:solidFill>
                <a:latin typeface="Aptos"/>
              </a:rPr>
              <a:t>Independent understanding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58064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200" b="0" i="0" noProof="0" dirty="0">
                <a:solidFill>
                  <a:srgbClr val="BED2E8"/>
                </a:solidFill>
                <a:latin typeface="Aptos"/>
              </a:rPr>
              <a:t>We will test the proposal in a pilot first and scale it up only based on the results.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407408" y="932688"/>
            <a:ext cx="3383280" cy="3383280"/>
          </a:xfrm>
          <a:prstGeom prst="ellipse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3" name="Oval 2"/>
          <p:cNvSpPr/>
          <p:nvPr/>
        </p:nvSpPr>
        <p:spPr>
          <a:xfrm>
            <a:off x="5074920" y="1600200"/>
            <a:ext cx="2048256" cy="2048256"/>
          </a:xfrm>
          <a:prstGeom prst="ellipse">
            <a:avLst/>
          </a:prstGeom>
          <a:solidFill>
            <a:srgbClr val="3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5166360" y="1993392"/>
            <a:ext cx="1865376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3500" b="1" i="0" noProof="0" dirty="0">
                <a:solidFill>
                  <a:srgbClr val="FFFFFF"/>
                </a:solidFill>
                <a:latin typeface="Aptos Display"/>
              </a:rPr>
              <a:t>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663440"/>
            <a:ext cx="76352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2500" b="1" i="0" noProof="0" dirty="0">
                <a:solidFill>
                  <a:srgbClr val="132A43"/>
                </a:solidFill>
                <a:latin typeface="Aptos Display"/>
              </a:rPr>
              <a:t>Thank you for your 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5294376"/>
            <a:ext cx="76352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300" b="0" i="0" noProof="0" dirty="0">
                <a:solidFill>
                  <a:srgbClr val="667585"/>
                </a:solidFill>
                <a:latin typeface="Aptos"/>
              </a:rPr>
              <a:t>We welcome your questions and feedback.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A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21207" y="6519672"/>
            <a:ext cx="72237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750" b="0" i="0" noProof="0" dirty="0">
                <a:solidFill>
                  <a:srgbClr val="667585"/>
                </a:solidFill>
                <a:latin typeface="Aptos"/>
              </a:rPr>
              <a:t>TEAM 10  ·  PROBLEM SOLVING  ·  FIS, VŠE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46888"/>
            <a:ext cx="1024128" cy="256032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296510"/>
            <a:ext cx="932688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00" b="1" dirty="0">
                <a:solidFill>
                  <a:srgbClr val="3669BE"/>
                </a:solidFill>
                <a:latin typeface="Aptos"/>
              </a:rPr>
              <a:t>BACKUP</a:t>
            </a:r>
            <a:endParaRPr lang="cs-CZ" sz="900" b="1" i="0" noProof="0" dirty="0">
              <a:solidFill>
                <a:srgbClr val="3669BE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0642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2600" b="1" i="0" noProof="0" dirty="0">
                <a:solidFill>
                  <a:srgbClr val="132A43"/>
                </a:solidFill>
                <a:latin typeface="Aptos Display"/>
              </a:rPr>
              <a:t>What did our questionnaire reveal?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88136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150" b="0" i="0" noProof="0" dirty="0">
                <a:solidFill>
                  <a:srgbClr val="667585"/>
                </a:solidFill>
                <a:latin typeface="Aptos"/>
              </a:rPr>
              <a:t>Anonymous questionnaire among first-year FIS students · n = 23 · Team 10 survey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426464"/>
            <a:ext cx="11183112" cy="0"/>
          </a:xfrm>
          <a:prstGeom prst="line">
            <a:avLst/>
          </a:prstGeom>
          <a:ln w="11430">
            <a:solidFill>
              <a:srgbClr val="DA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1402568" y="265176"/>
            <a:ext cx="118872" cy="118872"/>
          </a:xfrm>
          <a:prstGeom prst="ellipse">
            <a:avLst/>
          </a:prstGeom>
          <a:solidFill>
            <a:srgbClr val="1F8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8" name="Oval 7"/>
          <p:cNvSpPr/>
          <p:nvPr/>
        </p:nvSpPr>
        <p:spPr>
          <a:xfrm>
            <a:off x="11548872" y="265176"/>
            <a:ext cx="118872" cy="118872"/>
          </a:xfrm>
          <a:prstGeom prst="ellipse">
            <a:avLst/>
          </a:prstGeom>
          <a:solidFill>
            <a:srgbClr val="3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9" name="Rounded Rectangle 8"/>
          <p:cNvSpPr/>
          <p:nvPr/>
        </p:nvSpPr>
        <p:spPr>
          <a:xfrm>
            <a:off x="566928" y="1673352"/>
            <a:ext cx="3538728" cy="1335024"/>
          </a:xfrm>
          <a:prstGeom prst="roundRect">
            <a:avLst/>
          </a:prstGeom>
          <a:solidFill>
            <a:srgbClr val="F6F8FB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704088" y="1810512"/>
            <a:ext cx="1024128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200" b="1" i="0" noProof="0" dirty="0">
                <a:solidFill>
                  <a:srgbClr val="667585"/>
                </a:solidFill>
                <a:latin typeface="Aptos"/>
              </a:rPr>
              <a:t>20/23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746504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2500" b="1" i="0" noProof="0" dirty="0">
                <a:solidFill>
                  <a:srgbClr val="3669BE"/>
                </a:solidFill>
                <a:latin typeface="Aptos Display"/>
              </a:rPr>
              <a:t>87 %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258568"/>
            <a:ext cx="3255264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80" b="1" i="0" noProof="0" dirty="0">
                <a:solidFill>
                  <a:srgbClr val="283442"/>
                </a:solidFill>
                <a:latin typeface="Aptos"/>
              </a:rPr>
              <a:t>Use AI to search for information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9392" y="1673352"/>
            <a:ext cx="3538728" cy="1335024"/>
          </a:xfrm>
          <a:prstGeom prst="roundRect">
            <a:avLst/>
          </a:prstGeom>
          <a:solidFill>
            <a:srgbClr val="F6F8FB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4416552" y="1810512"/>
            <a:ext cx="1024128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200" b="1" i="0" noProof="0" dirty="0">
                <a:solidFill>
                  <a:srgbClr val="667585"/>
                </a:solidFill>
                <a:latin typeface="Aptos"/>
              </a:rPr>
              <a:t>19/23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9824" y="1746504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2500" b="1" i="0" noProof="0" dirty="0">
                <a:solidFill>
                  <a:srgbClr val="1F8E89"/>
                </a:solidFill>
                <a:latin typeface="Aptos Display"/>
              </a:rPr>
              <a:t>83 %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5696" y="2258568"/>
            <a:ext cx="3255264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80" b="1" i="0" noProof="0" dirty="0">
                <a:solidFill>
                  <a:srgbClr val="283442"/>
                </a:solidFill>
                <a:latin typeface="Aptos"/>
              </a:rPr>
              <a:t>Use AI for school projects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91856" y="1673352"/>
            <a:ext cx="3538728" cy="1335024"/>
          </a:xfrm>
          <a:prstGeom prst="roundRect">
            <a:avLst/>
          </a:prstGeom>
          <a:solidFill>
            <a:srgbClr val="F6F8FB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8129016" y="1810512"/>
            <a:ext cx="1024128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200" b="1" i="0" noProof="0" dirty="0">
                <a:solidFill>
                  <a:srgbClr val="667585"/>
                </a:solidFill>
                <a:latin typeface="Aptos"/>
              </a:rPr>
              <a:t>16/23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62288" y="1746504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2500" b="1" i="0" noProof="0" dirty="0">
                <a:solidFill>
                  <a:srgbClr val="D08D32"/>
                </a:solidFill>
                <a:latin typeface="Aptos Display"/>
              </a:rPr>
              <a:t>70 %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258568"/>
            <a:ext cx="3255264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80" b="1" i="0" noProof="0" dirty="0">
                <a:solidFill>
                  <a:srgbClr val="283442"/>
                </a:solidFill>
                <a:latin typeface="Aptos"/>
              </a:rPr>
              <a:t>report time savings and easier work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246120"/>
            <a:ext cx="3538728" cy="1335024"/>
          </a:xfrm>
          <a:prstGeom prst="roundRect">
            <a:avLst/>
          </a:prstGeom>
          <a:solidFill>
            <a:srgbClr val="F6F8FB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2" name="TextBox 21"/>
          <p:cNvSpPr txBox="1"/>
          <p:nvPr/>
        </p:nvSpPr>
        <p:spPr>
          <a:xfrm>
            <a:off x="704088" y="3383279"/>
            <a:ext cx="1024128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200" b="1" i="0" noProof="0" dirty="0">
                <a:solidFill>
                  <a:srgbClr val="667585"/>
                </a:solidFill>
                <a:latin typeface="Aptos"/>
              </a:rPr>
              <a:t>12/23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3319272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2500" b="1" i="0" noProof="0" dirty="0">
                <a:solidFill>
                  <a:srgbClr val="3669BE"/>
                </a:solidFill>
                <a:latin typeface="Aptos Display"/>
              </a:rPr>
              <a:t>52 %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3831335"/>
            <a:ext cx="3255264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80" b="1" i="0" noProof="0" dirty="0">
                <a:solidFill>
                  <a:srgbClr val="283442"/>
                </a:solidFill>
                <a:latin typeface="Aptos"/>
              </a:rPr>
              <a:t>Use AI for trivial tasks very often or occasionally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79392" y="3246120"/>
            <a:ext cx="3538728" cy="1335024"/>
          </a:xfrm>
          <a:prstGeom prst="roundRect">
            <a:avLst/>
          </a:prstGeom>
          <a:solidFill>
            <a:srgbClr val="F6F8FB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6" name="TextBox 25"/>
          <p:cNvSpPr txBox="1"/>
          <p:nvPr/>
        </p:nvSpPr>
        <p:spPr>
          <a:xfrm>
            <a:off x="4416552" y="3383279"/>
            <a:ext cx="1024128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200" b="1" i="0" noProof="0" dirty="0">
                <a:solidFill>
                  <a:srgbClr val="667585"/>
                </a:solidFill>
                <a:latin typeface="Aptos"/>
              </a:rPr>
              <a:t>12/23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9824" y="3319272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2500" b="1" i="0" noProof="0" dirty="0">
                <a:solidFill>
                  <a:srgbClr val="1F8E89"/>
                </a:solidFill>
                <a:latin typeface="Aptos Display"/>
              </a:rPr>
              <a:t>52 %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25696" y="3831335"/>
            <a:ext cx="3255264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80" b="1" i="0" noProof="0" dirty="0">
                <a:solidFill>
                  <a:srgbClr val="283442"/>
                </a:solidFill>
                <a:latin typeface="Aptos"/>
              </a:rPr>
              <a:t>Say AI sometimes supports learning and sometimes replaces their own work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91856" y="3246120"/>
            <a:ext cx="3538728" cy="1335024"/>
          </a:xfrm>
          <a:prstGeom prst="roundRect">
            <a:avLst/>
          </a:prstGeom>
          <a:solidFill>
            <a:srgbClr val="F6F8FB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30" name="TextBox 29"/>
          <p:cNvSpPr txBox="1"/>
          <p:nvPr/>
        </p:nvSpPr>
        <p:spPr>
          <a:xfrm>
            <a:off x="8129016" y="3383279"/>
            <a:ext cx="1024128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200" b="1" i="0" noProof="0" dirty="0">
                <a:solidFill>
                  <a:srgbClr val="667585"/>
                </a:solidFill>
                <a:latin typeface="Aptos"/>
              </a:rPr>
              <a:t>12/23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62288" y="3319272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2500" b="1" i="0" noProof="0" dirty="0">
                <a:solidFill>
                  <a:srgbClr val="D08D32"/>
                </a:solidFill>
                <a:latin typeface="Aptos Display"/>
              </a:rPr>
              <a:t>52 %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3831335"/>
            <a:ext cx="3255264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80" b="1" i="0" noProof="0" dirty="0">
                <a:solidFill>
                  <a:srgbClr val="283442"/>
                </a:solidFill>
                <a:latin typeface="Aptos"/>
              </a:rPr>
              <a:t>Check the accuracy of answers at level 3–4 out of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01091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700" b="1" i="0" noProof="0" dirty="0">
                <a:solidFill>
                  <a:srgbClr val="D08D32"/>
                </a:solidFill>
                <a:latin typeface="Aptos"/>
              </a:rPr>
              <a:t>26 %  ·  6/23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20824" y="5029199"/>
            <a:ext cx="900684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150" b="0" i="0" noProof="0" dirty="0">
                <a:solidFill>
                  <a:srgbClr val="283442"/>
                </a:solidFill>
                <a:latin typeface="Aptos"/>
              </a:rPr>
              <a:t>perceive a decline in independent and critical thinking at level 4–5 out of 5.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5879592"/>
            <a:ext cx="10972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30" b="0" i="0" noProof="0" dirty="0">
                <a:solidFill>
                  <a:srgbClr val="667585"/>
                </a:solidFill>
                <a:latin typeface="Aptos"/>
              </a:rPr>
              <a:t>Interpretation: the data suggest potentially risky usage patterns, but do not prove that AI has actually weakened students’ abilities. The small self-selected sample is not representative.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A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21207" y="6519672"/>
            <a:ext cx="722376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lang="cs-CZ" sz="750" b="1" dirty="0">
                <a:solidFill>
                  <a:srgbClr val="667585"/>
                </a:solidFill>
                <a:latin typeface="Aptos"/>
              </a:rPr>
              <a:t>TEAM 10  ·  BACKUP SLIDE  ·  SHOW ONLY IF NEEDED FOR DISCUSSION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6640" y="6510528"/>
            <a:ext cx="425196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720" b="0" i="0" noProof="0" dirty="0">
                <a:solidFill>
                  <a:srgbClr val="667585"/>
                </a:solidFill>
                <a:latin typeface="Aptos"/>
              </a:rPr>
              <a:t>Source: Team 10 questionnaire (2026), n = 23.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46888"/>
            <a:ext cx="1024128" cy="256032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278892"/>
            <a:ext cx="932688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00" b="1" i="0" noProof="0" dirty="0">
                <a:solidFill>
                  <a:srgbClr val="3669BE"/>
                </a:solidFill>
                <a:latin typeface="Aptos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0642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2600" b="1" i="0" noProof="0" dirty="0">
                <a:solidFill>
                  <a:srgbClr val="132A43"/>
                </a:solidFill>
                <a:latin typeface="Aptos Display"/>
              </a:rPr>
              <a:t>Detailed questionnaire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88136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150" b="0" i="0" noProof="0" dirty="0">
                <a:solidFill>
                  <a:srgbClr val="667585"/>
                </a:solidFill>
                <a:latin typeface="Aptos"/>
              </a:rPr>
              <a:t>n = 23 · questions allowing multiple answers permitted respondents to select more than one option.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426464"/>
            <a:ext cx="11183112" cy="0"/>
          </a:xfrm>
          <a:prstGeom prst="line">
            <a:avLst/>
          </a:prstGeom>
          <a:ln w="11430">
            <a:solidFill>
              <a:srgbClr val="DA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1402568" y="265176"/>
            <a:ext cx="118872" cy="118872"/>
          </a:xfrm>
          <a:prstGeom prst="ellipse">
            <a:avLst/>
          </a:prstGeom>
          <a:solidFill>
            <a:srgbClr val="1F8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8" name="Oval 7"/>
          <p:cNvSpPr/>
          <p:nvPr/>
        </p:nvSpPr>
        <p:spPr>
          <a:xfrm>
            <a:off x="11548872" y="265176"/>
            <a:ext cx="118872" cy="118872"/>
          </a:xfrm>
          <a:prstGeom prst="ellipse">
            <a:avLst/>
          </a:prstGeom>
          <a:solidFill>
            <a:srgbClr val="3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9" name="Rounded Rectangle 8"/>
          <p:cNvSpPr/>
          <p:nvPr/>
        </p:nvSpPr>
        <p:spPr>
          <a:xfrm>
            <a:off x="594360" y="1673352"/>
            <a:ext cx="5376672" cy="1956816"/>
          </a:xfrm>
          <a:prstGeom prst="roundRect">
            <a:avLst/>
          </a:prstGeom>
          <a:solidFill>
            <a:srgbClr val="EFF5FC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0" name="Rounded Rectangle 9"/>
          <p:cNvSpPr/>
          <p:nvPr/>
        </p:nvSpPr>
        <p:spPr>
          <a:xfrm>
            <a:off x="594360" y="1673352"/>
            <a:ext cx="68580" cy="1956816"/>
          </a:xfrm>
          <a:prstGeom prst="roundRect">
            <a:avLst/>
          </a:prstGeom>
          <a:solidFill>
            <a:srgbClr val="3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758952" y="1783080"/>
            <a:ext cx="50840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250" b="1" i="0" noProof="0" dirty="0">
                <a:solidFill>
                  <a:srgbClr val="3669BE"/>
                </a:solidFill>
                <a:latin typeface="Aptos"/>
              </a:rPr>
              <a:t>MOST COMMON USES OF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103120"/>
            <a:ext cx="5084064" cy="144475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00" b="0" i="0" noProof="0" dirty="0">
                <a:solidFill>
                  <a:srgbClr val="283442"/>
                </a:solidFill>
                <a:latin typeface="Aptos"/>
              </a:rPr>
              <a:t>Information search  20/23 (87%)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00" b="0" i="0" noProof="0" dirty="0">
                <a:solidFill>
                  <a:srgbClr val="283442"/>
                </a:solidFill>
                <a:latin typeface="Aptos"/>
              </a:rPr>
              <a:t>School projects  19/23 (83%)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00" b="0" i="0" noProof="0" dirty="0">
                <a:solidFill>
                  <a:srgbClr val="283442"/>
                </a:solidFill>
                <a:latin typeface="Aptos"/>
              </a:rPr>
              <a:t>Code debugging  17/23 (74%)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00" b="0" i="0" noProof="0" dirty="0">
                <a:solidFill>
                  <a:srgbClr val="283442"/>
                </a:solidFill>
                <a:latin typeface="Aptos"/>
              </a:rPr>
              <a:t>Writing emails / messages  14/23 (61%)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00" b="0" i="0" noProof="0" dirty="0">
                <a:solidFill>
                  <a:srgbClr val="283442"/>
                </a:solidFill>
                <a:latin typeface="Aptos"/>
              </a:rPr>
              <a:t>Code generation  13/23 (57%)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00" b="0" i="0" noProof="0" dirty="0">
                <a:solidFill>
                  <a:srgbClr val="283442"/>
                </a:solidFill>
                <a:latin typeface="Aptos"/>
              </a:rPr>
              <a:t>Summarizing texts / videos  12/23 (52%)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673352"/>
            <a:ext cx="5376672" cy="1956816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4" name="Rounded Rectangle 13"/>
          <p:cNvSpPr/>
          <p:nvPr/>
        </p:nvSpPr>
        <p:spPr>
          <a:xfrm>
            <a:off x="6199632" y="1673352"/>
            <a:ext cx="68580" cy="1956816"/>
          </a:xfrm>
          <a:prstGeom prst="roundRect">
            <a:avLst/>
          </a:prstGeom>
          <a:solidFill>
            <a:srgbClr val="1F8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6364224" y="1783080"/>
            <a:ext cx="50840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250" b="1" i="0" noProof="0" dirty="0">
                <a:solidFill>
                  <a:srgbClr val="1F8E89"/>
                </a:solidFill>
                <a:latin typeface="Aptos"/>
              </a:rPr>
              <a:t>REASONS FOR USING AI IN STUDY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2103120"/>
            <a:ext cx="5084064" cy="144475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00" b="0" i="0" noProof="0" dirty="0">
                <a:solidFill>
                  <a:srgbClr val="283442"/>
                </a:solidFill>
                <a:latin typeface="Aptos"/>
              </a:rPr>
              <a:t>Time savings and easier work  16/23 (70%)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00" b="0" i="0" noProof="0" dirty="0">
                <a:solidFill>
                  <a:srgbClr val="283442"/>
                </a:solidFill>
                <a:latin typeface="Aptos"/>
              </a:rPr>
              <a:t>Helps understand the material  14/23 (61%)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00" b="0" i="0" noProof="0" dirty="0">
                <a:solidFill>
                  <a:srgbClr val="283442"/>
                </a:solidFill>
                <a:latin typeface="Aptos"/>
              </a:rPr>
              <a:t>Not knowing where to start / how to solve it  9/23 (39%)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00" b="0" i="0" noProof="0" dirty="0">
                <a:solidFill>
                  <a:srgbClr val="283442"/>
                </a:solidFill>
                <a:latin typeface="Aptos"/>
              </a:rPr>
              <a:t>Large workload / deadlines  6/23 (26%)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00" b="0" i="0" noProof="0" dirty="0">
                <a:solidFill>
                  <a:srgbClr val="283442"/>
                </a:solidFill>
                <a:latin typeface="Aptos"/>
              </a:rPr>
              <a:t>A ready-made answer is easier  4/23 (17%)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00" b="0" i="0" noProof="0" dirty="0">
                <a:solidFill>
                  <a:srgbClr val="283442"/>
                </a:solidFill>
                <a:latin typeface="Aptos"/>
              </a:rPr>
              <a:t>Habit / convenience  4/23 (17%)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822191"/>
            <a:ext cx="5376672" cy="1627632"/>
          </a:xfrm>
          <a:prstGeom prst="roundRect">
            <a:avLst/>
          </a:prstGeom>
          <a:solidFill>
            <a:srgbClr val="FCF6EB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8" name="Rounded Rectangle 17"/>
          <p:cNvSpPr/>
          <p:nvPr/>
        </p:nvSpPr>
        <p:spPr>
          <a:xfrm>
            <a:off x="594360" y="3822191"/>
            <a:ext cx="68580" cy="1627632"/>
          </a:xfrm>
          <a:prstGeom prst="roundRect">
            <a:avLst/>
          </a:prstGeom>
          <a:solidFill>
            <a:srgbClr val="D08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758952" y="3931920"/>
            <a:ext cx="50840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230" b="1" i="0" noProof="0" dirty="0">
                <a:solidFill>
                  <a:srgbClr val="D08D32"/>
                </a:solidFill>
                <a:latin typeface="Aptos"/>
              </a:rPr>
              <a:t>TRIVIAL TASKS AND STUDY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251959"/>
            <a:ext cx="5084064" cy="11155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00" b="0" i="0" noProof="0" dirty="0">
                <a:solidFill>
                  <a:srgbClr val="283442"/>
                </a:solidFill>
                <a:latin typeface="Aptos"/>
              </a:rPr>
              <a:t>Trivial tasks: very often 4, occasionally 8, rarely 8, never 3.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00" b="0" i="0" noProof="0" dirty="0">
                <a:solidFill>
                  <a:srgbClr val="283442"/>
                </a:solidFill>
                <a:latin typeface="Aptos"/>
              </a:rPr>
              <a:t>For studying: help with understanding 10; both help and replacement 12; do not use AI for learning 1.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3822191"/>
            <a:ext cx="5376672" cy="1627632"/>
          </a:xfrm>
          <a:prstGeom prst="roundRect">
            <a:avLst/>
          </a:prstGeom>
          <a:solidFill>
            <a:srgbClr val="EFF5FC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2" name="Rounded Rectangle 21"/>
          <p:cNvSpPr/>
          <p:nvPr/>
        </p:nvSpPr>
        <p:spPr>
          <a:xfrm>
            <a:off x="6199632" y="3822191"/>
            <a:ext cx="68580" cy="1627632"/>
          </a:xfrm>
          <a:prstGeom prst="roundRect">
            <a:avLst/>
          </a:prstGeom>
          <a:solidFill>
            <a:srgbClr val="3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3" name="TextBox 22"/>
          <p:cNvSpPr txBox="1"/>
          <p:nvPr/>
        </p:nvSpPr>
        <p:spPr>
          <a:xfrm>
            <a:off x="6364224" y="3931920"/>
            <a:ext cx="50840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230" b="1" i="0" noProof="0" dirty="0">
                <a:solidFill>
                  <a:srgbClr val="3669BE"/>
                </a:solidFill>
                <a:latin typeface="Aptos"/>
              </a:rPr>
              <a:t>VERIFICATION AND PERCEIVED IMPACT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4251959"/>
            <a:ext cx="5084064" cy="11155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69" b="0" i="0" noProof="0" dirty="0">
                <a:solidFill>
                  <a:srgbClr val="283442"/>
                </a:solidFill>
                <a:latin typeface="Aptos"/>
              </a:rPr>
              <a:t>Verification (1 = always, 5 = never): 1 → 0; 2 → 11; 3 → 7; 4 → 5; 5 → 0.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69" b="0" i="0" noProof="0" dirty="0">
                <a:solidFill>
                  <a:srgbClr val="283442"/>
                </a:solidFill>
                <a:latin typeface="Aptos"/>
              </a:rPr>
              <a:t>Perceived impact on critical thinking (1 = not at all, 5 = definitely): 1 → 4; 2 → 4; 3 → 9; 4 → 5; 5 → 1.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571500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10" b="0" i="0" noProof="0" dirty="0">
                <a:solidFill>
                  <a:srgbClr val="667585"/>
                </a:solidFill>
                <a:latin typeface="Aptos"/>
              </a:rPr>
              <a:t>Note: this is a small self-selected sample, so the results cannot be generalized to all first-year FIS students.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A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21207" y="6519672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750" b="1" i="0" noProof="0" dirty="0">
                <a:solidFill>
                  <a:srgbClr val="667585"/>
                </a:solidFill>
                <a:latin typeface="Aptos"/>
              </a:rPr>
              <a:t>TEAM 10  ·  BACKUP SLIDE  ·  SHOW ONLY IF NEEDED FOR DISCUSSION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46888"/>
            <a:ext cx="1024128" cy="256032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278892"/>
            <a:ext cx="932688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00" b="1" i="0" noProof="0" dirty="0">
                <a:solidFill>
                  <a:srgbClr val="3669BE"/>
                </a:solidFill>
                <a:latin typeface="Aptos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0642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2600" b="1" i="0" noProof="0" dirty="0">
                <a:solidFill>
                  <a:srgbClr val="132A43"/>
                </a:solidFill>
                <a:latin typeface="Aptos Display"/>
              </a:rPr>
              <a:t>Extended risk register for the 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88136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150" b="0" i="0" noProof="0" dirty="0">
                <a:solidFill>
                  <a:srgbClr val="667585"/>
                </a:solidFill>
                <a:latin typeface="Aptos"/>
              </a:rPr>
              <a:t>P and I are team estimates on a 1–5 scale; post-mitigation values have not been measured.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426464"/>
            <a:ext cx="11183112" cy="0"/>
          </a:xfrm>
          <a:prstGeom prst="line">
            <a:avLst/>
          </a:prstGeom>
          <a:ln w="11430">
            <a:solidFill>
              <a:srgbClr val="DA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1402568" y="265176"/>
            <a:ext cx="118872" cy="118872"/>
          </a:xfrm>
          <a:prstGeom prst="ellipse">
            <a:avLst/>
          </a:prstGeom>
          <a:solidFill>
            <a:srgbClr val="1F8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8" name="Oval 7"/>
          <p:cNvSpPr/>
          <p:nvPr/>
        </p:nvSpPr>
        <p:spPr>
          <a:xfrm>
            <a:off x="11548872" y="265176"/>
            <a:ext cx="118872" cy="118872"/>
          </a:xfrm>
          <a:prstGeom prst="ellipse">
            <a:avLst/>
          </a:prstGeom>
          <a:solidFill>
            <a:srgbClr val="3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9" name="Rectangle 8"/>
          <p:cNvSpPr/>
          <p:nvPr/>
        </p:nvSpPr>
        <p:spPr>
          <a:xfrm>
            <a:off x="576072" y="1719072"/>
            <a:ext cx="2057400" cy="438912"/>
          </a:xfrm>
          <a:prstGeom prst="rect">
            <a:avLst/>
          </a:prstGeom>
          <a:solidFill>
            <a:srgbClr val="3669BE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630936" y="1828800"/>
            <a:ext cx="194767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00" b="1" i="0" noProof="0" dirty="0">
                <a:solidFill>
                  <a:srgbClr val="FFFFFF"/>
                </a:solidFill>
                <a:latin typeface="Aptos"/>
              </a:rPr>
              <a:t>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33472" y="1719072"/>
            <a:ext cx="2423160" cy="438912"/>
          </a:xfrm>
          <a:prstGeom prst="rect">
            <a:avLst/>
          </a:prstGeom>
          <a:solidFill>
            <a:srgbClr val="3669BE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2688336" y="1828800"/>
            <a:ext cx="231343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00" b="1" i="0" noProof="0" dirty="0">
                <a:solidFill>
                  <a:srgbClr val="FFFFFF"/>
                </a:solidFill>
                <a:latin typeface="Aptos"/>
              </a:rPr>
              <a:t>WHAT COULD HAPPEN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56631" y="1719072"/>
            <a:ext cx="566928" cy="438912"/>
          </a:xfrm>
          <a:prstGeom prst="rect">
            <a:avLst/>
          </a:prstGeom>
          <a:solidFill>
            <a:srgbClr val="3669BE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5111495" y="182880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00" b="1" i="0" noProof="0" dirty="0">
                <a:solidFill>
                  <a:srgbClr val="FFFFFF"/>
                </a:solidFill>
                <a:latin typeface="Aptos"/>
              </a:rPr>
              <a:t>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23559" y="1719072"/>
            <a:ext cx="566928" cy="438912"/>
          </a:xfrm>
          <a:prstGeom prst="rect">
            <a:avLst/>
          </a:prstGeom>
          <a:solidFill>
            <a:srgbClr val="3669BE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5678423" y="182880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00" b="1" i="0" noProof="0" dirty="0">
                <a:solidFill>
                  <a:srgbClr val="FFFFFF"/>
                </a:solidFill>
                <a:latin typeface="Aptos"/>
              </a:rPr>
              <a:t>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1719072"/>
            <a:ext cx="749808" cy="438912"/>
          </a:xfrm>
          <a:prstGeom prst="rect">
            <a:avLst/>
          </a:prstGeom>
          <a:solidFill>
            <a:srgbClr val="3669BE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6245351" y="182880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00" b="1" i="0" noProof="0" dirty="0">
                <a:solidFill>
                  <a:srgbClr val="FFFFFF"/>
                </a:solidFill>
                <a:latin typeface="Aptos"/>
              </a:rPr>
              <a:t>P×I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0296" y="1719072"/>
            <a:ext cx="4160520" cy="438912"/>
          </a:xfrm>
          <a:prstGeom prst="rect">
            <a:avLst/>
          </a:prstGeom>
          <a:solidFill>
            <a:srgbClr val="3669BE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6995159" y="1828800"/>
            <a:ext cx="4050791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00" b="1" i="0" noProof="0" dirty="0">
                <a:solidFill>
                  <a:srgbClr val="FFFFFF"/>
                </a:solidFill>
                <a:latin typeface="Aptos"/>
              </a:rPr>
              <a:t>MITIGATION MEASURES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" y="2157984"/>
            <a:ext cx="2057400" cy="694944"/>
          </a:xfrm>
          <a:prstGeom prst="rect">
            <a:avLst/>
          </a:prstGeom>
          <a:solidFill>
            <a:srgbClr val="F6F8FB"/>
          </a:solidFill>
          <a:ln w="762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2" name="TextBox 21"/>
          <p:cNvSpPr txBox="1"/>
          <p:nvPr/>
        </p:nvSpPr>
        <p:spPr>
          <a:xfrm>
            <a:off x="649224" y="2231136"/>
            <a:ext cx="191109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10" b="1" i="0" noProof="0" dirty="0">
                <a:solidFill>
                  <a:srgbClr val="132A43"/>
                </a:solidFill>
                <a:latin typeface="Aptos"/>
              </a:rPr>
              <a:t>Low uptake of the guide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33472" y="2157984"/>
            <a:ext cx="2423160" cy="694944"/>
          </a:xfrm>
          <a:prstGeom prst="rect">
            <a:avLst/>
          </a:prstGeom>
          <a:solidFill>
            <a:srgbClr val="F6F8FB"/>
          </a:solidFill>
          <a:ln w="762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4" name="TextBox 23"/>
          <p:cNvSpPr txBox="1"/>
          <p:nvPr/>
        </p:nvSpPr>
        <p:spPr>
          <a:xfrm>
            <a:off x="2706624" y="2231136"/>
            <a:ext cx="2276856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10" b="0" i="0" noProof="0" dirty="0">
                <a:solidFill>
                  <a:srgbClr val="283442"/>
                </a:solidFill>
                <a:latin typeface="Aptos"/>
              </a:rPr>
              <a:t>The material may go unnoticed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56631" y="2157984"/>
            <a:ext cx="566928" cy="694944"/>
          </a:xfrm>
          <a:prstGeom prst="rect">
            <a:avLst/>
          </a:prstGeom>
          <a:solidFill>
            <a:srgbClr val="F6F8FB"/>
          </a:solidFill>
          <a:ln w="762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6" name="TextBox 25"/>
          <p:cNvSpPr txBox="1"/>
          <p:nvPr/>
        </p:nvSpPr>
        <p:spPr>
          <a:xfrm>
            <a:off x="5129783" y="2231136"/>
            <a:ext cx="420623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10" b="0" i="0" noProof="0" dirty="0">
                <a:solidFill>
                  <a:srgbClr val="283442"/>
                </a:solidFill>
                <a:latin typeface="Aptos"/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23559" y="2157984"/>
            <a:ext cx="566928" cy="694944"/>
          </a:xfrm>
          <a:prstGeom prst="rect">
            <a:avLst/>
          </a:prstGeom>
          <a:solidFill>
            <a:srgbClr val="F6F8FB"/>
          </a:solidFill>
          <a:ln w="762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8" name="TextBox 27"/>
          <p:cNvSpPr txBox="1"/>
          <p:nvPr/>
        </p:nvSpPr>
        <p:spPr>
          <a:xfrm>
            <a:off x="5696712" y="2231136"/>
            <a:ext cx="420623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10" b="0" i="0" noProof="0" dirty="0">
                <a:solidFill>
                  <a:srgbClr val="283442"/>
                </a:solidFill>
                <a:latin typeface="Aptos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0488" y="2157984"/>
            <a:ext cx="749808" cy="694944"/>
          </a:xfrm>
          <a:prstGeom prst="rect">
            <a:avLst/>
          </a:prstGeom>
          <a:solidFill>
            <a:srgbClr val="F6F8FB"/>
          </a:solidFill>
          <a:ln w="762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30" name="TextBox 29"/>
          <p:cNvSpPr txBox="1"/>
          <p:nvPr/>
        </p:nvSpPr>
        <p:spPr>
          <a:xfrm>
            <a:off x="6263640" y="2231136"/>
            <a:ext cx="603503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10" b="1" i="0" noProof="0" dirty="0">
                <a:solidFill>
                  <a:srgbClr val="D08D32"/>
                </a:solidFill>
                <a:latin typeface="Aptos"/>
              </a:rPr>
              <a:t>12 · 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40296" y="2157984"/>
            <a:ext cx="4160520" cy="694944"/>
          </a:xfrm>
          <a:prstGeom prst="rect">
            <a:avLst/>
          </a:prstGeom>
          <a:solidFill>
            <a:srgbClr val="F6F8FB"/>
          </a:solidFill>
          <a:ln w="762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32" name="TextBox 31"/>
          <p:cNvSpPr txBox="1"/>
          <p:nvPr/>
        </p:nvSpPr>
        <p:spPr>
          <a:xfrm>
            <a:off x="7013448" y="2231136"/>
            <a:ext cx="401421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10" b="0" i="0" noProof="0" dirty="0">
                <a:solidFill>
                  <a:srgbClr val="283442"/>
                </a:solidFill>
                <a:latin typeface="Aptos"/>
              </a:rPr>
              <a:t>Introduce it in class, share it through InSIS, and include specific prompts.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6072" y="2852928"/>
            <a:ext cx="2057400" cy="694944"/>
          </a:xfrm>
          <a:prstGeom prst="rect">
            <a:avLst/>
          </a:prstGeom>
          <a:solidFill>
            <a:srgbClr val="FFFFFF"/>
          </a:solidFill>
          <a:ln w="762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34" name="TextBox 33"/>
          <p:cNvSpPr txBox="1"/>
          <p:nvPr/>
        </p:nvSpPr>
        <p:spPr>
          <a:xfrm>
            <a:off x="649224" y="2926080"/>
            <a:ext cx="191109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10" b="1" i="0" noProof="0" dirty="0">
                <a:solidFill>
                  <a:srgbClr val="132A43"/>
                </a:solidFill>
                <a:latin typeface="Aptos"/>
              </a:rPr>
              <a:t>Low workshop attendance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33472" y="2852928"/>
            <a:ext cx="2423160" cy="694944"/>
          </a:xfrm>
          <a:prstGeom prst="rect">
            <a:avLst/>
          </a:prstGeom>
          <a:solidFill>
            <a:srgbClr val="FFFFFF"/>
          </a:solidFill>
          <a:ln w="762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36" name="TextBox 35"/>
          <p:cNvSpPr txBox="1"/>
          <p:nvPr/>
        </p:nvSpPr>
        <p:spPr>
          <a:xfrm>
            <a:off x="2706624" y="2926080"/>
            <a:ext cx="2276856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10" b="0" i="0" noProof="0" dirty="0">
                <a:solidFill>
                  <a:srgbClr val="283442"/>
                </a:solidFill>
                <a:latin typeface="Aptos"/>
              </a:rPr>
              <a:t>Students may not attend a standalone event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56631" y="2852928"/>
            <a:ext cx="566928" cy="694944"/>
          </a:xfrm>
          <a:prstGeom prst="rect">
            <a:avLst/>
          </a:prstGeom>
          <a:solidFill>
            <a:srgbClr val="FFFFFF"/>
          </a:solidFill>
          <a:ln w="762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38" name="TextBox 37"/>
          <p:cNvSpPr txBox="1"/>
          <p:nvPr/>
        </p:nvSpPr>
        <p:spPr>
          <a:xfrm>
            <a:off x="5129783" y="2926080"/>
            <a:ext cx="420623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10" b="0" i="0" noProof="0" dirty="0">
                <a:solidFill>
                  <a:srgbClr val="283442"/>
                </a:solidFill>
                <a:latin typeface="Aptos"/>
              </a:rPr>
              <a:t>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23559" y="2852928"/>
            <a:ext cx="566928" cy="694944"/>
          </a:xfrm>
          <a:prstGeom prst="rect">
            <a:avLst/>
          </a:prstGeom>
          <a:solidFill>
            <a:srgbClr val="FFFFFF"/>
          </a:solidFill>
          <a:ln w="762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40" name="TextBox 39"/>
          <p:cNvSpPr txBox="1"/>
          <p:nvPr/>
        </p:nvSpPr>
        <p:spPr>
          <a:xfrm>
            <a:off x="5696712" y="2926080"/>
            <a:ext cx="420623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10" b="0" i="0" noProof="0" dirty="0">
                <a:solidFill>
                  <a:srgbClr val="283442"/>
                </a:solidFill>
                <a:latin typeface="Aptos"/>
              </a:rPr>
              <a:t>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0488" y="2852928"/>
            <a:ext cx="749808" cy="694944"/>
          </a:xfrm>
          <a:prstGeom prst="rect">
            <a:avLst/>
          </a:prstGeom>
          <a:solidFill>
            <a:srgbClr val="FFFFFF"/>
          </a:solidFill>
          <a:ln w="762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42" name="TextBox 41"/>
          <p:cNvSpPr txBox="1"/>
          <p:nvPr/>
        </p:nvSpPr>
        <p:spPr>
          <a:xfrm>
            <a:off x="6263640" y="2926080"/>
            <a:ext cx="603503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10" b="1" i="0" noProof="0" dirty="0">
                <a:solidFill>
                  <a:srgbClr val="1F8E89"/>
                </a:solidFill>
                <a:latin typeface="Aptos"/>
              </a:rPr>
              <a:t>9 · 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40296" y="2852928"/>
            <a:ext cx="4160520" cy="694944"/>
          </a:xfrm>
          <a:prstGeom prst="rect">
            <a:avLst/>
          </a:prstGeom>
          <a:solidFill>
            <a:srgbClr val="FFFFFF"/>
          </a:solidFill>
          <a:ln w="762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44" name="TextBox 43"/>
          <p:cNvSpPr txBox="1"/>
          <p:nvPr/>
        </p:nvSpPr>
        <p:spPr>
          <a:xfrm>
            <a:off x="7013448" y="2926080"/>
            <a:ext cx="401421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10" b="0" i="0" noProof="0" dirty="0">
                <a:solidFill>
                  <a:srgbClr val="283442"/>
                </a:solidFill>
                <a:latin typeface="Aptos"/>
              </a:rPr>
              <a:t>Include the workshop directly in a regular class.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76072" y="3547872"/>
            <a:ext cx="2057400" cy="694944"/>
          </a:xfrm>
          <a:prstGeom prst="rect">
            <a:avLst/>
          </a:prstGeom>
          <a:solidFill>
            <a:srgbClr val="F6F8FB"/>
          </a:solidFill>
          <a:ln w="762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46" name="TextBox 45"/>
          <p:cNvSpPr txBox="1"/>
          <p:nvPr/>
        </p:nvSpPr>
        <p:spPr>
          <a:xfrm>
            <a:off x="649224" y="3621024"/>
            <a:ext cx="191109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10" b="1" i="0" noProof="0" dirty="0">
                <a:solidFill>
                  <a:srgbClr val="132A43"/>
                </a:solidFill>
                <a:latin typeface="Aptos"/>
              </a:rPr>
              <a:t>Limited transfer to practice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633472" y="3547872"/>
            <a:ext cx="2423160" cy="694944"/>
          </a:xfrm>
          <a:prstGeom prst="rect">
            <a:avLst/>
          </a:prstGeom>
          <a:solidFill>
            <a:srgbClr val="F6F8FB"/>
          </a:solidFill>
          <a:ln w="762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48" name="TextBox 47"/>
          <p:cNvSpPr txBox="1"/>
          <p:nvPr/>
        </p:nvSpPr>
        <p:spPr>
          <a:xfrm>
            <a:off x="2706624" y="3621024"/>
            <a:ext cx="2276856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10" b="0" i="0" noProof="0" dirty="0">
                <a:solidFill>
                  <a:srgbClr val="283442"/>
                </a:solidFill>
                <a:latin typeface="Aptos"/>
              </a:rPr>
              <a:t>Habits may not change after the workshop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56631" y="3547872"/>
            <a:ext cx="566928" cy="694944"/>
          </a:xfrm>
          <a:prstGeom prst="rect">
            <a:avLst/>
          </a:prstGeom>
          <a:solidFill>
            <a:srgbClr val="F6F8FB"/>
          </a:solidFill>
          <a:ln w="762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50" name="TextBox 49"/>
          <p:cNvSpPr txBox="1"/>
          <p:nvPr/>
        </p:nvSpPr>
        <p:spPr>
          <a:xfrm>
            <a:off x="5129783" y="3621024"/>
            <a:ext cx="420623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10" b="0" i="0" noProof="0" dirty="0">
                <a:solidFill>
                  <a:srgbClr val="283442"/>
                </a:solidFill>
                <a:latin typeface="Aptos"/>
              </a:rPr>
              <a:t>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23559" y="3547872"/>
            <a:ext cx="566928" cy="694944"/>
          </a:xfrm>
          <a:prstGeom prst="rect">
            <a:avLst/>
          </a:prstGeom>
          <a:solidFill>
            <a:srgbClr val="F6F8FB"/>
          </a:solidFill>
          <a:ln w="762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52" name="TextBox 51"/>
          <p:cNvSpPr txBox="1"/>
          <p:nvPr/>
        </p:nvSpPr>
        <p:spPr>
          <a:xfrm>
            <a:off x="5696712" y="3621024"/>
            <a:ext cx="420623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10" b="0" i="0" noProof="0" dirty="0">
                <a:solidFill>
                  <a:srgbClr val="283442"/>
                </a:solidFill>
                <a:latin typeface="Aptos"/>
              </a:rPr>
              <a:t>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90488" y="3547872"/>
            <a:ext cx="749808" cy="694944"/>
          </a:xfrm>
          <a:prstGeom prst="rect">
            <a:avLst/>
          </a:prstGeom>
          <a:solidFill>
            <a:srgbClr val="F6F8FB"/>
          </a:solidFill>
          <a:ln w="762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54" name="TextBox 53"/>
          <p:cNvSpPr txBox="1"/>
          <p:nvPr/>
        </p:nvSpPr>
        <p:spPr>
          <a:xfrm>
            <a:off x="6263640" y="3621024"/>
            <a:ext cx="603503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10" b="1" i="0" noProof="0" dirty="0">
                <a:solidFill>
                  <a:srgbClr val="D08D32"/>
                </a:solidFill>
                <a:latin typeface="Aptos"/>
              </a:rPr>
              <a:t>12 · 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940296" y="3547872"/>
            <a:ext cx="4160520" cy="694944"/>
          </a:xfrm>
          <a:prstGeom prst="rect">
            <a:avLst/>
          </a:prstGeom>
          <a:solidFill>
            <a:srgbClr val="F6F8FB"/>
          </a:solidFill>
          <a:ln w="762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56" name="TextBox 55"/>
          <p:cNvSpPr txBox="1"/>
          <p:nvPr/>
        </p:nvSpPr>
        <p:spPr>
          <a:xfrm>
            <a:off x="7013448" y="3621024"/>
            <a:ext cx="401421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10" b="0" i="0" noProof="0" dirty="0">
                <a:solidFill>
                  <a:srgbClr val="283442"/>
                </a:solidFill>
                <a:latin typeface="Aptos"/>
              </a:rPr>
              <a:t>Check usage after two weeks and adjust the materials.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76072" y="4242816"/>
            <a:ext cx="2057400" cy="694944"/>
          </a:xfrm>
          <a:prstGeom prst="rect">
            <a:avLst/>
          </a:prstGeom>
          <a:solidFill>
            <a:srgbClr val="FFFFFF"/>
          </a:solidFill>
          <a:ln w="762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58" name="TextBox 57"/>
          <p:cNvSpPr txBox="1"/>
          <p:nvPr/>
        </p:nvSpPr>
        <p:spPr>
          <a:xfrm>
            <a:off x="649224" y="4315968"/>
            <a:ext cx="191109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10" b="1" i="0" noProof="0" dirty="0">
                <a:solidFill>
                  <a:srgbClr val="132A43"/>
                </a:solidFill>
                <a:latin typeface="Aptos"/>
              </a:rPr>
              <a:t>Limited instructor support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633472" y="4242816"/>
            <a:ext cx="2423160" cy="694944"/>
          </a:xfrm>
          <a:prstGeom prst="rect">
            <a:avLst/>
          </a:prstGeom>
          <a:solidFill>
            <a:srgbClr val="FFFFFF"/>
          </a:solidFill>
          <a:ln w="762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60" name="TextBox 59"/>
          <p:cNvSpPr txBox="1"/>
          <p:nvPr/>
        </p:nvSpPr>
        <p:spPr>
          <a:xfrm>
            <a:off x="2706624" y="4315968"/>
            <a:ext cx="2276856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10" b="0" i="0" noProof="0" dirty="0">
                <a:solidFill>
                  <a:srgbClr val="283442"/>
                </a:solidFill>
                <a:latin typeface="Aptos"/>
              </a:rPr>
              <a:t>Assessment changes may not be adopted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56631" y="4242816"/>
            <a:ext cx="566928" cy="694944"/>
          </a:xfrm>
          <a:prstGeom prst="rect">
            <a:avLst/>
          </a:prstGeom>
          <a:solidFill>
            <a:srgbClr val="FFFFFF"/>
          </a:solidFill>
          <a:ln w="762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62" name="TextBox 61"/>
          <p:cNvSpPr txBox="1"/>
          <p:nvPr/>
        </p:nvSpPr>
        <p:spPr>
          <a:xfrm>
            <a:off x="5129783" y="4315968"/>
            <a:ext cx="420623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10" b="0" i="0" noProof="0" dirty="0">
                <a:solidFill>
                  <a:srgbClr val="283442"/>
                </a:solidFill>
                <a:latin typeface="Aptos"/>
              </a:rPr>
              <a:t>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623559" y="4242816"/>
            <a:ext cx="566928" cy="694944"/>
          </a:xfrm>
          <a:prstGeom prst="rect">
            <a:avLst/>
          </a:prstGeom>
          <a:solidFill>
            <a:srgbClr val="FFFFFF"/>
          </a:solidFill>
          <a:ln w="762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64" name="TextBox 63"/>
          <p:cNvSpPr txBox="1"/>
          <p:nvPr/>
        </p:nvSpPr>
        <p:spPr>
          <a:xfrm>
            <a:off x="5696712" y="4315968"/>
            <a:ext cx="420623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10" b="0" i="0" noProof="0" dirty="0">
                <a:solidFill>
                  <a:srgbClr val="283442"/>
                </a:solidFill>
                <a:latin typeface="Aptos"/>
              </a:rPr>
              <a:t>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190488" y="4242816"/>
            <a:ext cx="749808" cy="694944"/>
          </a:xfrm>
          <a:prstGeom prst="rect">
            <a:avLst/>
          </a:prstGeom>
          <a:solidFill>
            <a:srgbClr val="FFFFFF"/>
          </a:solidFill>
          <a:ln w="762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66" name="TextBox 65"/>
          <p:cNvSpPr txBox="1"/>
          <p:nvPr/>
        </p:nvSpPr>
        <p:spPr>
          <a:xfrm>
            <a:off x="6263640" y="4315968"/>
            <a:ext cx="603503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10" b="1" i="0" noProof="0" dirty="0">
                <a:solidFill>
                  <a:srgbClr val="B84F4F"/>
                </a:solidFill>
                <a:latin typeface="Aptos"/>
              </a:rPr>
              <a:t>16 · C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940296" y="4242816"/>
            <a:ext cx="4160520" cy="694944"/>
          </a:xfrm>
          <a:prstGeom prst="rect">
            <a:avLst/>
          </a:prstGeom>
          <a:solidFill>
            <a:srgbClr val="FFFFFF"/>
          </a:solidFill>
          <a:ln w="762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68" name="TextBox 67"/>
          <p:cNvSpPr txBox="1"/>
          <p:nvPr/>
        </p:nvSpPr>
        <p:spPr>
          <a:xfrm>
            <a:off x="7013448" y="4315968"/>
            <a:ext cx="401421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10" b="0" i="0" noProof="0" dirty="0">
                <a:solidFill>
                  <a:srgbClr val="283442"/>
                </a:solidFill>
                <a:latin typeface="Aptos"/>
              </a:rPr>
              <a:t>Start with one voluntary pilot course.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76072" y="4937759"/>
            <a:ext cx="2057400" cy="694944"/>
          </a:xfrm>
          <a:prstGeom prst="rect">
            <a:avLst/>
          </a:prstGeom>
          <a:solidFill>
            <a:srgbClr val="F6F8FB"/>
          </a:solidFill>
          <a:ln w="762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70" name="TextBox 69"/>
          <p:cNvSpPr txBox="1"/>
          <p:nvPr/>
        </p:nvSpPr>
        <p:spPr>
          <a:xfrm>
            <a:off x="649224" y="5010912"/>
            <a:ext cx="191109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10" b="1" i="0" noProof="0" dirty="0">
                <a:solidFill>
                  <a:srgbClr val="132A43"/>
                </a:solidFill>
                <a:latin typeface="Aptos"/>
              </a:rPr>
              <a:t>Difficulty measuring impact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633472" y="4937759"/>
            <a:ext cx="2423160" cy="694944"/>
          </a:xfrm>
          <a:prstGeom prst="rect">
            <a:avLst/>
          </a:prstGeom>
          <a:solidFill>
            <a:srgbClr val="F6F8FB"/>
          </a:solidFill>
          <a:ln w="762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72" name="TextBox 71"/>
          <p:cNvSpPr txBox="1"/>
          <p:nvPr/>
        </p:nvSpPr>
        <p:spPr>
          <a:xfrm>
            <a:off x="2706624" y="5010912"/>
            <a:ext cx="2276856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10" b="0" i="0" noProof="0" dirty="0">
                <a:solidFill>
                  <a:srgbClr val="283442"/>
                </a:solidFill>
                <a:latin typeface="Aptos"/>
              </a:rPr>
              <a:t>Satisfaction does not necessarily mean better learning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056631" y="4937759"/>
            <a:ext cx="566928" cy="694944"/>
          </a:xfrm>
          <a:prstGeom prst="rect">
            <a:avLst/>
          </a:prstGeom>
          <a:solidFill>
            <a:srgbClr val="F6F8FB"/>
          </a:solidFill>
          <a:ln w="762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74" name="TextBox 73"/>
          <p:cNvSpPr txBox="1"/>
          <p:nvPr/>
        </p:nvSpPr>
        <p:spPr>
          <a:xfrm>
            <a:off x="5129783" y="5010912"/>
            <a:ext cx="420623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10" b="0" i="0" noProof="0" dirty="0">
                <a:solidFill>
                  <a:srgbClr val="283442"/>
                </a:solidFill>
                <a:latin typeface="Aptos"/>
              </a:rPr>
              <a:t>3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623559" y="4937759"/>
            <a:ext cx="566928" cy="694944"/>
          </a:xfrm>
          <a:prstGeom prst="rect">
            <a:avLst/>
          </a:prstGeom>
          <a:solidFill>
            <a:srgbClr val="F6F8FB"/>
          </a:solidFill>
          <a:ln w="762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76" name="TextBox 75"/>
          <p:cNvSpPr txBox="1"/>
          <p:nvPr/>
        </p:nvSpPr>
        <p:spPr>
          <a:xfrm>
            <a:off x="5696712" y="5010912"/>
            <a:ext cx="420623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10" b="0" i="0" noProof="0" dirty="0">
                <a:solidFill>
                  <a:srgbClr val="283442"/>
                </a:solidFill>
                <a:latin typeface="Aptos"/>
              </a:rPr>
              <a:t>4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190488" y="4937759"/>
            <a:ext cx="749808" cy="694944"/>
          </a:xfrm>
          <a:prstGeom prst="rect">
            <a:avLst/>
          </a:prstGeom>
          <a:solidFill>
            <a:srgbClr val="F6F8FB"/>
          </a:solidFill>
          <a:ln w="762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78" name="TextBox 77"/>
          <p:cNvSpPr txBox="1"/>
          <p:nvPr/>
        </p:nvSpPr>
        <p:spPr>
          <a:xfrm>
            <a:off x="6263640" y="5010912"/>
            <a:ext cx="603503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10" b="1" i="0" noProof="0" dirty="0">
                <a:solidFill>
                  <a:srgbClr val="D08D32"/>
                </a:solidFill>
                <a:latin typeface="Aptos"/>
              </a:rPr>
              <a:t>12 · H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940296" y="4937759"/>
            <a:ext cx="4160520" cy="694944"/>
          </a:xfrm>
          <a:prstGeom prst="rect">
            <a:avLst/>
          </a:prstGeom>
          <a:solidFill>
            <a:srgbClr val="F6F8FB"/>
          </a:solidFill>
          <a:ln w="762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80" name="TextBox 79"/>
          <p:cNvSpPr txBox="1"/>
          <p:nvPr/>
        </p:nvSpPr>
        <p:spPr>
          <a:xfrm>
            <a:off x="7013448" y="5010912"/>
            <a:ext cx="401421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10" b="0" i="0" noProof="0" dirty="0">
                <a:solidFill>
                  <a:srgbClr val="283442"/>
                </a:solidFill>
                <a:latin typeface="Aptos"/>
              </a:rPr>
              <a:t>Use a short task completed without AI in addition to the questionnaire.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21792" y="5980176"/>
            <a:ext cx="10881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890" b="0" i="0" noProof="0" dirty="0">
                <a:solidFill>
                  <a:srgbClr val="667585"/>
                </a:solidFill>
                <a:latin typeface="Aptos"/>
              </a:rPr>
              <a:t>Categories: 1–4 low · 5–9 medium (M) · 10–15 high (H) · 16–25 critical (C). The highest priority is working with instructors on long-term assessment changes.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A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521207" y="6519672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750" b="1" i="0" noProof="0" dirty="0">
                <a:solidFill>
                  <a:srgbClr val="667585"/>
                </a:solidFill>
                <a:latin typeface="Aptos"/>
              </a:rPr>
              <a:t>TEAM 10  ·  BACKUP SLIDE  ·  SHOW ONLY IF NEEDED FOR DISCUSSION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46888"/>
            <a:ext cx="1024128" cy="256032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278892"/>
            <a:ext cx="932688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00" b="1" i="0" noProof="0" dirty="0">
                <a:solidFill>
                  <a:srgbClr val="3669BE"/>
                </a:solidFill>
                <a:latin typeface="Aptos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0642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2600" b="1" i="0" noProof="0" dirty="0">
                <a:solidFill>
                  <a:srgbClr val="132A43"/>
                </a:solidFill>
                <a:latin typeface="Aptos Display"/>
              </a:rPr>
              <a:t>Decision matrix: comparing the 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88136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150" b="0" i="0" noProof="0" dirty="0">
                <a:solidFill>
                  <a:srgbClr val="667585"/>
                </a:solidFill>
                <a:latin typeface="Aptos"/>
              </a:rPr>
              <a:t>Illustrative team ratings on a 1–5 scale (5 = most favourable); these are not questionnaire results.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426464"/>
            <a:ext cx="11183112" cy="0"/>
          </a:xfrm>
          <a:prstGeom prst="line">
            <a:avLst/>
          </a:prstGeom>
          <a:ln w="11430">
            <a:solidFill>
              <a:srgbClr val="DA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1402568" y="265176"/>
            <a:ext cx="118872" cy="118872"/>
          </a:xfrm>
          <a:prstGeom prst="ellipse">
            <a:avLst/>
          </a:prstGeom>
          <a:solidFill>
            <a:srgbClr val="1F8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8" name="Oval 7"/>
          <p:cNvSpPr/>
          <p:nvPr/>
        </p:nvSpPr>
        <p:spPr>
          <a:xfrm>
            <a:off x="11548872" y="265176"/>
            <a:ext cx="118872" cy="118872"/>
          </a:xfrm>
          <a:prstGeom prst="ellipse">
            <a:avLst/>
          </a:prstGeom>
          <a:solidFill>
            <a:srgbClr val="3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9" name="Rectangle 8"/>
          <p:cNvSpPr/>
          <p:nvPr/>
        </p:nvSpPr>
        <p:spPr>
          <a:xfrm>
            <a:off x="640080" y="1847088"/>
            <a:ext cx="2880360" cy="493776"/>
          </a:xfrm>
          <a:prstGeom prst="rect">
            <a:avLst/>
          </a:prstGeom>
          <a:solidFill>
            <a:srgbClr val="3669BE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694944" y="1956816"/>
            <a:ext cx="277063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19" b="1" i="0" noProof="0" dirty="0">
                <a:solidFill>
                  <a:srgbClr val="FFFFFF"/>
                </a:solidFill>
                <a:latin typeface="Aptos"/>
              </a:rPr>
              <a:t>OPTION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39" y="1847088"/>
            <a:ext cx="1463040" cy="493776"/>
          </a:xfrm>
          <a:prstGeom prst="rect">
            <a:avLst/>
          </a:prstGeom>
          <a:solidFill>
            <a:srgbClr val="3669BE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3575303" y="1956816"/>
            <a:ext cx="135331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19" b="1" i="0" noProof="0" dirty="0">
                <a:solidFill>
                  <a:srgbClr val="FFFFFF"/>
                </a:solidFill>
                <a:latin typeface="Aptos"/>
              </a:rPr>
              <a:t>EFFECTIVENESS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83479" y="1847088"/>
            <a:ext cx="1463040" cy="493776"/>
          </a:xfrm>
          <a:prstGeom prst="rect">
            <a:avLst/>
          </a:prstGeom>
          <a:solidFill>
            <a:srgbClr val="3669BE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5038343" y="1956816"/>
            <a:ext cx="135331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19" b="1" i="0" noProof="0" dirty="0">
                <a:solidFill>
                  <a:srgbClr val="FFFFFF"/>
                </a:solidFill>
                <a:latin typeface="Aptos"/>
              </a:rPr>
              <a:t>FEASIBILITY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19" y="1847088"/>
            <a:ext cx="1463040" cy="493776"/>
          </a:xfrm>
          <a:prstGeom prst="rect">
            <a:avLst/>
          </a:prstGeom>
          <a:solidFill>
            <a:srgbClr val="3669BE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6501383" y="1956816"/>
            <a:ext cx="135331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19" b="1" i="0" noProof="0" dirty="0">
                <a:solidFill>
                  <a:srgbClr val="FFFFFF"/>
                </a:solidFill>
                <a:latin typeface="Aptos"/>
              </a:rPr>
              <a:t>COST*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09559" y="1847088"/>
            <a:ext cx="1463040" cy="493776"/>
          </a:xfrm>
          <a:prstGeom prst="rect">
            <a:avLst/>
          </a:prstGeom>
          <a:solidFill>
            <a:srgbClr val="3669BE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7964423" y="1956816"/>
            <a:ext cx="135331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19" b="1" i="0" noProof="0" dirty="0">
                <a:solidFill>
                  <a:srgbClr val="FFFFFF"/>
                </a:solidFill>
                <a:latin typeface="Aptos"/>
              </a:rPr>
              <a:t>SCALABILITY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340864"/>
            <a:ext cx="2880360" cy="621792"/>
          </a:xfrm>
          <a:prstGeom prst="rect">
            <a:avLst/>
          </a:prstGeom>
          <a:solidFill>
            <a:srgbClr val="F6F8FB"/>
          </a:solidFill>
          <a:ln w="8255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713231" y="2459736"/>
            <a:ext cx="2734056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200" b="1" i="0" noProof="0" dirty="0">
                <a:solidFill>
                  <a:srgbClr val="132A43"/>
                </a:solidFill>
                <a:latin typeface="Aptos"/>
              </a:rPr>
              <a:t>A · Study guide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20439" y="2340864"/>
            <a:ext cx="1463040" cy="621792"/>
          </a:xfrm>
          <a:prstGeom prst="rect">
            <a:avLst/>
          </a:prstGeom>
          <a:solidFill>
            <a:srgbClr val="F6F8FB"/>
          </a:solidFill>
          <a:ln w="8255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2" name="TextBox 21"/>
          <p:cNvSpPr txBox="1"/>
          <p:nvPr/>
        </p:nvSpPr>
        <p:spPr>
          <a:xfrm>
            <a:off x="3593591" y="2459736"/>
            <a:ext cx="1316736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200" b="1" i="0" noProof="0" dirty="0">
                <a:solidFill>
                  <a:srgbClr val="D08D32"/>
                </a:solidFill>
                <a:latin typeface="Aptos"/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83479" y="2340864"/>
            <a:ext cx="1463040" cy="621792"/>
          </a:xfrm>
          <a:prstGeom prst="rect">
            <a:avLst/>
          </a:prstGeom>
          <a:solidFill>
            <a:srgbClr val="F6F8FB"/>
          </a:solidFill>
          <a:ln w="8255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4" name="TextBox 23"/>
          <p:cNvSpPr txBox="1"/>
          <p:nvPr/>
        </p:nvSpPr>
        <p:spPr>
          <a:xfrm>
            <a:off x="5056631" y="2459736"/>
            <a:ext cx="1316736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200" b="1" i="0" noProof="0" dirty="0">
                <a:solidFill>
                  <a:srgbClr val="1F8E89"/>
                </a:solidFill>
                <a:latin typeface="Aptos"/>
              </a:rPr>
              <a:t>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19" y="2340864"/>
            <a:ext cx="1463040" cy="621792"/>
          </a:xfrm>
          <a:prstGeom prst="rect">
            <a:avLst/>
          </a:prstGeom>
          <a:solidFill>
            <a:srgbClr val="F6F8FB"/>
          </a:solidFill>
          <a:ln w="8255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6" name="TextBox 25"/>
          <p:cNvSpPr txBox="1"/>
          <p:nvPr/>
        </p:nvSpPr>
        <p:spPr>
          <a:xfrm>
            <a:off x="6519671" y="2459736"/>
            <a:ext cx="1316736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200" b="1" i="0" noProof="0" dirty="0">
                <a:solidFill>
                  <a:srgbClr val="1F8E89"/>
                </a:solidFill>
                <a:latin typeface="Aptos"/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09559" y="2340864"/>
            <a:ext cx="1463040" cy="621792"/>
          </a:xfrm>
          <a:prstGeom prst="rect">
            <a:avLst/>
          </a:prstGeom>
          <a:solidFill>
            <a:srgbClr val="F6F8FB"/>
          </a:solidFill>
          <a:ln w="8255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8" name="TextBox 27"/>
          <p:cNvSpPr txBox="1"/>
          <p:nvPr/>
        </p:nvSpPr>
        <p:spPr>
          <a:xfrm>
            <a:off x="7982711" y="2459736"/>
            <a:ext cx="1316736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200" b="1" i="0" noProof="0" dirty="0">
                <a:solidFill>
                  <a:srgbClr val="1F8E89"/>
                </a:solidFill>
                <a:latin typeface="Aptos"/>
              </a:rPr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2962656"/>
            <a:ext cx="2880360" cy="621792"/>
          </a:xfrm>
          <a:prstGeom prst="rect">
            <a:avLst/>
          </a:prstGeom>
          <a:solidFill>
            <a:srgbClr val="FFFFFF"/>
          </a:solidFill>
          <a:ln w="8255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30" name="TextBox 29"/>
          <p:cNvSpPr txBox="1"/>
          <p:nvPr/>
        </p:nvSpPr>
        <p:spPr>
          <a:xfrm>
            <a:off x="713231" y="3081528"/>
            <a:ext cx="2734056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200" b="1" i="0" noProof="0" dirty="0">
                <a:solidFill>
                  <a:srgbClr val="132A43"/>
                </a:solidFill>
                <a:latin typeface="Aptos"/>
              </a:rPr>
              <a:t>B · Practical workshop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0439" y="2962656"/>
            <a:ext cx="1463040" cy="621792"/>
          </a:xfrm>
          <a:prstGeom prst="rect">
            <a:avLst/>
          </a:prstGeom>
          <a:solidFill>
            <a:srgbClr val="FFFFFF"/>
          </a:solidFill>
          <a:ln w="8255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32" name="TextBox 31"/>
          <p:cNvSpPr txBox="1"/>
          <p:nvPr/>
        </p:nvSpPr>
        <p:spPr>
          <a:xfrm>
            <a:off x="3593591" y="3081528"/>
            <a:ext cx="1316736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200" b="1" i="0" noProof="0" dirty="0">
                <a:solidFill>
                  <a:srgbClr val="1F8E89"/>
                </a:solidFill>
                <a:latin typeface="Aptos"/>
              </a:rPr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79" y="2962656"/>
            <a:ext cx="1463040" cy="621792"/>
          </a:xfrm>
          <a:prstGeom prst="rect">
            <a:avLst/>
          </a:prstGeom>
          <a:solidFill>
            <a:srgbClr val="FFFFFF"/>
          </a:solidFill>
          <a:ln w="8255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34" name="TextBox 33"/>
          <p:cNvSpPr txBox="1"/>
          <p:nvPr/>
        </p:nvSpPr>
        <p:spPr>
          <a:xfrm>
            <a:off x="5056631" y="3081528"/>
            <a:ext cx="1316736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200" b="1" i="0" noProof="0" dirty="0">
                <a:solidFill>
                  <a:srgbClr val="1F8E89"/>
                </a:solidFill>
                <a:latin typeface="Aptos"/>
              </a:rPr>
              <a:t>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46519" y="2962656"/>
            <a:ext cx="1463040" cy="621792"/>
          </a:xfrm>
          <a:prstGeom prst="rect">
            <a:avLst/>
          </a:prstGeom>
          <a:solidFill>
            <a:srgbClr val="FFFFFF"/>
          </a:solidFill>
          <a:ln w="8255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36" name="TextBox 35"/>
          <p:cNvSpPr txBox="1"/>
          <p:nvPr/>
        </p:nvSpPr>
        <p:spPr>
          <a:xfrm>
            <a:off x="6519671" y="3081528"/>
            <a:ext cx="1316736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200" b="1" i="0" noProof="0" dirty="0">
                <a:solidFill>
                  <a:srgbClr val="D08D32"/>
                </a:solidFill>
                <a:latin typeface="Aptos"/>
              </a:rPr>
              <a:t>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09559" y="2962656"/>
            <a:ext cx="1463040" cy="621792"/>
          </a:xfrm>
          <a:prstGeom prst="rect">
            <a:avLst/>
          </a:prstGeom>
          <a:solidFill>
            <a:srgbClr val="FFFFFF"/>
          </a:solidFill>
          <a:ln w="8255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38" name="TextBox 37"/>
          <p:cNvSpPr txBox="1"/>
          <p:nvPr/>
        </p:nvSpPr>
        <p:spPr>
          <a:xfrm>
            <a:off x="7982711" y="3081528"/>
            <a:ext cx="1316736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200" b="1" i="0" noProof="0" dirty="0">
                <a:solidFill>
                  <a:srgbClr val="D08D32"/>
                </a:solidFill>
                <a:latin typeface="Aptos"/>
              </a:rPr>
              <a:t>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3584448"/>
            <a:ext cx="2880360" cy="621792"/>
          </a:xfrm>
          <a:prstGeom prst="rect">
            <a:avLst/>
          </a:prstGeom>
          <a:solidFill>
            <a:srgbClr val="F6F8FB"/>
          </a:solidFill>
          <a:ln w="8255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40" name="TextBox 39"/>
          <p:cNvSpPr txBox="1"/>
          <p:nvPr/>
        </p:nvSpPr>
        <p:spPr>
          <a:xfrm>
            <a:off x="713231" y="3703320"/>
            <a:ext cx="2734056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200" b="1" i="0" noProof="0" dirty="0">
                <a:solidFill>
                  <a:srgbClr val="132A43"/>
                </a:solidFill>
                <a:latin typeface="Aptos"/>
              </a:rPr>
              <a:t>C · Assessment design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39" y="3584448"/>
            <a:ext cx="1463040" cy="621792"/>
          </a:xfrm>
          <a:prstGeom prst="rect">
            <a:avLst/>
          </a:prstGeom>
          <a:solidFill>
            <a:srgbClr val="F6F8FB"/>
          </a:solidFill>
          <a:ln w="8255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42" name="TextBox 41"/>
          <p:cNvSpPr txBox="1"/>
          <p:nvPr/>
        </p:nvSpPr>
        <p:spPr>
          <a:xfrm>
            <a:off x="3593591" y="3703320"/>
            <a:ext cx="1316736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200" b="1" i="0" noProof="0" dirty="0">
                <a:solidFill>
                  <a:srgbClr val="1F8E89"/>
                </a:solidFill>
                <a:latin typeface="Aptos"/>
              </a:rPr>
              <a:t>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79" y="3584448"/>
            <a:ext cx="1463040" cy="621792"/>
          </a:xfrm>
          <a:prstGeom prst="rect">
            <a:avLst/>
          </a:prstGeom>
          <a:solidFill>
            <a:srgbClr val="F6F8FB"/>
          </a:solidFill>
          <a:ln w="8255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44" name="TextBox 43"/>
          <p:cNvSpPr txBox="1"/>
          <p:nvPr/>
        </p:nvSpPr>
        <p:spPr>
          <a:xfrm>
            <a:off x="5056631" y="3703320"/>
            <a:ext cx="1316736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200" b="1" i="0" noProof="0" dirty="0">
                <a:solidFill>
                  <a:srgbClr val="B84F4F"/>
                </a:solidFill>
                <a:latin typeface="Aptos"/>
              </a:rPr>
              <a:t>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46519" y="3584448"/>
            <a:ext cx="1463040" cy="621792"/>
          </a:xfrm>
          <a:prstGeom prst="rect">
            <a:avLst/>
          </a:prstGeom>
          <a:solidFill>
            <a:srgbClr val="F6F8FB"/>
          </a:solidFill>
          <a:ln w="8255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46" name="TextBox 45"/>
          <p:cNvSpPr txBox="1"/>
          <p:nvPr/>
        </p:nvSpPr>
        <p:spPr>
          <a:xfrm>
            <a:off x="6519671" y="3703320"/>
            <a:ext cx="1316736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200" b="1" i="0" noProof="0" dirty="0">
                <a:solidFill>
                  <a:srgbClr val="B84F4F"/>
                </a:solidFill>
                <a:latin typeface="Aptos"/>
              </a:rPr>
              <a:t>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909559" y="3584448"/>
            <a:ext cx="1463040" cy="621792"/>
          </a:xfrm>
          <a:prstGeom prst="rect">
            <a:avLst/>
          </a:prstGeom>
          <a:solidFill>
            <a:srgbClr val="F6F8FB"/>
          </a:solidFill>
          <a:ln w="8255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48" name="TextBox 47"/>
          <p:cNvSpPr txBox="1"/>
          <p:nvPr/>
        </p:nvSpPr>
        <p:spPr>
          <a:xfrm>
            <a:off x="7982711" y="3703320"/>
            <a:ext cx="1316736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200" b="1" i="0" noProof="0" dirty="0">
                <a:solidFill>
                  <a:srgbClr val="1F8E89"/>
                </a:solidFill>
                <a:latin typeface="Aptos"/>
              </a:rPr>
              <a:t>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" y="4206240"/>
            <a:ext cx="2880360" cy="621792"/>
          </a:xfrm>
          <a:prstGeom prst="rect">
            <a:avLst/>
          </a:prstGeom>
          <a:solidFill>
            <a:srgbClr val="FFFFFF"/>
          </a:solidFill>
          <a:ln w="8255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50" name="TextBox 49"/>
          <p:cNvSpPr txBox="1"/>
          <p:nvPr/>
        </p:nvSpPr>
        <p:spPr>
          <a:xfrm>
            <a:off x="713231" y="4325112"/>
            <a:ext cx="2734056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200" b="1" i="0" noProof="0" dirty="0">
                <a:solidFill>
                  <a:srgbClr val="132A43"/>
                </a:solidFill>
                <a:latin typeface="Aptos"/>
              </a:rPr>
              <a:t>D · Current approach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20439" y="4206240"/>
            <a:ext cx="1463040" cy="621792"/>
          </a:xfrm>
          <a:prstGeom prst="rect">
            <a:avLst/>
          </a:prstGeom>
          <a:solidFill>
            <a:srgbClr val="FFFFFF"/>
          </a:solidFill>
          <a:ln w="8255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52" name="TextBox 51"/>
          <p:cNvSpPr txBox="1"/>
          <p:nvPr/>
        </p:nvSpPr>
        <p:spPr>
          <a:xfrm>
            <a:off x="3593591" y="4325112"/>
            <a:ext cx="1316736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200" b="1" i="0" noProof="0" dirty="0">
                <a:solidFill>
                  <a:srgbClr val="B84F4F"/>
                </a:solidFill>
                <a:latin typeface="Aptos"/>
              </a:rPr>
              <a:t>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983479" y="4206240"/>
            <a:ext cx="1463040" cy="621792"/>
          </a:xfrm>
          <a:prstGeom prst="rect">
            <a:avLst/>
          </a:prstGeom>
          <a:solidFill>
            <a:srgbClr val="FFFFFF"/>
          </a:solidFill>
          <a:ln w="8255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54" name="TextBox 53"/>
          <p:cNvSpPr txBox="1"/>
          <p:nvPr/>
        </p:nvSpPr>
        <p:spPr>
          <a:xfrm>
            <a:off x="5056631" y="4325112"/>
            <a:ext cx="1316736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200" b="1" i="0" noProof="0" dirty="0">
                <a:solidFill>
                  <a:srgbClr val="1F8E89"/>
                </a:solidFill>
                <a:latin typeface="Aptos"/>
              </a:rPr>
              <a:t>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46519" y="4206240"/>
            <a:ext cx="1463040" cy="621792"/>
          </a:xfrm>
          <a:prstGeom prst="rect">
            <a:avLst/>
          </a:prstGeom>
          <a:solidFill>
            <a:srgbClr val="FFFFFF"/>
          </a:solidFill>
          <a:ln w="8255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56" name="TextBox 55"/>
          <p:cNvSpPr txBox="1"/>
          <p:nvPr/>
        </p:nvSpPr>
        <p:spPr>
          <a:xfrm>
            <a:off x="6519671" y="4325112"/>
            <a:ext cx="1316736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200" b="1" i="0" noProof="0" dirty="0">
                <a:solidFill>
                  <a:srgbClr val="1F8E89"/>
                </a:solidFill>
                <a:latin typeface="Aptos"/>
              </a:rPr>
              <a:t>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909559" y="4206240"/>
            <a:ext cx="1463040" cy="621792"/>
          </a:xfrm>
          <a:prstGeom prst="rect">
            <a:avLst/>
          </a:prstGeom>
          <a:solidFill>
            <a:srgbClr val="FFFFFF"/>
          </a:solidFill>
          <a:ln w="8255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58" name="TextBox 57"/>
          <p:cNvSpPr txBox="1"/>
          <p:nvPr/>
        </p:nvSpPr>
        <p:spPr>
          <a:xfrm>
            <a:off x="7982711" y="4325112"/>
            <a:ext cx="1316736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200" b="1" i="0" noProof="0" dirty="0">
                <a:solidFill>
                  <a:srgbClr val="B84F4F"/>
                </a:solidFill>
                <a:latin typeface="Aptos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9536" y="5120640"/>
            <a:ext cx="105156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80" b="0" i="0" noProof="0" dirty="0">
                <a:solidFill>
                  <a:srgbClr val="132A43"/>
                </a:solidFill>
                <a:latin typeface="Aptos"/>
              </a:rPr>
              <a:t>Interpretation: the guide is the easiest starting point, the workshop enables practical training, and assessment changes have long-term potential but require cooperation from FIS. A phased combination is therefore proposed rather than choosing a single option.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4944" y="5961888"/>
            <a:ext cx="10789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869" b="0" i="0" noProof="0" dirty="0">
                <a:solidFill>
                  <a:srgbClr val="667585"/>
                </a:solidFill>
                <a:latin typeface="Aptos"/>
              </a:rPr>
              <a:t>* For cost, 5 means low cost / low effort. Ratings reflect the team’s judgment, not objective measurements.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A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521207" y="6519672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750" b="1" i="0" noProof="0" dirty="0">
                <a:solidFill>
                  <a:srgbClr val="667585"/>
                </a:solidFill>
                <a:latin typeface="Aptos"/>
              </a:rPr>
              <a:t>TEAM 10  ·  BACKUP SLIDE  ·  SHOW ONLY IF NEEDED FOR DISCUSSION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46888"/>
            <a:ext cx="1024128" cy="256032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278892"/>
            <a:ext cx="932688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00" b="1" i="0" noProof="0" dirty="0">
                <a:solidFill>
                  <a:srgbClr val="3669BE"/>
                </a:solidFill>
                <a:latin typeface="Aptos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0642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2600" b="1" i="0" noProof="0" dirty="0">
                <a:solidFill>
                  <a:srgbClr val="132A43"/>
                </a:solidFill>
                <a:latin typeface="Aptos Display"/>
              </a:rPr>
              <a:t>What does external research say?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88136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150" b="0" i="0" noProof="0" dirty="0">
                <a:solidFill>
                  <a:srgbClr val="667585"/>
                </a:solidFill>
                <a:latin typeface="Aptos"/>
              </a:rPr>
              <a:t>The studies support the principles behind the proposed solution, but do not directly test the intervention at FIS.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426464"/>
            <a:ext cx="11183112" cy="0"/>
          </a:xfrm>
          <a:prstGeom prst="line">
            <a:avLst/>
          </a:prstGeom>
          <a:ln w="11430">
            <a:solidFill>
              <a:srgbClr val="DA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1402568" y="265176"/>
            <a:ext cx="118872" cy="118872"/>
          </a:xfrm>
          <a:prstGeom prst="ellipse">
            <a:avLst/>
          </a:prstGeom>
          <a:solidFill>
            <a:srgbClr val="1F8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8" name="Oval 7"/>
          <p:cNvSpPr/>
          <p:nvPr/>
        </p:nvSpPr>
        <p:spPr>
          <a:xfrm>
            <a:off x="11548872" y="265176"/>
            <a:ext cx="118872" cy="118872"/>
          </a:xfrm>
          <a:prstGeom prst="ellipse">
            <a:avLst/>
          </a:prstGeom>
          <a:solidFill>
            <a:srgbClr val="3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9" name="Rounded Rectangle 8"/>
          <p:cNvSpPr/>
          <p:nvPr/>
        </p:nvSpPr>
        <p:spPr>
          <a:xfrm>
            <a:off x="594360" y="1691640"/>
            <a:ext cx="5376672" cy="1828800"/>
          </a:xfrm>
          <a:prstGeom prst="roundRect">
            <a:avLst/>
          </a:prstGeom>
          <a:solidFill>
            <a:srgbClr val="EFF5FC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0" name="Rounded Rectangle 9"/>
          <p:cNvSpPr/>
          <p:nvPr/>
        </p:nvSpPr>
        <p:spPr>
          <a:xfrm>
            <a:off x="594360" y="1691640"/>
            <a:ext cx="68580" cy="1828800"/>
          </a:xfrm>
          <a:prstGeom prst="roundRect">
            <a:avLst/>
          </a:prstGeom>
          <a:solidFill>
            <a:srgbClr val="3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758952" y="1801368"/>
            <a:ext cx="50840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300" b="1" i="0" noProof="0" dirty="0">
                <a:solidFill>
                  <a:srgbClr val="3669BE"/>
                </a:solidFill>
                <a:latin typeface="Aptos"/>
              </a:rPr>
              <a:t>BASTANI ET AL. (2025)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121408"/>
            <a:ext cx="5084064" cy="131673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40" b="0" i="0" noProof="0" dirty="0">
                <a:solidFill>
                  <a:srgbClr val="283442"/>
                </a:solidFill>
                <a:latin typeface="Aptos"/>
              </a:rPr>
              <a:t>A randomized experiment in high-school mathematics found that standard AI improved practice performance, but students performed worse on a later test without AI. An AI tutor providing hints did not show the same statistically significant negative difference.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691640"/>
            <a:ext cx="5376672" cy="182880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4" name="Rounded Rectangle 13"/>
          <p:cNvSpPr/>
          <p:nvPr/>
        </p:nvSpPr>
        <p:spPr>
          <a:xfrm>
            <a:off x="6199632" y="1691640"/>
            <a:ext cx="68580" cy="1828800"/>
          </a:xfrm>
          <a:prstGeom prst="roundRect">
            <a:avLst/>
          </a:prstGeom>
          <a:solidFill>
            <a:srgbClr val="1F8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6364224" y="1801368"/>
            <a:ext cx="50840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300" b="1" i="0" noProof="0" dirty="0">
                <a:solidFill>
                  <a:srgbClr val="1F8E89"/>
                </a:solidFill>
                <a:latin typeface="Aptos"/>
              </a:rPr>
              <a:t>PARDOS &amp; BHANDARI (2024)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2121408"/>
            <a:ext cx="5084064" cy="131673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40" b="0" i="0" noProof="0" dirty="0">
                <a:solidFill>
                  <a:srgbClr val="283442"/>
                </a:solidFill>
                <a:latin typeface="Aptos"/>
              </a:rPr>
              <a:t>ChatGPT-generated hints produced learning gains comparable to hints written by human tutors for math problems. However, some hints contained errors, reinforcing the need for verification.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749039"/>
            <a:ext cx="5376672" cy="1645920"/>
          </a:xfrm>
          <a:prstGeom prst="roundRect">
            <a:avLst/>
          </a:prstGeom>
          <a:solidFill>
            <a:srgbClr val="FCF6EB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8" name="Rounded Rectangle 17"/>
          <p:cNvSpPr/>
          <p:nvPr/>
        </p:nvSpPr>
        <p:spPr>
          <a:xfrm>
            <a:off x="594360" y="3749039"/>
            <a:ext cx="68580" cy="1645920"/>
          </a:xfrm>
          <a:prstGeom prst="roundRect">
            <a:avLst/>
          </a:prstGeom>
          <a:solidFill>
            <a:srgbClr val="D08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758952" y="3858768"/>
            <a:ext cx="50840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250" b="1" i="0" noProof="0" dirty="0">
                <a:solidFill>
                  <a:srgbClr val="D08D32"/>
                </a:solidFill>
                <a:latin typeface="Aptos"/>
              </a:rPr>
              <a:t>AN ET AL. (2026)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178807"/>
            <a:ext cx="5084064" cy="113385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10" b="0" i="0" noProof="0" dirty="0">
                <a:solidFill>
                  <a:srgbClr val="283442"/>
                </a:solidFill>
                <a:latin typeface="Aptos"/>
              </a:rPr>
              <a:t>A systematic review summarizes possible factors and consequences of students’ overreliance on generative AI. It provides broader context, not proof of specific causes among first-year FIS students.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3749039"/>
            <a:ext cx="5376672" cy="1645920"/>
          </a:xfrm>
          <a:prstGeom prst="roundRect">
            <a:avLst/>
          </a:prstGeom>
          <a:solidFill>
            <a:srgbClr val="EFF5FC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2" name="Rounded Rectangle 21"/>
          <p:cNvSpPr/>
          <p:nvPr/>
        </p:nvSpPr>
        <p:spPr>
          <a:xfrm>
            <a:off x="6199632" y="3749039"/>
            <a:ext cx="68580" cy="1645920"/>
          </a:xfrm>
          <a:prstGeom prst="roundRect">
            <a:avLst/>
          </a:prstGeom>
          <a:solidFill>
            <a:srgbClr val="3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3" name="TextBox 22"/>
          <p:cNvSpPr txBox="1"/>
          <p:nvPr/>
        </p:nvSpPr>
        <p:spPr>
          <a:xfrm>
            <a:off x="6364224" y="3858768"/>
            <a:ext cx="50840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250" b="1" i="0" noProof="0" dirty="0">
                <a:solidFill>
                  <a:srgbClr val="3669BE"/>
                </a:solidFill>
                <a:latin typeface="Aptos"/>
              </a:rPr>
              <a:t>ABBAS ET AL. (2024)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4178807"/>
            <a:ext cx="5084064" cy="113385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10" b="0" i="0" noProof="0" dirty="0">
                <a:solidFill>
                  <a:srgbClr val="283442"/>
                </a:solidFill>
                <a:latin typeface="Aptos"/>
              </a:rPr>
              <a:t>Research on university students examined motivations for and consequences of generative AI use. It is relevant to workload and convenience, but its findings cannot automatically be generalized to FIS.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5705856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50" b="0" i="0" noProof="0" dirty="0">
                <a:solidFill>
                  <a:srgbClr val="667585"/>
                </a:solidFill>
                <a:latin typeface="Aptos"/>
              </a:rPr>
              <a:t>Our conclusion: we do not claim that AI is always harmful. We focus on using it in ways that preserve independent attempts, hints, and verification.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A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21207" y="6519672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750" b="1" i="0" noProof="0" dirty="0">
                <a:solidFill>
                  <a:srgbClr val="667585"/>
                </a:solidFill>
                <a:latin typeface="Aptos"/>
              </a:rPr>
              <a:t>TEAM 10  ·  BACKUP SLIDE  ·  SHOW ONLY IF NEEDED FOR DISCUSSION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46888"/>
            <a:ext cx="1024128" cy="256032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278892"/>
            <a:ext cx="932688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00" b="1" i="0" noProof="0" dirty="0">
                <a:solidFill>
                  <a:srgbClr val="3669BE"/>
                </a:solidFill>
                <a:latin typeface="Aptos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0642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2600" b="1" i="0" noProof="0" dirty="0">
                <a:solidFill>
                  <a:srgbClr val="132A43"/>
                </a:solidFill>
                <a:latin typeface="Aptos Display"/>
              </a:rPr>
              <a:t>Solution example: the Try → Hint → Solve → Verify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88136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150" b="0" i="0" noProof="0" dirty="0">
                <a:solidFill>
                  <a:srgbClr val="667585"/>
                </a:solidFill>
                <a:latin typeface="Aptos"/>
              </a:rPr>
              <a:t>Example content for the one-page guide and workshop.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426464"/>
            <a:ext cx="11183112" cy="0"/>
          </a:xfrm>
          <a:prstGeom prst="line">
            <a:avLst/>
          </a:prstGeom>
          <a:ln w="11430">
            <a:solidFill>
              <a:srgbClr val="DA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1402568" y="265176"/>
            <a:ext cx="118872" cy="118872"/>
          </a:xfrm>
          <a:prstGeom prst="ellipse">
            <a:avLst/>
          </a:prstGeom>
          <a:solidFill>
            <a:srgbClr val="1F8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8" name="Oval 7"/>
          <p:cNvSpPr/>
          <p:nvPr/>
        </p:nvSpPr>
        <p:spPr>
          <a:xfrm>
            <a:off x="11548872" y="265176"/>
            <a:ext cx="118872" cy="118872"/>
          </a:xfrm>
          <a:prstGeom prst="ellipse">
            <a:avLst/>
          </a:prstGeom>
          <a:solidFill>
            <a:srgbClr val="3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9" name="Rounded Rectangle 8"/>
          <p:cNvSpPr/>
          <p:nvPr/>
        </p:nvSpPr>
        <p:spPr>
          <a:xfrm>
            <a:off x="612648" y="1719072"/>
            <a:ext cx="5321808" cy="1627632"/>
          </a:xfrm>
          <a:prstGeom prst="roundRect">
            <a:avLst/>
          </a:prstGeom>
          <a:solidFill>
            <a:srgbClr val="EFF5FC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0" name="Rounded Rectangle 9"/>
          <p:cNvSpPr/>
          <p:nvPr/>
        </p:nvSpPr>
        <p:spPr>
          <a:xfrm>
            <a:off x="612648" y="1719072"/>
            <a:ext cx="68580" cy="1627632"/>
          </a:xfrm>
          <a:prstGeom prst="roundRect">
            <a:avLst/>
          </a:prstGeom>
          <a:solidFill>
            <a:srgbClr val="3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300" b="1" i="0" noProof="0" dirty="0">
                <a:solidFill>
                  <a:srgbClr val="3669BE"/>
                </a:solidFill>
                <a:latin typeface="Aptos"/>
              </a:rPr>
              <a:t>1 · 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39"/>
            <a:ext cx="5029200" cy="11155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30" b="0" i="0" noProof="0" dirty="0">
                <a:solidFill>
                  <a:srgbClr val="283442"/>
                </a:solidFill>
                <a:latin typeface="Aptos"/>
              </a:rPr>
              <a:t>First, try the task on your own. Write down what you already know and where you get stuck.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endParaRPr lang="cs-CZ" sz="1030" b="0" i="0" noProof="0" dirty="0">
              <a:solidFill>
                <a:srgbClr val="283442"/>
              </a:solidFill>
              <a:latin typeface="Aptos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30" b="0" i="0" noProof="0" dirty="0">
                <a:solidFill>
                  <a:srgbClr val="283442"/>
                </a:solidFill>
                <a:latin typeface="Aptos"/>
              </a:rPr>
              <a:t>Do not start by immediately asking for the complete solution.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719072"/>
            <a:ext cx="5321808" cy="1627632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4" name="Rounded Rectangle 13"/>
          <p:cNvSpPr/>
          <p:nvPr/>
        </p:nvSpPr>
        <p:spPr>
          <a:xfrm>
            <a:off x="6217920" y="1719072"/>
            <a:ext cx="68580" cy="1627632"/>
          </a:xfrm>
          <a:prstGeom prst="roundRect">
            <a:avLst/>
          </a:prstGeom>
          <a:solidFill>
            <a:srgbClr val="1F8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6382512" y="182880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300" b="1" i="0" noProof="0" dirty="0">
                <a:solidFill>
                  <a:srgbClr val="1F8E89"/>
                </a:solidFill>
                <a:latin typeface="Aptos"/>
              </a:rPr>
              <a:t>2 · HINT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148839"/>
            <a:ext cx="5029200" cy="11155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30" b="0" i="0" noProof="0" dirty="0">
                <a:solidFill>
                  <a:srgbClr val="283442"/>
                </a:solidFill>
                <a:latin typeface="Aptos"/>
              </a:rPr>
              <a:t>Ask for a hint, not the final answer.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endParaRPr lang="cs-CZ" sz="1030" b="0" i="0" noProof="0" dirty="0">
              <a:solidFill>
                <a:srgbClr val="283442"/>
              </a:solidFill>
              <a:latin typeface="Aptos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30" b="0" i="0" noProof="0" dirty="0">
                <a:solidFill>
                  <a:srgbClr val="283442"/>
                </a:solidFill>
                <a:latin typeface="Aptos"/>
              </a:rPr>
              <a:t>Prompt: “</a:t>
            </a:r>
            <a:r>
              <a:rPr lang="cs-CZ" sz="1030" b="0" i="0" noProof="0" dirty="0" err="1">
                <a:solidFill>
                  <a:srgbClr val="283442"/>
                </a:solidFill>
                <a:latin typeface="Aptos"/>
              </a:rPr>
              <a:t>Give</a:t>
            </a:r>
            <a:r>
              <a:rPr lang="cs-CZ" sz="1030" b="0" i="0" noProof="0" dirty="0">
                <a:solidFill>
                  <a:srgbClr val="283442"/>
                </a:solidFill>
                <a:latin typeface="Aptos"/>
              </a:rPr>
              <a:t> </a:t>
            </a:r>
            <a:r>
              <a:rPr lang="cs-CZ" sz="1030" b="0" i="0" noProof="0" dirty="0" err="1">
                <a:solidFill>
                  <a:srgbClr val="283442"/>
                </a:solidFill>
                <a:latin typeface="Aptos"/>
              </a:rPr>
              <a:t>me</a:t>
            </a:r>
            <a:r>
              <a:rPr lang="cs-CZ" sz="1030" b="0" i="0" noProof="0" dirty="0">
                <a:solidFill>
                  <a:srgbClr val="283442"/>
                </a:solidFill>
                <a:latin typeface="Aptos"/>
              </a:rPr>
              <a:t> </a:t>
            </a:r>
            <a:r>
              <a:rPr lang="cs-CZ" sz="1030" b="0" i="0" noProof="0" dirty="0" err="1">
                <a:solidFill>
                  <a:srgbClr val="283442"/>
                </a:solidFill>
                <a:latin typeface="Aptos"/>
              </a:rPr>
              <a:t>one</a:t>
            </a:r>
            <a:r>
              <a:rPr lang="cs-CZ" sz="1030" b="0" i="0" noProof="0" dirty="0">
                <a:solidFill>
                  <a:srgbClr val="283442"/>
                </a:solidFill>
                <a:latin typeface="Aptos"/>
              </a:rPr>
              <a:t> </a:t>
            </a:r>
            <a:r>
              <a:rPr lang="cs-CZ" sz="1030" b="0" i="0" noProof="0" dirty="0" err="1">
                <a:solidFill>
                  <a:srgbClr val="283442"/>
                </a:solidFill>
                <a:latin typeface="Aptos"/>
              </a:rPr>
              <a:t>hint</a:t>
            </a:r>
            <a:r>
              <a:rPr lang="cs-CZ" sz="1030" b="0" i="0" noProof="0" dirty="0">
                <a:solidFill>
                  <a:srgbClr val="283442"/>
                </a:solidFill>
                <a:latin typeface="Aptos"/>
              </a:rPr>
              <a:t> </a:t>
            </a:r>
            <a:r>
              <a:rPr lang="cs-CZ" sz="1030" b="0" i="0" noProof="0" dirty="0" err="1">
                <a:solidFill>
                  <a:srgbClr val="283442"/>
                </a:solidFill>
                <a:latin typeface="Aptos"/>
              </a:rPr>
              <a:t>at</a:t>
            </a:r>
            <a:r>
              <a:rPr lang="cs-CZ" sz="1030" b="0" i="0" noProof="0" dirty="0">
                <a:solidFill>
                  <a:srgbClr val="283442"/>
                </a:solidFill>
                <a:latin typeface="Aptos"/>
              </a:rPr>
              <a:t> a </a:t>
            </a:r>
            <a:r>
              <a:rPr lang="cs-CZ" sz="1030" b="0" i="0" noProof="0" dirty="0" err="1">
                <a:solidFill>
                  <a:srgbClr val="283442"/>
                </a:solidFill>
                <a:latin typeface="Aptos"/>
              </a:rPr>
              <a:t>time</a:t>
            </a:r>
            <a:r>
              <a:rPr lang="cs-CZ" sz="1030" b="0" i="0" noProof="0" dirty="0">
                <a:solidFill>
                  <a:srgbClr val="283442"/>
                </a:solidFill>
                <a:latin typeface="Aptos"/>
              </a:rPr>
              <a:t>. Do not </a:t>
            </a:r>
            <a:r>
              <a:rPr lang="cs-CZ" sz="1030" b="0" i="0" noProof="0" dirty="0" err="1">
                <a:solidFill>
                  <a:srgbClr val="283442"/>
                </a:solidFill>
                <a:latin typeface="Aptos"/>
              </a:rPr>
              <a:t>reveal</a:t>
            </a:r>
            <a:r>
              <a:rPr lang="cs-CZ" sz="1030" b="0" i="0" noProof="0" dirty="0">
                <a:solidFill>
                  <a:srgbClr val="283442"/>
                </a:solidFill>
                <a:latin typeface="Aptos"/>
              </a:rPr>
              <a:t> </a:t>
            </a:r>
            <a:r>
              <a:rPr lang="cs-CZ" sz="1030" b="0" i="0" noProof="0" dirty="0" err="1">
                <a:solidFill>
                  <a:srgbClr val="283442"/>
                </a:solidFill>
                <a:latin typeface="Aptos"/>
              </a:rPr>
              <a:t>the</a:t>
            </a:r>
            <a:r>
              <a:rPr lang="cs-CZ" sz="1030" b="0" i="0" noProof="0" dirty="0">
                <a:solidFill>
                  <a:srgbClr val="283442"/>
                </a:solidFill>
                <a:latin typeface="Aptos"/>
              </a:rPr>
              <a:t> full </a:t>
            </a:r>
            <a:r>
              <a:rPr lang="cs-CZ" sz="1030" b="0" i="0" noProof="0" dirty="0" err="1">
                <a:solidFill>
                  <a:srgbClr val="283442"/>
                </a:solidFill>
                <a:latin typeface="Aptos"/>
              </a:rPr>
              <a:t>solution</a:t>
            </a:r>
            <a:r>
              <a:rPr lang="cs-CZ" sz="1030" b="0" i="0" noProof="0" dirty="0">
                <a:solidFill>
                  <a:srgbClr val="283442"/>
                </a:solidFill>
                <a:latin typeface="Aptos"/>
              </a:rPr>
              <a:t>.”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" y="3657600"/>
            <a:ext cx="5321808" cy="1627632"/>
          </a:xfrm>
          <a:prstGeom prst="roundRect">
            <a:avLst/>
          </a:prstGeom>
          <a:solidFill>
            <a:srgbClr val="FCF6EB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8" name="Rounded Rectangle 17"/>
          <p:cNvSpPr/>
          <p:nvPr/>
        </p:nvSpPr>
        <p:spPr>
          <a:xfrm>
            <a:off x="612648" y="3657600"/>
            <a:ext cx="68580" cy="1627632"/>
          </a:xfrm>
          <a:prstGeom prst="roundRect">
            <a:avLst/>
          </a:prstGeom>
          <a:solidFill>
            <a:srgbClr val="D08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777240" y="3767328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300" b="1" i="0" noProof="0" dirty="0">
                <a:solidFill>
                  <a:srgbClr val="D08D32"/>
                </a:solidFill>
                <a:latin typeface="Aptos"/>
              </a:rPr>
              <a:t>3 · SOLVE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087368"/>
            <a:ext cx="5029200" cy="11155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30" b="0" i="0" noProof="0" dirty="0">
                <a:solidFill>
                  <a:srgbClr val="283442"/>
                </a:solidFill>
                <a:latin typeface="Aptos"/>
              </a:rPr>
              <a:t>Solve the task in your own words or code, and explain your reasoning.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endParaRPr lang="cs-CZ" sz="1030" b="0" i="0" noProof="0" dirty="0">
              <a:solidFill>
                <a:srgbClr val="283442"/>
              </a:solidFill>
              <a:latin typeface="Aptos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30" b="0" i="0" noProof="0" dirty="0">
                <a:solidFill>
                  <a:srgbClr val="283442"/>
                </a:solidFill>
                <a:latin typeface="Aptos"/>
              </a:rPr>
              <a:t>Prompt: “</a:t>
            </a:r>
            <a:r>
              <a:rPr lang="cs-CZ" sz="1030" b="0" i="0" noProof="0" dirty="0" err="1">
                <a:solidFill>
                  <a:srgbClr val="283442"/>
                </a:solidFill>
                <a:latin typeface="Aptos"/>
              </a:rPr>
              <a:t>Ask</a:t>
            </a:r>
            <a:r>
              <a:rPr lang="cs-CZ" sz="1030" b="0" i="0" noProof="0" dirty="0">
                <a:solidFill>
                  <a:srgbClr val="283442"/>
                </a:solidFill>
                <a:latin typeface="Aptos"/>
              </a:rPr>
              <a:t> </a:t>
            </a:r>
            <a:r>
              <a:rPr lang="cs-CZ" sz="1030" b="0" i="0" noProof="0" dirty="0" err="1">
                <a:solidFill>
                  <a:srgbClr val="283442"/>
                </a:solidFill>
                <a:latin typeface="Aptos"/>
              </a:rPr>
              <a:t>me</a:t>
            </a:r>
            <a:r>
              <a:rPr lang="cs-CZ" sz="1030" b="0" i="0" noProof="0" dirty="0">
                <a:solidFill>
                  <a:srgbClr val="283442"/>
                </a:solidFill>
                <a:latin typeface="Aptos"/>
              </a:rPr>
              <a:t> </a:t>
            </a:r>
            <a:r>
              <a:rPr lang="cs-CZ" sz="1030" b="0" i="0" noProof="0" dirty="0" err="1">
                <a:solidFill>
                  <a:srgbClr val="283442"/>
                </a:solidFill>
                <a:latin typeface="Aptos"/>
              </a:rPr>
              <a:t>questions</a:t>
            </a:r>
            <a:r>
              <a:rPr lang="cs-CZ" sz="1030" b="0" i="0" noProof="0" dirty="0">
                <a:solidFill>
                  <a:srgbClr val="283442"/>
                </a:solidFill>
                <a:latin typeface="Aptos"/>
              </a:rPr>
              <a:t> </a:t>
            </a:r>
            <a:r>
              <a:rPr lang="cs-CZ" sz="1030" b="0" i="0" noProof="0" dirty="0" err="1">
                <a:solidFill>
                  <a:srgbClr val="283442"/>
                </a:solidFill>
                <a:latin typeface="Aptos"/>
              </a:rPr>
              <a:t>that</a:t>
            </a:r>
            <a:r>
              <a:rPr lang="cs-CZ" sz="1030" b="0" i="0" noProof="0" dirty="0">
                <a:solidFill>
                  <a:srgbClr val="283442"/>
                </a:solidFill>
                <a:latin typeface="Aptos"/>
              </a:rPr>
              <a:t> </a:t>
            </a:r>
            <a:r>
              <a:rPr lang="cs-CZ" sz="1030" b="0" i="0" noProof="0" dirty="0" err="1">
                <a:solidFill>
                  <a:srgbClr val="283442"/>
                </a:solidFill>
                <a:latin typeface="Aptos"/>
              </a:rPr>
              <a:t>help</a:t>
            </a:r>
            <a:r>
              <a:rPr lang="cs-CZ" sz="1030" b="0" i="0" noProof="0" dirty="0">
                <a:solidFill>
                  <a:srgbClr val="283442"/>
                </a:solidFill>
                <a:latin typeface="Aptos"/>
              </a:rPr>
              <a:t> </a:t>
            </a:r>
            <a:r>
              <a:rPr lang="cs-CZ" sz="1030" b="0" i="0" noProof="0" dirty="0" err="1">
                <a:solidFill>
                  <a:srgbClr val="283442"/>
                </a:solidFill>
                <a:latin typeface="Aptos"/>
              </a:rPr>
              <a:t>me</a:t>
            </a:r>
            <a:r>
              <a:rPr lang="cs-CZ" sz="1030" b="0" i="0" noProof="0" dirty="0">
                <a:solidFill>
                  <a:srgbClr val="283442"/>
                </a:solidFill>
                <a:latin typeface="Aptos"/>
              </a:rPr>
              <a:t> </a:t>
            </a:r>
            <a:r>
              <a:rPr lang="cs-CZ" sz="1030" b="0" i="0" noProof="0" dirty="0" err="1">
                <a:solidFill>
                  <a:srgbClr val="283442"/>
                </a:solidFill>
                <a:latin typeface="Aptos"/>
              </a:rPr>
              <a:t>solve</a:t>
            </a:r>
            <a:r>
              <a:rPr lang="cs-CZ" sz="1030" b="0" i="0" noProof="0" dirty="0">
                <a:solidFill>
                  <a:srgbClr val="283442"/>
                </a:solidFill>
                <a:latin typeface="Aptos"/>
              </a:rPr>
              <a:t> </a:t>
            </a:r>
            <a:r>
              <a:rPr lang="cs-CZ" sz="1030" b="0" i="0" noProof="0" dirty="0" err="1">
                <a:solidFill>
                  <a:srgbClr val="283442"/>
                </a:solidFill>
                <a:latin typeface="Aptos"/>
              </a:rPr>
              <a:t>it</a:t>
            </a:r>
            <a:r>
              <a:rPr lang="cs-CZ" sz="1030" b="0" i="0" noProof="0" dirty="0">
                <a:solidFill>
                  <a:srgbClr val="283442"/>
                </a:solidFill>
                <a:latin typeface="Aptos"/>
              </a:rPr>
              <a:t> </a:t>
            </a:r>
            <a:r>
              <a:rPr lang="cs-CZ" sz="1030" b="0" i="0" noProof="0" dirty="0" err="1">
                <a:solidFill>
                  <a:srgbClr val="283442"/>
                </a:solidFill>
                <a:latin typeface="Aptos"/>
              </a:rPr>
              <a:t>independently</a:t>
            </a:r>
            <a:r>
              <a:rPr lang="cs-CZ" sz="1030" b="0" i="0" noProof="0" dirty="0">
                <a:solidFill>
                  <a:srgbClr val="283442"/>
                </a:solidFill>
                <a:latin typeface="Aptos"/>
              </a:rPr>
              <a:t>.”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657600"/>
            <a:ext cx="5321808" cy="1627632"/>
          </a:xfrm>
          <a:prstGeom prst="roundRect">
            <a:avLst/>
          </a:prstGeom>
          <a:solidFill>
            <a:srgbClr val="EFF5FC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2" name="Rounded Rectangle 21"/>
          <p:cNvSpPr/>
          <p:nvPr/>
        </p:nvSpPr>
        <p:spPr>
          <a:xfrm>
            <a:off x="6217920" y="3657600"/>
            <a:ext cx="68580" cy="1627632"/>
          </a:xfrm>
          <a:prstGeom prst="roundRect">
            <a:avLst/>
          </a:prstGeom>
          <a:solidFill>
            <a:srgbClr val="3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3" name="TextBox 22"/>
          <p:cNvSpPr txBox="1"/>
          <p:nvPr/>
        </p:nvSpPr>
        <p:spPr>
          <a:xfrm>
            <a:off x="6382512" y="3767328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300" b="1" i="0" noProof="0" dirty="0">
                <a:solidFill>
                  <a:srgbClr val="3669BE"/>
                </a:solidFill>
                <a:latin typeface="Aptos"/>
              </a:rPr>
              <a:t>4 · VERIFY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4087368"/>
            <a:ext cx="5029200" cy="11155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30" b="0" i="0" noProof="0" dirty="0">
                <a:solidFill>
                  <a:srgbClr val="283442"/>
                </a:solidFill>
                <a:latin typeface="Aptos"/>
              </a:rPr>
              <a:t>Verify the result against course materials, calculations, tests, or a trustworthy source.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endParaRPr lang="cs-CZ" sz="1030" b="0" i="0" noProof="0" dirty="0">
              <a:solidFill>
                <a:srgbClr val="283442"/>
              </a:solidFill>
              <a:latin typeface="Aptos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30" b="0" i="0" noProof="0" dirty="0">
                <a:solidFill>
                  <a:srgbClr val="283442"/>
                </a:solidFill>
                <a:latin typeface="Aptos"/>
              </a:rPr>
              <a:t>Prompt: “</a:t>
            </a:r>
            <a:r>
              <a:rPr lang="cs-CZ" sz="1030" b="0" i="0" noProof="0" dirty="0" err="1">
                <a:solidFill>
                  <a:srgbClr val="283442"/>
                </a:solidFill>
                <a:latin typeface="Aptos"/>
              </a:rPr>
              <a:t>Review</a:t>
            </a:r>
            <a:r>
              <a:rPr lang="cs-CZ" sz="1030" b="0" i="0" noProof="0" dirty="0">
                <a:solidFill>
                  <a:srgbClr val="283442"/>
                </a:solidFill>
                <a:latin typeface="Aptos"/>
              </a:rPr>
              <a:t> my </a:t>
            </a:r>
            <a:r>
              <a:rPr lang="cs-CZ" sz="1030" b="0" i="0" noProof="0" dirty="0" err="1">
                <a:solidFill>
                  <a:srgbClr val="283442"/>
                </a:solidFill>
                <a:latin typeface="Aptos"/>
              </a:rPr>
              <a:t>attempt</a:t>
            </a:r>
            <a:r>
              <a:rPr lang="cs-CZ" sz="1030" b="0" i="0" noProof="0" dirty="0">
                <a:solidFill>
                  <a:srgbClr val="283442"/>
                </a:solidFill>
                <a:latin typeface="Aptos"/>
              </a:rPr>
              <a:t>, </a:t>
            </a:r>
            <a:r>
              <a:rPr lang="cs-CZ" sz="1030" b="0" i="0" noProof="0" dirty="0" err="1">
                <a:solidFill>
                  <a:srgbClr val="283442"/>
                </a:solidFill>
                <a:latin typeface="Aptos"/>
              </a:rPr>
              <a:t>identify</a:t>
            </a:r>
            <a:r>
              <a:rPr lang="cs-CZ" sz="1030" b="0" i="0" noProof="0" dirty="0">
                <a:solidFill>
                  <a:srgbClr val="283442"/>
                </a:solidFill>
                <a:latin typeface="Aptos"/>
              </a:rPr>
              <a:t> </a:t>
            </a:r>
            <a:r>
              <a:rPr lang="cs-CZ" sz="1030" b="0" i="0" noProof="0" dirty="0" err="1">
                <a:solidFill>
                  <a:srgbClr val="283442"/>
                </a:solidFill>
                <a:latin typeface="Aptos"/>
              </a:rPr>
              <a:t>possible</a:t>
            </a:r>
            <a:r>
              <a:rPr lang="cs-CZ" sz="1030" b="0" i="0" noProof="0" dirty="0">
                <a:solidFill>
                  <a:srgbClr val="283442"/>
                </a:solidFill>
                <a:latin typeface="Aptos"/>
              </a:rPr>
              <a:t> </a:t>
            </a:r>
            <a:r>
              <a:rPr lang="cs-CZ" sz="1030" b="0" i="0" noProof="0" dirty="0" err="1">
                <a:solidFill>
                  <a:srgbClr val="283442"/>
                </a:solidFill>
                <a:latin typeface="Aptos"/>
              </a:rPr>
              <a:t>errors</a:t>
            </a:r>
            <a:r>
              <a:rPr lang="cs-CZ" sz="1030" b="0" i="0" noProof="0" dirty="0">
                <a:solidFill>
                  <a:srgbClr val="283442"/>
                </a:solidFill>
                <a:latin typeface="Aptos"/>
              </a:rPr>
              <a:t>, and </a:t>
            </a:r>
            <a:r>
              <a:rPr lang="cs-CZ" sz="1030" b="0" i="0" noProof="0" dirty="0" err="1">
                <a:solidFill>
                  <a:srgbClr val="283442"/>
                </a:solidFill>
                <a:latin typeface="Aptos"/>
              </a:rPr>
              <a:t>explain</a:t>
            </a:r>
            <a:r>
              <a:rPr lang="cs-CZ" sz="1030" b="0" i="0" noProof="0" dirty="0">
                <a:solidFill>
                  <a:srgbClr val="283442"/>
                </a:solidFill>
                <a:latin typeface="Aptos"/>
              </a:rPr>
              <a:t> </a:t>
            </a:r>
            <a:r>
              <a:rPr lang="cs-CZ" sz="1030" b="0" i="0" noProof="0" dirty="0" err="1">
                <a:solidFill>
                  <a:srgbClr val="283442"/>
                </a:solidFill>
                <a:latin typeface="Aptos"/>
              </a:rPr>
              <a:t>how</a:t>
            </a:r>
            <a:r>
              <a:rPr lang="cs-CZ" sz="1030" b="0" i="0" noProof="0" dirty="0">
                <a:solidFill>
                  <a:srgbClr val="283442"/>
                </a:solidFill>
                <a:latin typeface="Aptos"/>
              </a:rPr>
              <a:t> I </a:t>
            </a:r>
            <a:r>
              <a:rPr lang="cs-CZ" sz="1030" b="0" i="0" noProof="0" dirty="0" err="1">
                <a:solidFill>
                  <a:srgbClr val="283442"/>
                </a:solidFill>
                <a:latin typeface="Aptos"/>
              </a:rPr>
              <a:t>can</a:t>
            </a:r>
            <a:r>
              <a:rPr lang="cs-CZ" sz="1030" b="0" i="0" noProof="0" dirty="0">
                <a:solidFill>
                  <a:srgbClr val="283442"/>
                </a:solidFill>
                <a:latin typeface="Aptos"/>
              </a:rPr>
              <a:t> </a:t>
            </a:r>
            <a:r>
              <a:rPr lang="cs-CZ" sz="1030" b="0" i="0" noProof="0" dirty="0" err="1">
                <a:solidFill>
                  <a:srgbClr val="283442"/>
                </a:solidFill>
                <a:latin typeface="Aptos"/>
              </a:rPr>
              <a:t>verify</a:t>
            </a:r>
            <a:r>
              <a:rPr lang="cs-CZ" sz="1030" b="0" i="0" noProof="0" dirty="0">
                <a:solidFill>
                  <a:srgbClr val="283442"/>
                </a:solidFill>
                <a:latin typeface="Aptos"/>
              </a:rPr>
              <a:t> </a:t>
            </a:r>
            <a:r>
              <a:rPr lang="cs-CZ" sz="1030" b="0" i="0" noProof="0" dirty="0" err="1">
                <a:solidFill>
                  <a:srgbClr val="283442"/>
                </a:solidFill>
                <a:latin typeface="Aptos"/>
              </a:rPr>
              <a:t>them</a:t>
            </a:r>
            <a:r>
              <a:rPr lang="cs-CZ" sz="1030" b="0" i="0" noProof="0" dirty="0">
                <a:solidFill>
                  <a:srgbClr val="283442"/>
                </a:solidFill>
                <a:latin typeface="Aptos"/>
              </a:rPr>
              <a:t>.”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5861304"/>
            <a:ext cx="1053388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69" b="1" i="0" noProof="0" dirty="0">
                <a:solidFill>
                  <a:srgbClr val="132A43"/>
                </a:solidFill>
                <a:latin typeface="Aptos"/>
              </a:rPr>
              <a:t>The goal: AI should improve understanding and the quality of independent problem-solving, not merely speed up getting an answer.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A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21207" y="6519672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750" b="1" i="0" noProof="0" dirty="0">
                <a:solidFill>
                  <a:srgbClr val="667585"/>
                </a:solidFill>
                <a:latin typeface="Aptos"/>
              </a:rPr>
              <a:t>TEAM 10  ·  BACKUP SLIDE  ·  SHOW ONLY IF NEEDED FOR DISCUSSION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46888"/>
            <a:ext cx="1024128" cy="256032"/>
          </a:xfrm>
          <a:prstGeom prst="round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278892"/>
            <a:ext cx="932688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900" b="1" i="0" noProof="0" dirty="0">
                <a:solidFill>
                  <a:srgbClr val="3669BE"/>
                </a:solidFill>
                <a:latin typeface="Aptos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0642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2600" b="1" i="0" noProof="0" dirty="0">
                <a:solidFill>
                  <a:srgbClr val="132A43"/>
                </a:solidFill>
                <a:latin typeface="Aptos Display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88136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150" b="0" i="0" noProof="0" dirty="0">
                <a:solidFill>
                  <a:srgbClr val="667585"/>
                </a:solidFill>
                <a:latin typeface="Aptos"/>
              </a:rPr>
              <a:t>Numbers in square brackets on the slides refer to these sources.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426464"/>
            <a:ext cx="11183112" cy="0"/>
          </a:xfrm>
          <a:prstGeom prst="line">
            <a:avLst/>
          </a:prstGeom>
          <a:ln w="11430">
            <a:solidFill>
              <a:srgbClr val="DA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1402568" y="265176"/>
            <a:ext cx="118872" cy="118872"/>
          </a:xfrm>
          <a:prstGeom prst="ellipse">
            <a:avLst/>
          </a:prstGeom>
          <a:solidFill>
            <a:srgbClr val="1F8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8" name="Oval 7"/>
          <p:cNvSpPr/>
          <p:nvPr/>
        </p:nvSpPr>
        <p:spPr>
          <a:xfrm>
            <a:off x="11548872" y="265176"/>
            <a:ext cx="118872" cy="118872"/>
          </a:xfrm>
          <a:prstGeom prst="ellipse">
            <a:avLst/>
          </a:prstGeom>
          <a:solidFill>
            <a:srgbClr val="3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9" name="Rounded Rectangle 8"/>
          <p:cNvSpPr/>
          <p:nvPr/>
        </p:nvSpPr>
        <p:spPr>
          <a:xfrm>
            <a:off x="566928" y="1664208"/>
            <a:ext cx="5376672" cy="713232"/>
          </a:xfrm>
          <a:prstGeom prst="roundRect">
            <a:avLst/>
          </a:prstGeom>
          <a:solidFill>
            <a:srgbClr val="F6F8FB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713232" y="1755648"/>
            <a:ext cx="508406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50" b="1" i="0" noProof="0" dirty="0">
                <a:solidFill>
                  <a:srgbClr val="3669BE"/>
                </a:solidFill>
                <a:latin typeface="Aptos"/>
              </a:rPr>
              <a:t>[1] Team 10 questionnaire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002536"/>
            <a:ext cx="508406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Team 10. (2026, October 14–15). Anonymous questionnaire on AI use among first-year FIS students [unpublished survey data, n = 23].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514600"/>
            <a:ext cx="5376672" cy="1417320"/>
          </a:xfrm>
          <a:prstGeom prst="roundRect">
            <a:avLst/>
          </a:prstGeom>
          <a:solidFill>
            <a:srgbClr val="F6F8FB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713232" y="2606040"/>
            <a:ext cx="508406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50" b="1" i="0" noProof="0" dirty="0">
                <a:solidFill>
                  <a:srgbClr val="3669BE"/>
                </a:solidFill>
                <a:latin typeface="Aptos"/>
              </a:rPr>
              <a:t>[2] </a:t>
            </a:r>
            <a:r>
              <a:rPr lang="cs-CZ" sz="1050" b="1" i="0" noProof="0" dirty="0" err="1">
                <a:solidFill>
                  <a:srgbClr val="3669BE"/>
                </a:solidFill>
                <a:latin typeface="Aptos"/>
              </a:rPr>
              <a:t>Bastani</a:t>
            </a:r>
            <a:r>
              <a:rPr lang="cs-CZ" sz="1050" b="1" i="0" noProof="0" dirty="0">
                <a:solidFill>
                  <a:srgbClr val="3669BE"/>
                </a:solidFill>
                <a:latin typeface="Aptos"/>
              </a:rPr>
              <a:t> et al. (2025)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852928"/>
            <a:ext cx="5084064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Bastani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, H.,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Bastani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, O.,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Sungu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, A.,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Ge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, H.,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Kabakcı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, Ö., &amp;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Mariman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, R. (2025).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Generative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 AI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without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guardrails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can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harm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 learning: Evidence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from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high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school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mathematics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.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Proceedings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of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the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National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 Academy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of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Sciences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, 122(26), e2422633122. https://doi.org/10.1073/pnas.2422633122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050791"/>
            <a:ext cx="5376672" cy="1417320"/>
          </a:xfrm>
          <a:prstGeom prst="roundRect">
            <a:avLst/>
          </a:prstGeom>
          <a:solidFill>
            <a:srgbClr val="F6F8FB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713232" y="4142231"/>
            <a:ext cx="508406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50" b="1" i="0" noProof="0" dirty="0">
                <a:solidFill>
                  <a:srgbClr val="3669BE"/>
                </a:solidFill>
                <a:latin typeface="Aptos"/>
              </a:rPr>
              <a:t>[3] </a:t>
            </a:r>
            <a:r>
              <a:rPr lang="cs-CZ" sz="1050" b="1" i="0" noProof="0" dirty="0" err="1">
                <a:solidFill>
                  <a:srgbClr val="3669BE"/>
                </a:solidFill>
                <a:latin typeface="Aptos"/>
              </a:rPr>
              <a:t>Pardos</a:t>
            </a:r>
            <a:r>
              <a:rPr lang="cs-CZ" sz="1050" b="1" i="0" noProof="0" dirty="0">
                <a:solidFill>
                  <a:srgbClr val="3669BE"/>
                </a:solidFill>
                <a:latin typeface="Aptos"/>
              </a:rPr>
              <a:t> &amp; </a:t>
            </a:r>
            <a:r>
              <a:rPr lang="cs-CZ" sz="1050" b="1" i="0" noProof="0" dirty="0" err="1">
                <a:solidFill>
                  <a:srgbClr val="3669BE"/>
                </a:solidFill>
                <a:latin typeface="Aptos"/>
              </a:rPr>
              <a:t>Bhandari</a:t>
            </a:r>
            <a:r>
              <a:rPr lang="cs-CZ" sz="1050" b="1" i="0" noProof="0" dirty="0">
                <a:solidFill>
                  <a:srgbClr val="3669BE"/>
                </a:solidFill>
                <a:latin typeface="Aptos"/>
              </a:rPr>
              <a:t> (2024)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389120"/>
            <a:ext cx="5084064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Pardos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, Z. A., &amp;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Bhandari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, S. (2024).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ChatGPT-generated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help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produces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 learning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gains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equivalent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 to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human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 tutor-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authored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help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 on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mathematics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skills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. PLOS ONE, 19(5), e0304013. https://doi.org/10.1371/journal.pone.0304013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1664208"/>
            <a:ext cx="5376672" cy="1371600"/>
          </a:xfrm>
          <a:prstGeom prst="roundRect">
            <a:avLst/>
          </a:prstGeom>
          <a:solidFill>
            <a:srgbClr val="F6F8FB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6382512" y="1755648"/>
            <a:ext cx="508406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50" b="1" i="0" noProof="0" dirty="0">
                <a:solidFill>
                  <a:srgbClr val="1F8E89"/>
                </a:solidFill>
                <a:latin typeface="Aptos"/>
              </a:rPr>
              <a:t>[4] An et al. (2026)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002536"/>
            <a:ext cx="5084064" cy="9784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An, C.,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Lu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, K., &amp;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Yang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, J. (2026).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The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dependency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 trap: A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systematic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review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of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the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contributing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factors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 and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consequences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of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 student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over-reliance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 on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generative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 AI in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higher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education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.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Humanities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 and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Social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Sciences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 Communications, 13,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Article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 1604. https://doi.org/10.1057/s41599-026-08959-2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172968"/>
            <a:ext cx="5376672" cy="1371600"/>
          </a:xfrm>
          <a:prstGeom prst="roundRect">
            <a:avLst/>
          </a:prstGeom>
          <a:solidFill>
            <a:srgbClr val="F6F8FB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2" name="TextBox 21"/>
          <p:cNvSpPr txBox="1"/>
          <p:nvPr/>
        </p:nvSpPr>
        <p:spPr>
          <a:xfrm>
            <a:off x="6382512" y="3264408"/>
            <a:ext cx="508406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50" b="1" i="0" noProof="0" dirty="0">
                <a:solidFill>
                  <a:srgbClr val="1F8E89"/>
                </a:solidFill>
                <a:latin typeface="Aptos"/>
              </a:rPr>
              <a:t>[5] </a:t>
            </a:r>
            <a:r>
              <a:rPr lang="cs-CZ" sz="1050" b="1" i="0" noProof="0" dirty="0" err="1">
                <a:solidFill>
                  <a:srgbClr val="1F8E89"/>
                </a:solidFill>
                <a:latin typeface="Aptos"/>
              </a:rPr>
              <a:t>Abbas</a:t>
            </a:r>
            <a:r>
              <a:rPr lang="cs-CZ" sz="1050" b="1" i="0" noProof="0" dirty="0">
                <a:solidFill>
                  <a:srgbClr val="1F8E89"/>
                </a:solidFill>
                <a:latin typeface="Aptos"/>
              </a:rPr>
              <a:t> et al. (2024)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3511296"/>
            <a:ext cx="5084064" cy="9784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Abbas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, M., Jam, F. A., &amp;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Khan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, T. I. (2024).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Is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it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harmful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or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helpful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?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Examining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the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causes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 and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consequences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of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generative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 AI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usage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among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 university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students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. International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Journal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of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Educational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 Technology in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Higher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Education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, 21, </a:t>
            </a: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Article</a:t>
            </a:r>
            <a:r>
              <a:rPr lang="cs-CZ" sz="880" b="0" i="0" noProof="0" dirty="0">
                <a:solidFill>
                  <a:srgbClr val="283442"/>
                </a:solidFill>
                <a:latin typeface="Aptos"/>
              </a:rPr>
              <a:t> 10. https://doi.org/10.1186/s41239-024-00444-7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6208" y="4663440"/>
            <a:ext cx="5376672" cy="960120"/>
          </a:xfrm>
          <a:prstGeom prst="roundRect">
            <a:avLst/>
          </a:prstGeom>
          <a:solidFill>
            <a:srgbClr val="FCF6EB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6382512" y="4754879"/>
            <a:ext cx="508406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1050" b="1" i="0" noProof="0" dirty="0">
                <a:solidFill>
                  <a:srgbClr val="D08D32"/>
                </a:solidFill>
                <a:latin typeface="Aptos"/>
              </a:rPr>
              <a:t>Methodological note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5001768"/>
            <a:ext cx="508406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880" b="0" i="0" noProof="0" dirty="0" err="1">
                <a:solidFill>
                  <a:srgbClr val="283442"/>
                </a:solidFill>
                <a:latin typeface="Aptos"/>
              </a:rPr>
              <a:t>The Fishbone Diagram and 5 Whys are used to organize and explore possible causes; neither method proves causality on its own. The root cause proposed in this project is a hypothesis derived from the available data.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A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21207" y="6519672"/>
            <a:ext cx="72237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750" b="0" i="0" noProof="0" dirty="0">
                <a:solidFill>
                  <a:srgbClr val="667585"/>
                </a:solidFill>
                <a:latin typeface="Aptos"/>
              </a:rPr>
              <a:t>TEAM 10  ·  PROBLEM SOLVING  ·  FIS, VŠE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6510528"/>
            <a:ext cx="425196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cs-CZ" sz="720" b="0" i="0" noProof="0" dirty="0">
                <a:solidFill>
                  <a:srgbClr val="667585"/>
                </a:solidFill>
                <a:latin typeface="Aptos"/>
              </a:rPr>
              <a:t>Team 10 · FIS, VŠE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3701</Words>
  <Application>Microsoft Office PowerPoint</Application>
  <PresentationFormat>Širokoúhlá obrazovka</PresentationFormat>
  <Paragraphs>466</Paragraphs>
  <Slides>20</Slides>
  <Notes>0</Notes>
  <HiddenSlides>6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Office Theme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Nadměrné spoléhání na AI při studiu – Tým 10</dc:title>
  <dc:subject>Semestrální projekt Řešení problémů, FIS VŠE</dc:subject>
  <dc:creator>Tým 10</dc:creator>
  <cp:keywords>AI, overreliance, FIS, FrED, study skills</cp:keywords>
  <dc:description>generated using python-pptx</dc:description>
  <cp:lastModifiedBy>Jan Michel</cp:lastModifiedBy>
  <cp:revision>4</cp:revision>
  <dcterms:created xsi:type="dcterms:W3CDTF">2013-01-27T09:14:16Z</dcterms:created>
  <dcterms:modified xsi:type="dcterms:W3CDTF">2026-10-25T22:43:27Z</dcterms:modified>
  <cp:category/>
</cp:coreProperties>
</file>